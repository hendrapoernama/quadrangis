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52016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QuadranGIS adalah aplikasi GIS jaringan distribusi listrik berbasis web: satu sumber data untuk membangun aset, memantau nyala/padam secara realtime, mengoperasikan jaringan, mengukur keandalan, serta menganalisis beban, energi, dan susut dari data SCADA/AMR.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masalah yang sering ditemui unit distribusi: data aset tidak terhubung, informasi padam terlambat, rekap keandalan manual, dan SLD yang cepat usang.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Pesan utama: Map Editor, Pusat Operasi, SLD, aliran daya, data aset, dan analisa beban membaca data dan graf topologi yang sama, sehingga selalu sinkron.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Angka-angka ini hasil pengujian pada basis data simulasi (2,7 juta node, 2 juta pelanggan). Kinerja di lingkungan produksi bergantung pada spesifikasi server.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Menu Map Editor berisi dua submenu: Editor Peta Jaringan dan Persetujuan Perubahan. Buka/tutup switch tidak lagi ada di editor; operasi jaringan hanya dilakukan di Pusat Operasi dan SLD agar selalu tercatat sebagai kejadian dan SOE.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Objek baru tampil oranye di peta sebagai usulan dan belum mengubah jaringan aktif. Setelah paket disetujui supervisor dan dirilis manajer, graf topologi dan status nyala/padam diperbarui dan objek tampil di layar semua pengguna.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pemilik kosong berarti ditetapkan otomatis dari lokasi. Status nyala/padam tidak diubah lewat formulir, tetapi lewat operasi buka/tutup di Pusat Operasi atau SLD agar tercatat sebagai kejadian dan SOE.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Penghapusan selalu melalui dialog konfirmasi dan menjadi usulan di paket perubahan. Saat dirilis, junction yang tidak lagi terhubung dibersihkan otomatis dan pelanggan di hilir dihitung ulang. Siapa yang mengusulkan, menyetujui, dan merilis tercatat di jejak audit.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Penyusun tidak boleh menyetujui paketnya sendiri. Satu objek hanya boleh diusulkan di satu paket terbuka; bila objek berubah setelah diusulkan, rilis ditolak sampai item disinkronkan. Setiap langkah beserta pelaku dan waktunya tercatat di jejak audit.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diterapkan, setiap fitur divalidasi: geometri, type_code, kode ganda, atribut SSOT yang bentrok, dan titik yang menumpuk objek lain. Lokasi fitur bisa dilihat di peta (hijau baru, biru ubah, merah galat). Penghapusan sengaja tidak diambil dari berkas impor.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Setiap baris menampilkan status, jumlah isi, pelanggan (padam), beban tersambung, dan unit pemilik. Panel rincian menampilkan rantai hulu serta tautan ke peta Pusat Operasi dan SLD. Aset yang tidak tersambung ke GI dikelompokkan tersendiri agar mudah diperbaiki.</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UP2B setara UID, UP2D setara UP3. GI, trafo GI, dan penyulang dimiliki UP3; gardu, trafo distribusi, dan tiang dimiliki ULP. Kepemilikan per aset juga bisa diubah di Map Editor melalui persetujuan.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Klik widget rekap untuk langsung membuka daftar terkait. Panel kanan terbagi Monitoring (kejadian, SOE, trace, daftar) dan Operasi (FLISR, rencana manuver, laporan gangguan, AI operasi).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peran: Operator bisa semua operasi TM dan TR; Operator TR (ULP) hanya switch jurusan dan jaringan TR. Membuka tanpa kategori ditolak. Setiap operasi mencatat siapa yang melakukannya, dari kanal mana, sehingga siap diaudit.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FLISR memeriksa kapasitas penyulang penerima sebelum menyarankan pemulihan lewat tie. Rencana manuver disimulasikan (pelanggan dan beban padam, pembebanan penyulang) sebelum disetujui. Jawaban AI perlu diverifikasi sebelum dipakai untuk keputusan operasional.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Klik nama operator untuk menampilkan semua event oleh operator tersebut. SOE juga dikirim ke Kafka sehingga dapat diteruskan ke sistem lain (misalnya SCADA atau pelaporan).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Periode hari ini, bulan ini, 30 hari, atau tahun ini. Tarif per kWh, faktor beban, cos φ, dan batas padam momentary diatur di Konfigurasi. Padam momentary tidak masuk SAIDI/SAIFI tetapi tetap masuk ENS.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Dasbor membandingkan periode berjalan dengan periode sebelumnya dan target tahunan. Laporan berkala dibuat otomatis setiap periode selesai, atau manual.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masuk lewat Kafka dari SCADA/AMR setiap 30 menit. Pembebanan % = MW ÷ (rating MVA × faktor daya kapasitas). Tersedia juga analisa lanjutan: prakiraan beban, kontingensi N-1, kesehatan aset, dan AI pembebanan.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 tidak semua gardu bermeter, energi gardu diperkirakan dari cakupan kapasitas; hari dengan cakupan rendah tidak dihitung. Susut negatif menandakan kesalahan meter atau gardu yang tercatat di penyulang lain.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SLD disusun dari topologi normal (posisi normal switch), jadi bentuknya stabil; warna dan posisi switch mengikuti kondisi saat ini. Tie normally-open ke penyulang lain digambar putus-putus.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Aliran daya membantu perencanaan: menemukan tegangan jatuh dan beban lebih, lalu menyusun rencana manuver, uprating, atau gardu sisip. Hasil dapat ditampilkan sebagai overlay warna pembebanan di peta dan SLD.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Overlay UP3 memakai pewarnaan peta 5 warna: UP3 yang bersebelahan selalu berbeda warna. Warna tidak mewakili nilai apa pun.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 ponsel memakai akun dan izin yang sama dengan versi web. Area peta dapat disimpan untuk dipakai tanpa sinyal. Notifikasi push di iOS memerlukan iOS 16.4 atau lebih baru dan aplikasi yang sudah dipasang ke layar utama.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Inti kecepatan: graf topologi di memori backend. Manuver hanya menghitung ulang wilayah terdampak. Trace, rekap Pusat Operasi, SLD, aliran daya, dan hirarki Data Aset membaca graf yang sama. Load profile SCADA/AMR masuk lewat Kafka ke TimescaleDB.</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operasi harian: biru = temukan, amber = tindakan operator, hijau toska = pemulihan dan laporan. Proses bisnis lain (pemeliharaan data, perencanaan, tata kelola akses) ada di menu Dokumentasi.</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Perubahan peran berlaku paling lambat 30 detik tanpa login ulang. Operator TR hanya bisa mengoperasikan jaringan tegangan rendah. Perubahan data jaringan melewati pemisahan tugas: editor menyusun, supervisor menyetujui, manajer merilis.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Assistant bersifat opsional; kunci API diisi admin. Jawaban AI perlu diverifikasi sebelum dipakai untuk keputusan operasional. Titik SCADA/AMR yang kodenya cocok dengan kode GIS didaftarkan otomatis.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Durasi tiap tahap diisi sesuai ruang lingkup (jumlah UP3, volume data aset, jumlah pengguna). Aplikasi sudah menyediakan menu Dokumentasi berisi buku panduan dengan tangkapan layar setiap fitur.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Tawarkan demo langsung: manuver recloser dari SLD dan lihat peta, SOE, serta SAIDI berubah bersamaan.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B3A63"/>
              </a:gs>
              <a:gs pos="60000">
                <a:srgbClr val="0E1A2B"/>
              </a:gs>
            </a:gsLst>
            <a:path path="circle">
              <a:fillToRect l="85000" t="30000" r="15000" b="70000"/>
            </a:path>
          </a:gradFill>
          <a:ln/>
        </p:spPr>
      </p:sp>
      <p:pic>
        <p:nvPicPr>
          <p:cNvPr id="3" name="Image 0" descr="Tampilan Pusat Operasi QuadranGIS"/>
          <p:cNvPicPr>
            <a:picLocks noChangeAspect="1"/>
          </p:cNvPicPr>
          <p:nvPr/>
        </p:nvPicPr>
        <p:blipFill>
          <a:blip r:embed="rId3"/>
          <a:srcRect t="130" b="130"/>
          <a:stretch/>
        </p:blipFill>
        <p:spPr>
          <a:xfrm>
            <a:off x="6362700" y="1714500"/>
            <a:ext cx="5410200" cy="3035300"/>
          </a:xfrm>
          <a:prstGeom prst="roundRect">
            <a:avLst>
              <a:gd name="adj" fmla="val 3766"/>
            </a:avLst>
          </a:prstGeom>
          <a:effectLst>
            <a:outerShdw blurRad="762000" dist="254000" dir="5400000" algn="bl" rotWithShape="0">
              <a:srgbClr val="000000">
                <a:alpha val="55000"/>
              </a:srgbClr>
            </a:outerShdw>
          </a:effectLst>
        </p:spPr>
      </p:pic>
      <p:sp>
        <p:nvSpPr>
          <p:cNvPr id="4" name="Shape 1"/>
          <p:cNvSpPr/>
          <p:nvPr/>
        </p:nvSpPr>
        <p:spPr>
          <a:xfrm>
            <a:off x="6356350" y="1708150"/>
            <a:ext cx="5422900" cy="3048000"/>
          </a:xfrm>
          <a:prstGeom prst="roundRect">
            <a:avLst>
              <a:gd name="adj" fmla="val 3958"/>
            </a:avLst>
          </a:prstGeom>
          <a:noFill/>
          <a:ln w="12700">
            <a:solidFill>
              <a:srgbClr val="2B4A73"/>
            </a:solidFill>
            <a:prstDash val="solid"/>
          </a:ln>
        </p:spPr>
      </p:sp>
      <p:sp>
        <p:nvSpPr>
          <p:cNvPr id="5" name="Text 2"/>
          <p:cNvSpPr/>
          <p:nvPr/>
        </p:nvSpPr>
        <p:spPr>
          <a:xfrm>
            <a:off x="812800" y="884138"/>
            <a:ext cx="4970780"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F2A93B"/>
                </a:solidFill>
                <a:latin typeface="IBM Plex Sans" pitchFamily="34" charset="0"/>
                <a:ea typeface="IBM Plex Sans" pitchFamily="34" charset="-122"/>
                <a:cs typeface="IBM Plex Sans" pitchFamily="34" charset="-120"/>
              </a:rPr>
              <a:t>GIS JARINGAN DISTRIBUSI LISTRIK</a:t>
            </a:r>
            <a:endParaRPr lang="en-US" sz="1200" dirty="0"/>
          </a:p>
        </p:txBody>
      </p:sp>
      <p:sp>
        <p:nvSpPr>
          <p:cNvPr id="6" name="Text 3"/>
          <p:cNvSpPr/>
          <p:nvPr/>
        </p:nvSpPr>
        <p:spPr>
          <a:xfrm>
            <a:off x="282993" y="1315980"/>
            <a:ext cx="6079707" cy="2057400"/>
          </a:xfrm>
          <a:prstGeom prst="rect">
            <a:avLst/>
          </a:prstGeom>
          <a:noFill/>
          <a:ln/>
        </p:spPr>
        <p:txBody>
          <a:bodyPr wrap="square" lIns="0" tIns="0" rIns="0" bIns="0" rtlCol="0" anchor="t">
            <a:normAutofit/>
          </a:bodyPr>
          <a:lstStyle/>
          <a:p>
            <a:pPr marL="0" indent="0" algn="ctr">
              <a:lnSpc>
                <a:spcPts val="8000"/>
              </a:lnSpc>
              <a:buNone/>
            </a:pPr>
            <a:r>
              <a:rPr lang="en-US" sz="8000" b="1" dirty="0">
                <a:solidFill>
                  <a:srgbClr val="F5F6F2"/>
                </a:solidFill>
                <a:latin typeface="Space Grotesk" pitchFamily="34" charset="0"/>
                <a:ea typeface="Space Grotesk" pitchFamily="34" charset="-122"/>
                <a:cs typeface="Space Grotesk" pitchFamily="34" charset="-120"/>
              </a:rPr>
              <a:t>Q-DMS</a:t>
            </a:r>
          </a:p>
          <a:p>
            <a:pPr marL="0" indent="0" algn="ctr">
              <a:lnSpc>
                <a:spcPts val="8000"/>
              </a:lnSpc>
              <a:buNone/>
            </a:pPr>
            <a:r>
              <a:rPr lang="en-US" sz="8000" b="1" dirty="0">
                <a:solidFill>
                  <a:srgbClr val="F5F6F2"/>
                </a:solidFill>
                <a:latin typeface="Space Grotesk" pitchFamily="34" charset="0"/>
                <a:ea typeface="Space Grotesk" pitchFamily="34" charset="-122"/>
                <a:cs typeface="Space Grotesk" pitchFamily="34" charset="-120"/>
              </a:rPr>
              <a:t>Base on GIS</a:t>
            </a:r>
            <a:endParaRPr lang="en-US" sz="8000" dirty="0"/>
          </a:p>
        </p:txBody>
      </p:sp>
      <p:sp>
        <p:nvSpPr>
          <p:cNvPr id="7" name="Text 4"/>
          <p:cNvSpPr/>
          <p:nvPr/>
        </p:nvSpPr>
        <p:spPr>
          <a:xfrm>
            <a:off x="812800" y="3535859"/>
            <a:ext cx="4970780" cy="1477963"/>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BFCBDA"/>
                </a:solidFill>
                <a:latin typeface="IBM Plex Sans" pitchFamily="34" charset="0"/>
                <a:ea typeface="IBM Plex Sans" pitchFamily="34" charset="-122"/>
                <a:cs typeface="IBM Plex Sans" pitchFamily="34" charset="-120"/>
              </a:rPr>
              <a:t>Satu platform untuk aset, operasi, keandalan, serta beban dan energi jaringan, dari gardu induk sampai pelanggan.</a:t>
            </a:r>
            <a:endParaRPr lang="en-US" sz="2200" dirty="0"/>
          </a:p>
        </p:txBody>
      </p:sp>
      <p:sp>
        <p:nvSpPr>
          <p:cNvPr id="8" name="Shape 5"/>
          <p:cNvSpPr/>
          <p:nvPr/>
        </p:nvSpPr>
        <p:spPr>
          <a:xfrm>
            <a:off x="812800" y="5191621"/>
            <a:ext cx="888702" cy="340320"/>
          </a:xfrm>
          <a:prstGeom prst="roundRect">
            <a:avLst>
              <a:gd name="adj" fmla="val 50000"/>
            </a:avLst>
          </a:prstGeom>
          <a:solidFill>
            <a:srgbClr val="1B3A63"/>
          </a:solidFill>
          <a:ln/>
        </p:spPr>
      </p:sp>
      <p:sp>
        <p:nvSpPr>
          <p:cNvPr id="9" name="Text 6"/>
          <p:cNvSpPr/>
          <p:nvPr/>
        </p:nvSpPr>
        <p:spPr>
          <a:xfrm>
            <a:off x="952500" y="5255121"/>
            <a:ext cx="66010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CE7F5"/>
                </a:solidFill>
                <a:latin typeface="IBM Plex Sans" pitchFamily="34" charset="0"/>
                <a:ea typeface="IBM Plex Sans" pitchFamily="34" charset="-122"/>
                <a:cs typeface="IBM Plex Sans" pitchFamily="34" charset="-120"/>
              </a:rPr>
              <a:t>Realtime</a:t>
            </a:r>
            <a:endParaRPr lang="en-US" sz="1200" dirty="0"/>
          </a:p>
        </p:txBody>
      </p:sp>
      <p:sp>
        <p:nvSpPr>
          <p:cNvPr id="10" name="Shape 7"/>
          <p:cNvSpPr/>
          <p:nvPr/>
        </p:nvSpPr>
        <p:spPr>
          <a:xfrm>
            <a:off x="1803102" y="5191621"/>
            <a:ext cx="1186359" cy="340320"/>
          </a:xfrm>
          <a:prstGeom prst="roundRect">
            <a:avLst>
              <a:gd name="adj" fmla="val 50000"/>
            </a:avLst>
          </a:prstGeom>
          <a:solidFill>
            <a:srgbClr val="1B3A63"/>
          </a:solidFill>
          <a:ln/>
        </p:spPr>
      </p:sp>
      <p:sp>
        <p:nvSpPr>
          <p:cNvPr id="11" name="Text 8"/>
          <p:cNvSpPr/>
          <p:nvPr/>
        </p:nvSpPr>
        <p:spPr>
          <a:xfrm>
            <a:off x="1942802" y="5255121"/>
            <a:ext cx="95775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CE7F5"/>
                </a:solidFill>
                <a:latin typeface="IBM Plex Sans" pitchFamily="34" charset="0"/>
                <a:ea typeface="IBM Plex Sans" pitchFamily="34" charset="-122"/>
                <a:cs typeface="IBM Plex Sans" pitchFamily="34" charset="-120"/>
              </a:rPr>
              <a:t>SLD otomatis</a:t>
            </a:r>
            <a:endParaRPr lang="en-US" sz="1200" dirty="0"/>
          </a:p>
        </p:txBody>
      </p:sp>
      <p:sp>
        <p:nvSpPr>
          <p:cNvPr id="12" name="Shape 9"/>
          <p:cNvSpPr/>
          <p:nvPr/>
        </p:nvSpPr>
        <p:spPr>
          <a:xfrm>
            <a:off x="3091061" y="5191621"/>
            <a:ext cx="1611610" cy="340320"/>
          </a:xfrm>
          <a:prstGeom prst="roundRect">
            <a:avLst>
              <a:gd name="adj" fmla="val 50000"/>
            </a:avLst>
          </a:prstGeom>
          <a:solidFill>
            <a:srgbClr val="1B3A63"/>
          </a:solidFill>
          <a:ln/>
        </p:spPr>
      </p:sp>
      <p:sp>
        <p:nvSpPr>
          <p:cNvPr id="13" name="Text 10"/>
          <p:cNvSpPr/>
          <p:nvPr/>
        </p:nvSpPr>
        <p:spPr>
          <a:xfrm>
            <a:off x="3230761" y="5255121"/>
            <a:ext cx="138301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CE7F5"/>
                </a:solidFill>
                <a:latin typeface="IBM Plex Sans" pitchFamily="34" charset="0"/>
                <a:ea typeface="IBM Plex Sans" pitchFamily="34" charset="-122"/>
                <a:cs typeface="IBM Plex Sans" pitchFamily="34" charset="-120"/>
              </a:rPr>
              <a:t>SAIDI · SAIFI · ENS</a:t>
            </a:r>
            <a:endParaRPr lang="en-US" sz="1200" dirty="0"/>
          </a:p>
        </p:txBody>
      </p:sp>
      <p:sp>
        <p:nvSpPr>
          <p:cNvPr id="14" name="Shape 11"/>
          <p:cNvSpPr/>
          <p:nvPr/>
        </p:nvSpPr>
        <p:spPr>
          <a:xfrm>
            <a:off x="812800" y="5633541"/>
            <a:ext cx="1774031" cy="340320"/>
          </a:xfrm>
          <a:prstGeom prst="roundRect">
            <a:avLst>
              <a:gd name="adj" fmla="val 50000"/>
            </a:avLst>
          </a:prstGeom>
          <a:solidFill>
            <a:srgbClr val="1B3A63"/>
          </a:solidFill>
          <a:ln/>
        </p:spPr>
      </p:sp>
      <p:sp>
        <p:nvSpPr>
          <p:cNvPr id="15" name="Text 12"/>
          <p:cNvSpPr/>
          <p:nvPr/>
        </p:nvSpPr>
        <p:spPr>
          <a:xfrm>
            <a:off x="952500" y="5697041"/>
            <a:ext cx="154543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CE7F5"/>
                </a:solidFill>
                <a:latin typeface="IBM Plex Sans" pitchFamily="34" charset="0"/>
                <a:ea typeface="IBM Plex Sans" pitchFamily="34" charset="-122"/>
                <a:cs typeface="IBM Plex Sans" pitchFamily="34" charset="-120"/>
              </a:rPr>
              <a:t>Beban, energi &amp; susut</a:t>
            </a:r>
            <a:endParaRPr lang="en-US" sz="1200" dirty="0"/>
          </a:p>
        </p:txBody>
      </p:sp>
      <p:sp>
        <p:nvSpPr>
          <p:cNvPr id="16" name="Shape 13"/>
          <p:cNvSpPr/>
          <p:nvPr/>
        </p:nvSpPr>
        <p:spPr>
          <a:xfrm>
            <a:off x="2688431" y="5633541"/>
            <a:ext cx="1115219" cy="340320"/>
          </a:xfrm>
          <a:prstGeom prst="roundRect">
            <a:avLst>
              <a:gd name="adj" fmla="val 50000"/>
            </a:avLst>
          </a:prstGeom>
          <a:solidFill>
            <a:srgbClr val="1B3A63"/>
          </a:solidFill>
          <a:ln/>
        </p:spPr>
      </p:sp>
      <p:sp>
        <p:nvSpPr>
          <p:cNvPr id="17" name="Text 14"/>
          <p:cNvSpPr/>
          <p:nvPr/>
        </p:nvSpPr>
        <p:spPr>
          <a:xfrm>
            <a:off x="2828131" y="5697041"/>
            <a:ext cx="88661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CE7F5"/>
                </a:solidFill>
                <a:latin typeface="IBM Plex Sans" pitchFamily="34" charset="0"/>
                <a:ea typeface="IBM Plex Sans" pitchFamily="34" charset="-122"/>
                <a:cs typeface="IBM Plex Sans" pitchFamily="34" charset="-120"/>
              </a:rPr>
              <a:t>Versi ponsel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LATAR BELAKANG</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Tantangan pengelolaan jaringan distribusi</a:t>
            </a:r>
            <a:endParaRPr lang="en-US" sz="3600" dirty="0"/>
          </a:p>
        </p:txBody>
      </p:sp>
      <p:sp>
        <p:nvSpPr>
          <p:cNvPr id="4" name="Shape 2"/>
          <p:cNvSpPr/>
          <p:nvPr/>
        </p:nvSpPr>
        <p:spPr>
          <a:xfrm>
            <a:off x="815975" y="1963936"/>
            <a:ext cx="5175250" cy="1380331"/>
          </a:xfrm>
          <a:prstGeom prst="roundRect">
            <a:avLst>
              <a:gd name="adj" fmla="val 8971"/>
            </a:avLst>
          </a:prstGeom>
          <a:solidFill>
            <a:srgbClr val="FFFFFF"/>
          </a:solidFill>
          <a:ln w="6350">
            <a:solidFill>
              <a:srgbClr val="DDE2E8"/>
            </a:solidFill>
            <a:prstDash val="solid"/>
          </a:ln>
        </p:spPr>
      </p:sp>
      <p:pic>
        <p:nvPicPr>
          <p:cNvPr id="5" name="Image 0" descr="Database"/>
          <p:cNvPicPr>
            <a:picLocks noChangeAspect="1"/>
          </p:cNvPicPr>
          <p:nvPr/>
        </p:nvPicPr>
        <p:blipFill>
          <a:blip r:embed="rId3"/>
          <a:srcRect/>
          <a:stretch/>
        </p:blipFill>
        <p:spPr>
          <a:xfrm>
            <a:off x="1073150" y="2221111"/>
            <a:ext cx="355600" cy="355600"/>
          </a:xfrm>
          <a:prstGeom prst="rect">
            <a:avLst/>
          </a:prstGeom>
        </p:spPr>
      </p:pic>
      <p:sp>
        <p:nvSpPr>
          <p:cNvPr id="6" name="Text 3"/>
          <p:cNvSpPr/>
          <p:nvPr/>
        </p:nvSpPr>
        <p:spPr>
          <a:xfrm>
            <a:off x="1606550" y="2221111"/>
            <a:ext cx="42513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Data aset tersebar</a:t>
            </a:r>
            <a:endParaRPr lang="en-US" sz="2000" dirty="0"/>
          </a:p>
        </p:txBody>
      </p:sp>
      <p:sp>
        <p:nvSpPr>
          <p:cNvPr id="7" name="Text 4"/>
          <p:cNvSpPr/>
          <p:nvPr/>
        </p:nvSpPr>
        <p:spPr>
          <a:xfrm>
            <a:off x="1606550" y="2589411"/>
            <a:ext cx="4251325"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Peta, spreadsheet, dan gambar kerja tidak saling terhubung; topologi sulit dipercaya.</a:t>
            </a:r>
            <a:endParaRPr lang="en-US" sz="1400" dirty="0"/>
          </a:p>
        </p:txBody>
      </p:sp>
      <p:sp>
        <p:nvSpPr>
          <p:cNvPr id="8" name="Shape 5"/>
          <p:cNvSpPr/>
          <p:nvPr/>
        </p:nvSpPr>
        <p:spPr>
          <a:xfrm>
            <a:off x="6200775" y="1963936"/>
            <a:ext cx="5175250" cy="1380331"/>
          </a:xfrm>
          <a:prstGeom prst="roundRect">
            <a:avLst>
              <a:gd name="adj" fmla="val 8971"/>
            </a:avLst>
          </a:prstGeom>
          <a:solidFill>
            <a:srgbClr val="FFFFFF"/>
          </a:solidFill>
          <a:ln w="6350">
            <a:solidFill>
              <a:srgbClr val="DDE2E8"/>
            </a:solidFill>
            <a:prstDash val="solid"/>
          </a:ln>
        </p:spPr>
      </p:sp>
      <p:pic>
        <p:nvPicPr>
          <p:cNvPr id="9" name="Image 1" descr="Warning"/>
          <p:cNvPicPr>
            <a:picLocks noChangeAspect="1"/>
          </p:cNvPicPr>
          <p:nvPr/>
        </p:nvPicPr>
        <p:blipFill>
          <a:blip r:embed="rId4"/>
          <a:srcRect/>
          <a:stretch/>
        </p:blipFill>
        <p:spPr>
          <a:xfrm>
            <a:off x="6457950" y="2221111"/>
            <a:ext cx="355600" cy="355600"/>
          </a:xfrm>
          <a:prstGeom prst="rect">
            <a:avLst/>
          </a:prstGeom>
        </p:spPr>
      </p:pic>
      <p:sp>
        <p:nvSpPr>
          <p:cNvPr id="10" name="Text 6"/>
          <p:cNvSpPr/>
          <p:nvPr/>
        </p:nvSpPr>
        <p:spPr>
          <a:xfrm>
            <a:off x="6991350" y="2221111"/>
            <a:ext cx="42513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Padam lambat diketahui</a:t>
            </a:r>
            <a:endParaRPr lang="en-US" sz="2000" dirty="0"/>
          </a:p>
        </p:txBody>
      </p:sp>
      <p:sp>
        <p:nvSpPr>
          <p:cNvPr id="11" name="Text 7"/>
          <p:cNvSpPr/>
          <p:nvPr/>
        </p:nvSpPr>
        <p:spPr>
          <a:xfrm>
            <a:off x="6991350" y="2589411"/>
            <a:ext cx="4251325"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Lokasi dan jumlah pelanggan terdampak baru jelas setelah laporan masuk.</a:t>
            </a:r>
            <a:endParaRPr lang="en-US" sz="1400" dirty="0"/>
          </a:p>
        </p:txBody>
      </p:sp>
      <p:sp>
        <p:nvSpPr>
          <p:cNvPr id="12" name="Shape 8"/>
          <p:cNvSpPr/>
          <p:nvPr/>
        </p:nvSpPr>
        <p:spPr>
          <a:xfrm>
            <a:off x="815975" y="3553817"/>
            <a:ext cx="5175250" cy="1380331"/>
          </a:xfrm>
          <a:prstGeom prst="roundRect">
            <a:avLst>
              <a:gd name="adj" fmla="val 8971"/>
            </a:avLst>
          </a:prstGeom>
          <a:solidFill>
            <a:srgbClr val="FFFFFF"/>
          </a:solidFill>
          <a:ln w="6350">
            <a:solidFill>
              <a:srgbClr val="DDE2E8"/>
            </a:solidFill>
            <a:prstDash val="solid"/>
          </a:ln>
        </p:spPr>
      </p:sp>
      <p:pic>
        <p:nvPicPr>
          <p:cNvPr id="13" name="Image 2" descr="Chart"/>
          <p:cNvPicPr>
            <a:picLocks noChangeAspect="1"/>
          </p:cNvPicPr>
          <p:nvPr/>
        </p:nvPicPr>
        <p:blipFill>
          <a:blip r:embed="rId5"/>
          <a:srcRect/>
          <a:stretch/>
        </p:blipFill>
        <p:spPr>
          <a:xfrm>
            <a:off x="1073150" y="3810992"/>
            <a:ext cx="355600" cy="355600"/>
          </a:xfrm>
          <a:prstGeom prst="rect">
            <a:avLst/>
          </a:prstGeom>
        </p:spPr>
      </p:pic>
      <p:sp>
        <p:nvSpPr>
          <p:cNvPr id="14" name="Text 9"/>
          <p:cNvSpPr/>
          <p:nvPr/>
        </p:nvSpPr>
        <p:spPr>
          <a:xfrm>
            <a:off x="1606550" y="3810992"/>
            <a:ext cx="42513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Keandalan dihitung manual</a:t>
            </a:r>
            <a:endParaRPr lang="en-US" sz="2000" dirty="0"/>
          </a:p>
        </p:txBody>
      </p:sp>
      <p:sp>
        <p:nvSpPr>
          <p:cNvPr id="15" name="Text 10"/>
          <p:cNvSpPr/>
          <p:nvPr/>
        </p:nvSpPr>
        <p:spPr>
          <a:xfrm>
            <a:off x="1606550" y="4179292"/>
            <a:ext cx="4251325"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SAIDI, SAIFI, dan ENS direkap belakangan dan rawan selisih.</a:t>
            </a:r>
            <a:endParaRPr lang="en-US" sz="1400" dirty="0"/>
          </a:p>
        </p:txBody>
      </p:sp>
      <p:sp>
        <p:nvSpPr>
          <p:cNvPr id="16" name="Shape 11"/>
          <p:cNvSpPr/>
          <p:nvPr/>
        </p:nvSpPr>
        <p:spPr>
          <a:xfrm>
            <a:off x="6200775" y="3553817"/>
            <a:ext cx="5175250" cy="1380331"/>
          </a:xfrm>
          <a:prstGeom prst="roundRect">
            <a:avLst>
              <a:gd name="adj" fmla="val 8971"/>
            </a:avLst>
          </a:prstGeom>
          <a:solidFill>
            <a:srgbClr val="FFFFFF"/>
          </a:solidFill>
          <a:ln w="6350">
            <a:solidFill>
              <a:srgbClr val="DDE2E8"/>
            </a:solidFill>
            <a:prstDash val="solid"/>
          </a:ln>
        </p:spPr>
      </p:sp>
      <p:pic>
        <p:nvPicPr>
          <p:cNvPr id="17" name="Image 3" descr="Wrench"/>
          <p:cNvPicPr>
            <a:picLocks noChangeAspect="1"/>
          </p:cNvPicPr>
          <p:nvPr/>
        </p:nvPicPr>
        <p:blipFill>
          <a:blip r:embed="rId6"/>
          <a:srcRect/>
          <a:stretch/>
        </p:blipFill>
        <p:spPr>
          <a:xfrm>
            <a:off x="6457950" y="3810992"/>
            <a:ext cx="355600" cy="355600"/>
          </a:xfrm>
          <a:prstGeom prst="rect">
            <a:avLst/>
          </a:prstGeom>
        </p:spPr>
      </p:pic>
      <p:sp>
        <p:nvSpPr>
          <p:cNvPr id="18" name="Text 12"/>
          <p:cNvSpPr/>
          <p:nvPr/>
        </p:nvSpPr>
        <p:spPr>
          <a:xfrm>
            <a:off x="6991350" y="3810992"/>
            <a:ext cx="42513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Diagram cepat usang</a:t>
            </a:r>
            <a:endParaRPr lang="en-US" sz="2000" dirty="0"/>
          </a:p>
        </p:txBody>
      </p:sp>
      <p:sp>
        <p:nvSpPr>
          <p:cNvPr id="19" name="Text 13"/>
          <p:cNvSpPr/>
          <p:nvPr/>
        </p:nvSpPr>
        <p:spPr>
          <a:xfrm>
            <a:off x="6991350" y="4179292"/>
            <a:ext cx="4251325"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Single line diagram digambar ulang setiap kali jaringan berubah.</a:t>
            </a:r>
            <a:endParaRPr lang="en-US" sz="1400" dirty="0"/>
          </a:p>
        </p:txBody>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A93B"/>
                </a:solidFill>
                <a:latin typeface="IBM Plex Sans" pitchFamily="34" charset="0"/>
                <a:ea typeface="IBM Plex Sans" pitchFamily="34" charset="-122"/>
                <a:cs typeface="IBM Plex Sans" pitchFamily="34" charset="-120"/>
              </a:rPr>
              <a:t>SOLUSI</a:t>
            </a:r>
            <a:endParaRPr lang="en-US" sz="1200" dirty="0"/>
          </a:p>
        </p:txBody>
      </p:sp>
      <p:sp>
        <p:nvSpPr>
          <p:cNvPr id="3" name="Text 1"/>
          <p:cNvSpPr/>
          <p:nvPr/>
        </p:nvSpPr>
        <p:spPr>
          <a:xfrm>
            <a:off x="812800" y="1178520"/>
            <a:ext cx="9810750" cy="1625600"/>
          </a:xfrm>
          <a:prstGeom prst="rect">
            <a:avLst/>
          </a:prstGeom>
          <a:noFill/>
          <a:ln/>
        </p:spPr>
        <p:txBody>
          <a:bodyPr wrap="square" lIns="0" tIns="0" rIns="0" bIns="0" rtlCol="0" anchor="t">
            <a:normAutofit/>
          </a:bodyPr>
          <a:lstStyle/>
          <a:p>
            <a:pPr marL="0" indent="0" algn="l">
              <a:lnSpc>
                <a:spcPts val="6300"/>
              </a:lnSpc>
              <a:buNone/>
            </a:pPr>
            <a:r>
              <a:rPr lang="en-US" sz="6000" b="1" dirty="0">
                <a:solidFill>
                  <a:srgbClr val="F5F6F2"/>
                </a:solidFill>
                <a:latin typeface="Space Grotesk" pitchFamily="34" charset="0"/>
                <a:ea typeface="Space Grotesk" pitchFamily="34" charset="-122"/>
                <a:cs typeface="Space Grotesk" pitchFamily="34" charset="-120"/>
              </a:rPr>
              <a:t>Satu sumber data. Semua keputusan jaringan.</a:t>
            </a:r>
            <a:endParaRPr lang="en-US" sz="6000" dirty="0"/>
          </a:p>
        </p:txBody>
      </p:sp>
      <p:sp>
        <p:nvSpPr>
          <p:cNvPr id="4" name="Shape 2"/>
          <p:cNvSpPr/>
          <p:nvPr/>
        </p:nvSpPr>
        <p:spPr>
          <a:xfrm>
            <a:off x="812800" y="4976019"/>
            <a:ext cx="2527300" cy="0"/>
          </a:xfrm>
          <a:prstGeom prst="line">
            <a:avLst/>
          </a:prstGeom>
          <a:noFill/>
          <a:ln w="25400">
            <a:solidFill>
              <a:srgbClr val="3B82F6"/>
            </a:solidFill>
            <a:prstDash val="solid"/>
          </a:ln>
        </p:spPr>
      </p:sp>
      <p:sp>
        <p:nvSpPr>
          <p:cNvPr id="5" name="Text 3"/>
          <p:cNvSpPr/>
          <p:nvPr/>
        </p:nvSpPr>
        <p:spPr>
          <a:xfrm>
            <a:off x="812800" y="5166519"/>
            <a:ext cx="26031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5F6F2"/>
                </a:solidFill>
                <a:latin typeface="Space Grotesk" pitchFamily="34" charset="0"/>
                <a:ea typeface="Space Grotesk" pitchFamily="34" charset="-122"/>
                <a:cs typeface="Space Grotesk" pitchFamily="34" charset="-120"/>
              </a:rPr>
              <a:t>Bangun aset</a:t>
            </a:r>
            <a:endParaRPr lang="en-US" sz="2000" dirty="0"/>
          </a:p>
        </p:txBody>
      </p:sp>
      <p:sp>
        <p:nvSpPr>
          <p:cNvPr id="6" name="Text 4"/>
          <p:cNvSpPr/>
          <p:nvPr/>
        </p:nvSpPr>
        <p:spPr>
          <a:xfrm>
            <a:off x="812800" y="5547519"/>
            <a:ext cx="2603119"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FCBDA"/>
                </a:solidFill>
                <a:latin typeface="IBM Plex Sans" pitchFamily="34" charset="0"/>
                <a:ea typeface="IBM Plex Sans" pitchFamily="34" charset="-122"/>
                <a:cs typeface="IBM Plex Sans" pitchFamily="34" charset="-120"/>
              </a:rPr>
              <a:t>Map Editor bertopologi, dengan persetujuan berjenjang</a:t>
            </a:r>
            <a:endParaRPr lang="en-US" sz="1400" dirty="0"/>
          </a:p>
        </p:txBody>
      </p:sp>
      <p:sp>
        <p:nvSpPr>
          <p:cNvPr id="7" name="Shape 5"/>
          <p:cNvSpPr/>
          <p:nvPr/>
        </p:nvSpPr>
        <p:spPr>
          <a:xfrm>
            <a:off x="3492500" y="4976019"/>
            <a:ext cx="2527300" cy="0"/>
          </a:xfrm>
          <a:prstGeom prst="line">
            <a:avLst/>
          </a:prstGeom>
          <a:noFill/>
          <a:ln w="25400">
            <a:solidFill>
              <a:srgbClr val="3B82F6"/>
            </a:solidFill>
            <a:prstDash val="solid"/>
          </a:ln>
        </p:spPr>
      </p:sp>
      <p:sp>
        <p:nvSpPr>
          <p:cNvPr id="8" name="Text 6"/>
          <p:cNvSpPr/>
          <p:nvPr/>
        </p:nvSpPr>
        <p:spPr>
          <a:xfrm>
            <a:off x="3492500" y="5166519"/>
            <a:ext cx="26031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5F6F2"/>
                </a:solidFill>
                <a:latin typeface="Space Grotesk" pitchFamily="34" charset="0"/>
                <a:ea typeface="Space Grotesk" pitchFamily="34" charset="-122"/>
                <a:cs typeface="Space Grotesk" pitchFamily="34" charset="-120"/>
              </a:rPr>
              <a:t>Pantau realtime</a:t>
            </a:r>
            <a:endParaRPr lang="en-US" sz="2000" dirty="0"/>
          </a:p>
        </p:txBody>
      </p:sp>
      <p:sp>
        <p:nvSpPr>
          <p:cNvPr id="9" name="Text 7"/>
          <p:cNvSpPr/>
          <p:nvPr/>
        </p:nvSpPr>
        <p:spPr>
          <a:xfrm>
            <a:off x="3492500" y="5547519"/>
            <a:ext cx="2603119"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FCBDA"/>
                </a:solidFill>
                <a:latin typeface="IBM Plex Sans" pitchFamily="34" charset="0"/>
                <a:ea typeface="IBM Plex Sans" pitchFamily="34" charset="-122"/>
                <a:cs typeface="IBM Plex Sans" pitchFamily="34" charset="-120"/>
              </a:rPr>
              <a:t>Pusat Operasi, SOE, dan dasbor eksekutif</a:t>
            </a:r>
            <a:endParaRPr lang="en-US" sz="1400" dirty="0"/>
          </a:p>
        </p:txBody>
      </p:sp>
      <p:sp>
        <p:nvSpPr>
          <p:cNvPr id="10" name="Shape 8"/>
          <p:cNvSpPr/>
          <p:nvPr/>
        </p:nvSpPr>
        <p:spPr>
          <a:xfrm>
            <a:off x="6172200" y="4976019"/>
            <a:ext cx="2527300" cy="0"/>
          </a:xfrm>
          <a:prstGeom prst="line">
            <a:avLst/>
          </a:prstGeom>
          <a:noFill/>
          <a:ln w="25400">
            <a:solidFill>
              <a:srgbClr val="F2A93B"/>
            </a:solidFill>
            <a:prstDash val="solid"/>
          </a:ln>
        </p:spPr>
      </p:sp>
      <p:sp>
        <p:nvSpPr>
          <p:cNvPr id="11" name="Text 9"/>
          <p:cNvSpPr/>
          <p:nvPr/>
        </p:nvSpPr>
        <p:spPr>
          <a:xfrm>
            <a:off x="6172200" y="5166519"/>
            <a:ext cx="26031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5F6F2"/>
                </a:solidFill>
                <a:latin typeface="Space Grotesk" pitchFamily="34" charset="0"/>
                <a:ea typeface="Space Grotesk" pitchFamily="34" charset="-122"/>
                <a:cs typeface="Space Grotesk" pitchFamily="34" charset="-120"/>
              </a:rPr>
              <a:t>Operasikan aman</a:t>
            </a:r>
            <a:endParaRPr lang="en-US" sz="2000" dirty="0"/>
          </a:p>
        </p:txBody>
      </p:sp>
      <p:sp>
        <p:nvSpPr>
          <p:cNvPr id="12" name="Text 10"/>
          <p:cNvSpPr/>
          <p:nvPr/>
        </p:nvSpPr>
        <p:spPr>
          <a:xfrm>
            <a:off x="6172200" y="5547519"/>
            <a:ext cx="2603119"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FCBDA"/>
                </a:solidFill>
                <a:latin typeface="IBM Plex Sans" pitchFamily="34" charset="0"/>
                <a:ea typeface="IBM Plex Sans" pitchFamily="34" charset="-122"/>
                <a:cs typeface="IBM Plex Sans" pitchFamily="34" charset="-120"/>
              </a:rPr>
              <a:t>Manuver, FLISR, dan rencana manuver sesuai izin</a:t>
            </a:r>
            <a:endParaRPr lang="en-US" sz="1400" dirty="0"/>
          </a:p>
        </p:txBody>
      </p:sp>
      <p:sp>
        <p:nvSpPr>
          <p:cNvPr id="13" name="Shape 11"/>
          <p:cNvSpPr/>
          <p:nvPr/>
        </p:nvSpPr>
        <p:spPr>
          <a:xfrm>
            <a:off x="8851900" y="4976019"/>
            <a:ext cx="2527300" cy="0"/>
          </a:xfrm>
          <a:prstGeom prst="line">
            <a:avLst/>
          </a:prstGeom>
          <a:noFill/>
          <a:ln w="25400">
            <a:solidFill>
              <a:srgbClr val="F2A93B"/>
            </a:solidFill>
            <a:prstDash val="solid"/>
          </a:ln>
        </p:spPr>
      </p:sp>
      <p:sp>
        <p:nvSpPr>
          <p:cNvPr id="14" name="Text 12"/>
          <p:cNvSpPr/>
          <p:nvPr/>
        </p:nvSpPr>
        <p:spPr>
          <a:xfrm>
            <a:off x="8851900" y="5166519"/>
            <a:ext cx="26031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5F6F2"/>
                </a:solidFill>
                <a:latin typeface="Space Grotesk" pitchFamily="34" charset="0"/>
                <a:ea typeface="Space Grotesk" pitchFamily="34" charset="-122"/>
                <a:cs typeface="Space Grotesk" pitchFamily="34" charset="-120"/>
              </a:rPr>
              <a:t>Ukur &amp; analisa</a:t>
            </a:r>
            <a:endParaRPr lang="en-US" sz="2000" dirty="0"/>
          </a:p>
        </p:txBody>
      </p:sp>
      <p:sp>
        <p:nvSpPr>
          <p:cNvPr id="15" name="Text 13"/>
          <p:cNvSpPr/>
          <p:nvPr/>
        </p:nvSpPr>
        <p:spPr>
          <a:xfrm>
            <a:off x="8851900" y="5547519"/>
            <a:ext cx="2603119"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FCBDA"/>
                </a:solidFill>
                <a:latin typeface="IBM Plex Sans" pitchFamily="34" charset="0"/>
                <a:ea typeface="IBM Plex Sans" pitchFamily="34" charset="-122"/>
                <a:cs typeface="IBM Plex Sans" pitchFamily="34" charset="-120"/>
              </a:rPr>
              <a:t>Keandalan, beban, energi, dan susut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KINERJA</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Cepat pada skala jaringan nyata</a:t>
            </a:r>
            <a:endParaRPr lang="en-US" sz="3600" dirty="0"/>
          </a:p>
        </p:txBody>
      </p:sp>
      <p:sp>
        <p:nvSpPr>
          <p:cNvPr id="4" name="Shape 2"/>
          <p:cNvSpPr/>
          <p:nvPr/>
        </p:nvSpPr>
        <p:spPr>
          <a:xfrm>
            <a:off x="815975" y="2723555"/>
            <a:ext cx="2482850" cy="1502370"/>
          </a:xfrm>
          <a:prstGeom prst="roundRect">
            <a:avLst>
              <a:gd name="adj" fmla="val 8242"/>
            </a:avLst>
          </a:prstGeom>
          <a:solidFill>
            <a:srgbClr val="FFFFFF"/>
          </a:solidFill>
          <a:ln w="6350">
            <a:solidFill>
              <a:srgbClr val="DDE2E8"/>
            </a:solidFill>
            <a:prstDash val="solid"/>
          </a:ln>
        </p:spPr>
      </p:sp>
      <p:sp>
        <p:nvSpPr>
          <p:cNvPr id="5" name="Text 3"/>
          <p:cNvSpPr/>
          <p:nvPr/>
        </p:nvSpPr>
        <p:spPr>
          <a:xfrm>
            <a:off x="1022350" y="2980730"/>
            <a:ext cx="2132203"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1D4ED8"/>
                </a:solidFill>
                <a:latin typeface="Space Grotesk" pitchFamily="34" charset="0"/>
                <a:ea typeface="Space Grotesk" pitchFamily="34" charset="-122"/>
                <a:cs typeface="Space Grotesk" pitchFamily="34" charset="-120"/>
              </a:rPr>
              <a:t>2,7 jt</a:t>
            </a:r>
            <a:endParaRPr lang="en-US" sz="3200" dirty="0"/>
          </a:p>
        </p:txBody>
      </p:sp>
      <p:sp>
        <p:nvSpPr>
          <p:cNvPr id="6" name="Text 4"/>
          <p:cNvSpPr/>
          <p:nvPr/>
        </p:nvSpPr>
        <p:spPr>
          <a:xfrm>
            <a:off x="1022350" y="3488730"/>
            <a:ext cx="2132203"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objek jaringan dalam graf topologi di memori</a:t>
            </a:r>
            <a:endParaRPr lang="en-US" sz="1400" dirty="0"/>
          </a:p>
        </p:txBody>
      </p:sp>
      <p:sp>
        <p:nvSpPr>
          <p:cNvPr id="7" name="Shape 5"/>
          <p:cNvSpPr/>
          <p:nvPr/>
        </p:nvSpPr>
        <p:spPr>
          <a:xfrm>
            <a:off x="3508375" y="2723555"/>
            <a:ext cx="2482850" cy="1502370"/>
          </a:xfrm>
          <a:prstGeom prst="roundRect">
            <a:avLst>
              <a:gd name="adj" fmla="val 8242"/>
            </a:avLst>
          </a:prstGeom>
          <a:solidFill>
            <a:srgbClr val="FFFFFF"/>
          </a:solidFill>
          <a:ln w="6350">
            <a:solidFill>
              <a:srgbClr val="DDE2E8"/>
            </a:solidFill>
            <a:prstDash val="solid"/>
          </a:ln>
        </p:spPr>
      </p:sp>
      <p:sp>
        <p:nvSpPr>
          <p:cNvPr id="8" name="Text 6"/>
          <p:cNvSpPr/>
          <p:nvPr/>
        </p:nvSpPr>
        <p:spPr>
          <a:xfrm>
            <a:off x="3714750" y="2980730"/>
            <a:ext cx="2132203"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1D4ED8"/>
                </a:solidFill>
                <a:latin typeface="Space Grotesk" pitchFamily="34" charset="0"/>
                <a:ea typeface="Space Grotesk" pitchFamily="34" charset="-122"/>
                <a:cs typeface="Space Grotesk" pitchFamily="34" charset="-120"/>
              </a:rPr>
              <a:t>&lt;50 ms</a:t>
            </a:r>
            <a:endParaRPr lang="en-US" sz="3200" dirty="0"/>
          </a:p>
        </p:txBody>
      </p:sp>
      <p:sp>
        <p:nvSpPr>
          <p:cNvPr id="9" name="Text 7"/>
          <p:cNvSpPr/>
          <p:nvPr/>
        </p:nvSpPr>
        <p:spPr>
          <a:xfrm>
            <a:off x="3714750" y="3488730"/>
            <a:ext cx="2132203"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menghitung wilayah padam setelah manuver</a:t>
            </a:r>
            <a:endParaRPr lang="en-US" sz="1400" dirty="0"/>
          </a:p>
        </p:txBody>
      </p:sp>
      <p:sp>
        <p:nvSpPr>
          <p:cNvPr id="10" name="Shape 8"/>
          <p:cNvSpPr/>
          <p:nvPr/>
        </p:nvSpPr>
        <p:spPr>
          <a:xfrm>
            <a:off x="6200775" y="2723555"/>
            <a:ext cx="2482850" cy="1502370"/>
          </a:xfrm>
          <a:prstGeom prst="roundRect">
            <a:avLst>
              <a:gd name="adj" fmla="val 8242"/>
            </a:avLst>
          </a:prstGeom>
          <a:solidFill>
            <a:srgbClr val="FFFFFF"/>
          </a:solidFill>
          <a:ln w="6350">
            <a:solidFill>
              <a:srgbClr val="DDE2E8"/>
            </a:solidFill>
            <a:prstDash val="solid"/>
          </a:ln>
        </p:spPr>
      </p:sp>
      <p:sp>
        <p:nvSpPr>
          <p:cNvPr id="11" name="Text 9"/>
          <p:cNvSpPr/>
          <p:nvPr/>
        </p:nvSpPr>
        <p:spPr>
          <a:xfrm>
            <a:off x="6407150" y="2980730"/>
            <a:ext cx="2132203"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1D4ED8"/>
                </a:solidFill>
                <a:latin typeface="Space Grotesk" pitchFamily="34" charset="0"/>
                <a:ea typeface="Space Grotesk" pitchFamily="34" charset="-122"/>
                <a:cs typeface="Space Grotesk" pitchFamily="34" charset="-120"/>
              </a:rPr>
              <a:t>20–60 ms</a:t>
            </a:r>
            <a:endParaRPr lang="en-US" sz="3200" dirty="0"/>
          </a:p>
        </p:txBody>
      </p:sp>
      <p:sp>
        <p:nvSpPr>
          <p:cNvPr id="12" name="Text 10"/>
          <p:cNvSpPr/>
          <p:nvPr/>
        </p:nvSpPr>
        <p:spPr>
          <a:xfrm>
            <a:off x="6407150" y="3488730"/>
            <a:ext cx="2132203"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menyusun SLD satu penyulang dari data GIS</a:t>
            </a:r>
            <a:endParaRPr lang="en-US" sz="1400" dirty="0"/>
          </a:p>
        </p:txBody>
      </p:sp>
      <p:sp>
        <p:nvSpPr>
          <p:cNvPr id="13" name="Shape 11"/>
          <p:cNvSpPr/>
          <p:nvPr/>
        </p:nvSpPr>
        <p:spPr>
          <a:xfrm>
            <a:off x="8893175" y="2723555"/>
            <a:ext cx="2482850" cy="1502370"/>
          </a:xfrm>
          <a:prstGeom prst="roundRect">
            <a:avLst>
              <a:gd name="adj" fmla="val 8242"/>
            </a:avLst>
          </a:prstGeom>
          <a:solidFill>
            <a:srgbClr val="FFFFFF"/>
          </a:solidFill>
          <a:ln w="6350">
            <a:solidFill>
              <a:srgbClr val="DDE2E8"/>
            </a:solidFill>
            <a:prstDash val="solid"/>
          </a:ln>
        </p:spPr>
      </p:sp>
      <p:sp>
        <p:nvSpPr>
          <p:cNvPr id="14" name="Text 12"/>
          <p:cNvSpPr/>
          <p:nvPr/>
        </p:nvSpPr>
        <p:spPr>
          <a:xfrm>
            <a:off x="9099550" y="2980730"/>
            <a:ext cx="2132203"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1D4ED8"/>
                </a:solidFill>
                <a:latin typeface="Space Grotesk" pitchFamily="34" charset="0"/>
                <a:ea typeface="Space Grotesk" pitchFamily="34" charset="-122"/>
                <a:cs typeface="Space Grotesk" pitchFamily="34" charset="-120"/>
              </a:rPr>
              <a:t>&lt;0,4 dtk</a:t>
            </a:r>
            <a:endParaRPr lang="en-US" sz="3200" dirty="0"/>
          </a:p>
        </p:txBody>
      </p:sp>
      <p:sp>
        <p:nvSpPr>
          <p:cNvPr id="15" name="Text 13"/>
          <p:cNvSpPr/>
          <p:nvPr/>
        </p:nvSpPr>
        <p:spPr>
          <a:xfrm>
            <a:off x="9099550" y="3488730"/>
            <a:ext cx="2132203"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4A5568"/>
                </a:solidFill>
                <a:latin typeface="IBM Plex Sans" pitchFamily="34" charset="0"/>
                <a:ea typeface="IBM Plex Sans" pitchFamily="34" charset="-122"/>
                <a:cs typeface="IBM Plex Sans" pitchFamily="34" charset="-120"/>
              </a:rPr>
              <a:t>mencari di antara 2 juta pelanggan</a:t>
            </a:r>
            <a:endParaRPr lang="en-US" sz="1400" dirty="0"/>
          </a:p>
        </p:txBody>
      </p:sp>
      <p:sp>
        <p:nvSpPr>
          <p:cNvPr id="16" name="Text 14"/>
          <p:cNvSpPr/>
          <p:nvPr/>
        </p:nvSpPr>
        <p:spPr>
          <a:xfrm>
            <a:off x="812800" y="5344319"/>
            <a:ext cx="915670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Semua perubahan tersebar ke seluruh pengguna secara realtime lewat WebSocket, tanpa memuat ulang halaman.</a:t>
            </a:r>
            <a:endParaRPr lang="en-US" sz="14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04 · Hasil uji pada data simulasi 102 GI, 1.005 penyulang, 2 juta pelanggan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MAP EDITOR</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Gambar jaringan, topologi terbentuk sendiri</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Topologi otomatis</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Ujung garis tersambung, garis dipisah, junction dibuat.</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Simbol standar IEC</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Trafo, recloser, LBS, NH fuse, rak TR, dengan varian terbuka.</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Atribut SSOT &amp; unit</a:t>
            </a:r>
            <a:endParaRPr lang="en-US" sz="1600" dirty="0"/>
          </a:p>
        </p:txBody>
      </p:sp>
      <p:sp>
        <p:nvSpPr>
          <p:cNvPr id="9" name="Text 7"/>
          <p:cNvSpPr/>
          <p:nvPr/>
        </p:nvSpPr>
        <p:spPr>
          <a:xfrm>
            <a:off x="812800" y="3964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Kode SSOT, kapasitas, penghantar, dan unit pemilik aset.</a:t>
            </a:r>
            <a:endParaRPr lang="en-US" sz="1200" dirty="0"/>
          </a:p>
        </p:txBody>
      </p:sp>
      <p:sp>
        <p:nvSpPr>
          <p:cNvPr id="10" name="Text 8"/>
          <p:cNvSpPr/>
          <p:nvPr/>
        </p:nvSpPr>
        <p:spPr>
          <a:xfrm>
            <a:off x="812800" y="456892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Lewat persetujuan</a:t>
            </a:r>
            <a:endParaRPr lang="en-US" sz="1600" dirty="0"/>
          </a:p>
        </p:txBody>
      </p:sp>
      <p:sp>
        <p:nvSpPr>
          <p:cNvPr id="11" name="Text 9"/>
          <p:cNvSpPr/>
          <p:nvPr/>
        </p:nvSpPr>
        <p:spPr>
          <a:xfrm>
            <a:off x="812800" y="4850805"/>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Tambah, ubah, hapus disimpan sebagai usulan, lalu dirilis.</a:t>
            </a:r>
            <a:endParaRPr lang="en-US" sz="1200" dirty="0"/>
          </a:p>
        </p:txBody>
      </p:sp>
      <p:pic>
        <p:nvPicPr>
          <p:cNvPr id="12" name="Image 0" descr="Map Editor dengan simbol komponen, menu Map Editor, dan panel Layer"/>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PENGELOLAAN DATA · MENAMBAH</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Menambah objek jaringan baru</a:t>
            </a:r>
            <a:endParaRPr lang="en-US" sz="3600" dirty="0"/>
          </a:p>
        </p:txBody>
      </p:sp>
      <p:sp>
        <p:nvSpPr>
          <p:cNvPr id="4" name="Shape 2"/>
          <p:cNvSpPr/>
          <p:nvPr/>
        </p:nvSpPr>
        <p:spPr>
          <a:xfrm>
            <a:off x="812800" y="1909961"/>
            <a:ext cx="283567" cy="299641"/>
          </a:xfrm>
          <a:prstGeom prst="roundRect">
            <a:avLst>
              <a:gd name="adj" fmla="val 50000"/>
            </a:avLst>
          </a:prstGeom>
          <a:solidFill>
            <a:srgbClr val="2563EB"/>
          </a:solidFill>
          <a:ln/>
        </p:spPr>
      </p:sp>
      <p:sp>
        <p:nvSpPr>
          <p:cNvPr id="5" name="Text 3"/>
          <p:cNvSpPr/>
          <p:nvPr/>
        </p:nvSpPr>
        <p:spPr>
          <a:xfrm>
            <a:off x="914400" y="1935361"/>
            <a:ext cx="131167"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1</a:t>
            </a:r>
            <a:endParaRPr lang="en-US" sz="1400" dirty="0"/>
          </a:p>
        </p:txBody>
      </p:sp>
      <p:sp>
        <p:nvSpPr>
          <p:cNvPr id="6" name="Text 4"/>
          <p:cNvSpPr/>
          <p:nvPr/>
        </p:nvSpPr>
        <p:spPr>
          <a:xfrm>
            <a:off x="1223367" y="1909961"/>
            <a:ext cx="323979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Pilih alat &amp; tipe</a:t>
            </a:r>
            <a:endParaRPr lang="en-US" sz="1600" dirty="0"/>
          </a:p>
        </p:txBody>
      </p:sp>
      <p:sp>
        <p:nvSpPr>
          <p:cNvPr id="7" name="Text 5"/>
          <p:cNvSpPr/>
          <p:nvPr/>
        </p:nvSpPr>
        <p:spPr>
          <a:xfrm>
            <a:off x="1223367" y="2179141"/>
            <a:ext cx="323979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Ikon titik atau garis, lalu tipe: SKTM, SKUTR, SR, GD, trafo.</a:t>
            </a:r>
            <a:endParaRPr lang="en-US" sz="1200" dirty="0"/>
          </a:p>
        </p:txBody>
      </p:sp>
      <p:sp>
        <p:nvSpPr>
          <p:cNvPr id="8" name="Shape 6"/>
          <p:cNvSpPr/>
          <p:nvPr/>
        </p:nvSpPr>
        <p:spPr>
          <a:xfrm>
            <a:off x="812800" y="2770882"/>
            <a:ext cx="308868" cy="299641"/>
          </a:xfrm>
          <a:prstGeom prst="roundRect">
            <a:avLst>
              <a:gd name="adj" fmla="val 50000"/>
            </a:avLst>
          </a:prstGeom>
          <a:solidFill>
            <a:srgbClr val="2563EB"/>
          </a:solidFill>
          <a:ln/>
        </p:spPr>
      </p:sp>
      <p:sp>
        <p:nvSpPr>
          <p:cNvPr id="9" name="Text 7"/>
          <p:cNvSpPr/>
          <p:nvPr/>
        </p:nvSpPr>
        <p:spPr>
          <a:xfrm>
            <a:off x="914400" y="2796282"/>
            <a:ext cx="15646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2</a:t>
            </a:r>
            <a:endParaRPr lang="en-US" sz="1400" dirty="0"/>
          </a:p>
        </p:txBody>
      </p:sp>
      <p:sp>
        <p:nvSpPr>
          <p:cNvPr id="10" name="Text 8"/>
          <p:cNvSpPr/>
          <p:nvPr/>
        </p:nvSpPr>
        <p:spPr>
          <a:xfrm>
            <a:off x="1248668" y="2770882"/>
            <a:ext cx="321373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Klik di peta</a:t>
            </a:r>
            <a:endParaRPr lang="en-US" sz="1600" dirty="0"/>
          </a:p>
        </p:txBody>
      </p:sp>
      <p:sp>
        <p:nvSpPr>
          <p:cNvPr id="11" name="Text 9"/>
          <p:cNvSpPr/>
          <p:nvPr/>
        </p:nvSpPr>
        <p:spPr>
          <a:xfrm>
            <a:off x="1248668" y="3040063"/>
            <a:ext cx="321373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Tiap klik satu vertex; Enter selesai, Backspace mundur, Esc batal.</a:t>
            </a:r>
            <a:endParaRPr lang="en-US" sz="1200" dirty="0"/>
          </a:p>
        </p:txBody>
      </p:sp>
      <p:sp>
        <p:nvSpPr>
          <p:cNvPr id="12" name="Shape 10"/>
          <p:cNvSpPr/>
          <p:nvPr/>
        </p:nvSpPr>
        <p:spPr>
          <a:xfrm>
            <a:off x="812800" y="3631803"/>
            <a:ext cx="311348" cy="299641"/>
          </a:xfrm>
          <a:prstGeom prst="roundRect">
            <a:avLst>
              <a:gd name="adj" fmla="val 50000"/>
            </a:avLst>
          </a:prstGeom>
          <a:solidFill>
            <a:srgbClr val="2563EB"/>
          </a:solidFill>
          <a:ln/>
        </p:spPr>
      </p:sp>
      <p:sp>
        <p:nvSpPr>
          <p:cNvPr id="13" name="Text 11"/>
          <p:cNvSpPr/>
          <p:nvPr/>
        </p:nvSpPr>
        <p:spPr>
          <a:xfrm>
            <a:off x="914400" y="3657203"/>
            <a:ext cx="15894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3</a:t>
            </a:r>
            <a:endParaRPr lang="en-US" sz="1400" dirty="0"/>
          </a:p>
        </p:txBody>
      </p:sp>
      <p:sp>
        <p:nvSpPr>
          <p:cNvPr id="14" name="Text 12"/>
          <p:cNvSpPr/>
          <p:nvPr/>
        </p:nvSpPr>
        <p:spPr>
          <a:xfrm>
            <a:off x="1251148" y="3631803"/>
            <a:ext cx="321118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Topologi otomatis</a:t>
            </a:r>
            <a:endParaRPr lang="en-US" sz="1600" dirty="0"/>
          </a:p>
        </p:txBody>
      </p:sp>
      <p:sp>
        <p:nvSpPr>
          <p:cNvPr id="15" name="Text 13"/>
          <p:cNvSpPr/>
          <p:nvPr/>
        </p:nvSpPr>
        <p:spPr>
          <a:xfrm>
            <a:off x="1251148" y="3900984"/>
            <a:ext cx="321118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Ujung menempel ke node terdekat; garis dipisah, junction dibuat.</a:t>
            </a:r>
            <a:endParaRPr lang="en-US" sz="1200" dirty="0"/>
          </a:p>
        </p:txBody>
      </p:sp>
      <p:sp>
        <p:nvSpPr>
          <p:cNvPr id="16" name="Shape 14"/>
          <p:cNvSpPr/>
          <p:nvPr/>
        </p:nvSpPr>
        <p:spPr>
          <a:xfrm>
            <a:off x="812800" y="4492724"/>
            <a:ext cx="316309" cy="299641"/>
          </a:xfrm>
          <a:prstGeom prst="roundRect">
            <a:avLst>
              <a:gd name="adj" fmla="val 50000"/>
            </a:avLst>
          </a:prstGeom>
          <a:solidFill>
            <a:srgbClr val="2563EB"/>
          </a:solidFill>
          <a:ln/>
        </p:spPr>
      </p:sp>
      <p:sp>
        <p:nvSpPr>
          <p:cNvPr id="17" name="Text 15"/>
          <p:cNvSpPr/>
          <p:nvPr/>
        </p:nvSpPr>
        <p:spPr>
          <a:xfrm>
            <a:off x="914400" y="4518124"/>
            <a:ext cx="163909"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4</a:t>
            </a:r>
            <a:endParaRPr lang="en-US" sz="1400" dirty="0"/>
          </a:p>
        </p:txBody>
      </p:sp>
      <p:sp>
        <p:nvSpPr>
          <p:cNvPr id="18" name="Text 16"/>
          <p:cNvSpPr/>
          <p:nvPr/>
        </p:nvSpPr>
        <p:spPr>
          <a:xfrm>
            <a:off x="1256109" y="4492724"/>
            <a:ext cx="320607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Simpan usulan</a:t>
            </a:r>
            <a:endParaRPr lang="en-US" sz="1600" dirty="0"/>
          </a:p>
        </p:txBody>
      </p:sp>
      <p:sp>
        <p:nvSpPr>
          <p:cNvPr id="19" name="Text 17"/>
          <p:cNvSpPr/>
          <p:nvPr/>
        </p:nvSpPr>
        <p:spPr>
          <a:xfrm>
            <a:off x="1256109" y="4761905"/>
            <a:ext cx="320607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Kode, nama, atribut SSOT; objek masuk paket perubahan draf.</a:t>
            </a:r>
            <a:endParaRPr lang="en-US" sz="1200" dirty="0"/>
          </a:p>
        </p:txBody>
      </p:sp>
      <p:pic>
        <p:nvPicPr>
          <p:cNvPr id="20" name="Image 0" descr="Menu gambar komponen dengan daftar tipe titik"/>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21" name="Shape 18"/>
          <p:cNvSpPr/>
          <p:nvPr/>
        </p:nvSpPr>
        <p:spPr>
          <a:xfrm>
            <a:off x="4778375" y="1913136"/>
            <a:ext cx="6597650" cy="3708400"/>
          </a:xfrm>
          <a:prstGeom prst="roundRect">
            <a:avLst>
              <a:gd name="adj" fmla="val 2654"/>
            </a:avLst>
          </a:prstGeom>
          <a:noFill/>
          <a:ln w="6350">
            <a:solidFill>
              <a:srgbClr val="D8DDE3"/>
            </a:solidFill>
            <a:prstDash val="solid"/>
          </a:ln>
        </p:spPr>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06 · Hak akses: gis.edit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PENGELOLAAN DATA · MENGEDIT</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Mengubah atribut dan geometri</a:t>
            </a:r>
            <a:endParaRPr lang="en-US" sz="3600" dirty="0"/>
          </a:p>
        </p:txBody>
      </p:sp>
      <p:sp>
        <p:nvSpPr>
          <p:cNvPr id="4" name="Shape 2"/>
          <p:cNvSpPr/>
          <p:nvPr/>
        </p:nvSpPr>
        <p:spPr>
          <a:xfrm>
            <a:off x="812800" y="1909961"/>
            <a:ext cx="283567" cy="299641"/>
          </a:xfrm>
          <a:prstGeom prst="roundRect">
            <a:avLst>
              <a:gd name="adj" fmla="val 50000"/>
            </a:avLst>
          </a:prstGeom>
          <a:solidFill>
            <a:srgbClr val="2563EB"/>
          </a:solidFill>
          <a:ln/>
        </p:spPr>
      </p:sp>
      <p:sp>
        <p:nvSpPr>
          <p:cNvPr id="5" name="Text 3"/>
          <p:cNvSpPr/>
          <p:nvPr/>
        </p:nvSpPr>
        <p:spPr>
          <a:xfrm>
            <a:off x="914400" y="1935361"/>
            <a:ext cx="131167"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1</a:t>
            </a:r>
            <a:endParaRPr lang="en-US" sz="1400" dirty="0"/>
          </a:p>
        </p:txBody>
      </p:sp>
      <p:sp>
        <p:nvSpPr>
          <p:cNvPr id="6" name="Text 4"/>
          <p:cNvSpPr/>
          <p:nvPr/>
        </p:nvSpPr>
        <p:spPr>
          <a:xfrm>
            <a:off x="1223367" y="1909961"/>
            <a:ext cx="323979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Pilih objek</a:t>
            </a:r>
            <a:endParaRPr lang="en-US" sz="1600" dirty="0"/>
          </a:p>
        </p:txBody>
      </p:sp>
      <p:sp>
        <p:nvSpPr>
          <p:cNvPr id="7" name="Text 5"/>
          <p:cNvSpPr/>
          <p:nvPr/>
        </p:nvSpPr>
        <p:spPr>
          <a:xfrm>
            <a:off x="1223367" y="2179141"/>
            <a:ext cx="323979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Klik di peta, atau cari kode, nama, id, atau kode SSOT.</a:t>
            </a:r>
            <a:endParaRPr lang="en-US" sz="1200" dirty="0"/>
          </a:p>
        </p:txBody>
      </p:sp>
      <p:sp>
        <p:nvSpPr>
          <p:cNvPr id="8" name="Shape 6"/>
          <p:cNvSpPr/>
          <p:nvPr/>
        </p:nvSpPr>
        <p:spPr>
          <a:xfrm>
            <a:off x="812800" y="2770882"/>
            <a:ext cx="308868" cy="299641"/>
          </a:xfrm>
          <a:prstGeom prst="roundRect">
            <a:avLst>
              <a:gd name="adj" fmla="val 50000"/>
            </a:avLst>
          </a:prstGeom>
          <a:solidFill>
            <a:srgbClr val="2563EB"/>
          </a:solidFill>
          <a:ln/>
        </p:spPr>
      </p:sp>
      <p:sp>
        <p:nvSpPr>
          <p:cNvPr id="9" name="Text 7"/>
          <p:cNvSpPr/>
          <p:nvPr/>
        </p:nvSpPr>
        <p:spPr>
          <a:xfrm>
            <a:off x="914400" y="2796282"/>
            <a:ext cx="15646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2</a:t>
            </a:r>
            <a:endParaRPr lang="en-US" sz="1400" dirty="0"/>
          </a:p>
        </p:txBody>
      </p:sp>
      <p:sp>
        <p:nvSpPr>
          <p:cNvPr id="10" name="Text 8"/>
          <p:cNvSpPr/>
          <p:nvPr/>
        </p:nvSpPr>
        <p:spPr>
          <a:xfrm>
            <a:off x="1248668" y="2770882"/>
            <a:ext cx="321373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Ubah atribut &amp; unit</a:t>
            </a:r>
            <a:endParaRPr lang="en-US" sz="1600" dirty="0"/>
          </a:p>
        </p:txBody>
      </p:sp>
      <p:sp>
        <p:nvSpPr>
          <p:cNvPr id="11" name="Text 9"/>
          <p:cNvSpPr/>
          <p:nvPr/>
        </p:nvSpPr>
        <p:spPr>
          <a:xfrm>
            <a:off x="1248668" y="3040063"/>
            <a:ext cx="321373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Kode, nama, SSOT, unit pemilik, lalu Simpan usulan.</a:t>
            </a:r>
            <a:endParaRPr lang="en-US" sz="1200" dirty="0"/>
          </a:p>
        </p:txBody>
      </p:sp>
      <p:sp>
        <p:nvSpPr>
          <p:cNvPr id="12" name="Shape 10"/>
          <p:cNvSpPr/>
          <p:nvPr/>
        </p:nvSpPr>
        <p:spPr>
          <a:xfrm>
            <a:off x="812800" y="3631803"/>
            <a:ext cx="311348" cy="299641"/>
          </a:xfrm>
          <a:prstGeom prst="roundRect">
            <a:avLst>
              <a:gd name="adj" fmla="val 50000"/>
            </a:avLst>
          </a:prstGeom>
          <a:solidFill>
            <a:srgbClr val="2563EB"/>
          </a:solidFill>
          <a:ln/>
        </p:spPr>
      </p:sp>
      <p:sp>
        <p:nvSpPr>
          <p:cNvPr id="13" name="Text 11"/>
          <p:cNvSpPr/>
          <p:nvPr/>
        </p:nvSpPr>
        <p:spPr>
          <a:xfrm>
            <a:off x="914400" y="3657203"/>
            <a:ext cx="15894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3</a:t>
            </a:r>
            <a:endParaRPr lang="en-US" sz="1400" dirty="0"/>
          </a:p>
        </p:txBody>
      </p:sp>
      <p:sp>
        <p:nvSpPr>
          <p:cNvPr id="14" name="Text 12"/>
          <p:cNvSpPr/>
          <p:nvPr/>
        </p:nvSpPr>
        <p:spPr>
          <a:xfrm>
            <a:off x="1251148" y="3631803"/>
            <a:ext cx="321118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Ubah geometri</a:t>
            </a:r>
            <a:endParaRPr lang="en-US" sz="1600" dirty="0"/>
          </a:p>
        </p:txBody>
      </p:sp>
      <p:sp>
        <p:nvSpPr>
          <p:cNvPr id="15" name="Text 13"/>
          <p:cNvSpPr/>
          <p:nvPr/>
        </p:nvSpPr>
        <p:spPr>
          <a:xfrm>
            <a:off x="1251148" y="3900984"/>
            <a:ext cx="321118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Pindahkan, Edit vertex, Gambar ulang, atau Pisah garis.</a:t>
            </a:r>
            <a:endParaRPr lang="en-US" sz="1200" dirty="0"/>
          </a:p>
        </p:txBody>
      </p:sp>
      <p:sp>
        <p:nvSpPr>
          <p:cNvPr id="16" name="Shape 14"/>
          <p:cNvSpPr/>
          <p:nvPr/>
        </p:nvSpPr>
        <p:spPr>
          <a:xfrm>
            <a:off x="812800" y="4492724"/>
            <a:ext cx="316309" cy="299641"/>
          </a:xfrm>
          <a:prstGeom prst="roundRect">
            <a:avLst>
              <a:gd name="adj" fmla="val 50000"/>
            </a:avLst>
          </a:prstGeom>
          <a:solidFill>
            <a:srgbClr val="2563EB"/>
          </a:solidFill>
          <a:ln/>
        </p:spPr>
      </p:sp>
      <p:sp>
        <p:nvSpPr>
          <p:cNvPr id="17" name="Text 15"/>
          <p:cNvSpPr/>
          <p:nvPr/>
        </p:nvSpPr>
        <p:spPr>
          <a:xfrm>
            <a:off x="914400" y="4518124"/>
            <a:ext cx="163909"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4</a:t>
            </a:r>
            <a:endParaRPr lang="en-US" sz="1400" dirty="0"/>
          </a:p>
        </p:txBody>
      </p:sp>
      <p:sp>
        <p:nvSpPr>
          <p:cNvPr id="18" name="Text 16"/>
          <p:cNvSpPr/>
          <p:nvPr/>
        </p:nvSpPr>
        <p:spPr>
          <a:xfrm>
            <a:off x="1256109" y="4492724"/>
            <a:ext cx="320607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Ditinjau lalu dirilis</a:t>
            </a:r>
            <a:endParaRPr lang="en-US" sz="1600" dirty="0"/>
          </a:p>
        </p:txBody>
      </p:sp>
      <p:sp>
        <p:nvSpPr>
          <p:cNvPr id="19" name="Text 17"/>
          <p:cNvSpPr/>
          <p:nvPr/>
        </p:nvSpPr>
        <p:spPr>
          <a:xfrm>
            <a:off x="1256109" y="4761905"/>
            <a:ext cx="320607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Usulan tampil biru di peta sampai paket dirilis.</a:t>
            </a:r>
            <a:endParaRPr lang="en-US" sz="1200" dirty="0"/>
          </a:p>
        </p:txBody>
      </p:sp>
      <p:pic>
        <p:nvPicPr>
          <p:cNvPr id="20" name="Image 0" descr="Panel Fitur dengan atribut SSOT, unit pemilik, dan tombol Simpan usulan"/>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21" name="Shape 18"/>
          <p:cNvSpPr/>
          <p:nvPr/>
        </p:nvSpPr>
        <p:spPr>
          <a:xfrm>
            <a:off x="4778375" y="1913136"/>
            <a:ext cx="6597650" cy="3708400"/>
          </a:xfrm>
          <a:prstGeom prst="roundRect">
            <a:avLst>
              <a:gd name="adj" fmla="val 2654"/>
            </a:avLst>
          </a:prstGeom>
          <a:noFill/>
          <a:ln w="6350">
            <a:solidFill>
              <a:srgbClr val="D8DDE3"/>
            </a:solidFill>
            <a:prstDash val="solid"/>
          </a:ln>
        </p:spPr>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07 · Hak akses: gis.edit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PENGELOLAAN DATA · MENGHAPUS</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Menghapus objek dengan aman</a:t>
            </a:r>
            <a:endParaRPr lang="en-US" sz="3600" dirty="0"/>
          </a:p>
        </p:txBody>
      </p:sp>
      <p:sp>
        <p:nvSpPr>
          <p:cNvPr id="4" name="Shape 2"/>
          <p:cNvSpPr/>
          <p:nvPr/>
        </p:nvSpPr>
        <p:spPr>
          <a:xfrm>
            <a:off x="812800" y="1909961"/>
            <a:ext cx="283567" cy="299641"/>
          </a:xfrm>
          <a:prstGeom prst="roundRect">
            <a:avLst>
              <a:gd name="adj" fmla="val 50000"/>
            </a:avLst>
          </a:prstGeom>
          <a:solidFill>
            <a:srgbClr val="2563EB"/>
          </a:solidFill>
          <a:ln/>
        </p:spPr>
      </p:sp>
      <p:sp>
        <p:nvSpPr>
          <p:cNvPr id="5" name="Text 3"/>
          <p:cNvSpPr/>
          <p:nvPr/>
        </p:nvSpPr>
        <p:spPr>
          <a:xfrm>
            <a:off x="914400" y="1935361"/>
            <a:ext cx="131167"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1</a:t>
            </a:r>
            <a:endParaRPr lang="en-US" sz="1400" dirty="0"/>
          </a:p>
        </p:txBody>
      </p:sp>
      <p:sp>
        <p:nvSpPr>
          <p:cNvPr id="6" name="Text 4"/>
          <p:cNvSpPr/>
          <p:nvPr/>
        </p:nvSpPr>
        <p:spPr>
          <a:xfrm>
            <a:off x="1223367" y="1909961"/>
            <a:ext cx="323979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Pilih lalu Hapus</a:t>
            </a:r>
            <a:endParaRPr lang="en-US" sz="1600" dirty="0"/>
          </a:p>
        </p:txBody>
      </p:sp>
      <p:sp>
        <p:nvSpPr>
          <p:cNvPr id="7" name="Text 5"/>
          <p:cNvSpPr/>
          <p:nvPr/>
        </p:nvSpPr>
        <p:spPr>
          <a:xfrm>
            <a:off x="1223367" y="2179141"/>
            <a:ext cx="323979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Tombol Hapus ada di bagian bawah panel Fitur.</a:t>
            </a:r>
            <a:endParaRPr lang="en-US" sz="1200" dirty="0"/>
          </a:p>
        </p:txBody>
      </p:sp>
      <p:sp>
        <p:nvSpPr>
          <p:cNvPr id="8" name="Shape 6"/>
          <p:cNvSpPr/>
          <p:nvPr/>
        </p:nvSpPr>
        <p:spPr>
          <a:xfrm>
            <a:off x="812800" y="2770882"/>
            <a:ext cx="308868" cy="299641"/>
          </a:xfrm>
          <a:prstGeom prst="roundRect">
            <a:avLst>
              <a:gd name="adj" fmla="val 50000"/>
            </a:avLst>
          </a:prstGeom>
          <a:solidFill>
            <a:srgbClr val="2563EB"/>
          </a:solidFill>
          <a:ln/>
        </p:spPr>
      </p:sp>
      <p:sp>
        <p:nvSpPr>
          <p:cNvPr id="9" name="Text 7"/>
          <p:cNvSpPr/>
          <p:nvPr/>
        </p:nvSpPr>
        <p:spPr>
          <a:xfrm>
            <a:off x="914400" y="2796282"/>
            <a:ext cx="15646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2</a:t>
            </a:r>
            <a:endParaRPr lang="en-US" sz="1400" dirty="0"/>
          </a:p>
        </p:txBody>
      </p:sp>
      <p:sp>
        <p:nvSpPr>
          <p:cNvPr id="10" name="Text 8"/>
          <p:cNvSpPr/>
          <p:nvPr/>
        </p:nvSpPr>
        <p:spPr>
          <a:xfrm>
            <a:off x="1248668" y="2770882"/>
            <a:ext cx="321373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Konfirmasi dampak</a:t>
            </a:r>
            <a:endParaRPr lang="en-US" sz="1600" dirty="0"/>
          </a:p>
        </p:txBody>
      </p:sp>
      <p:sp>
        <p:nvSpPr>
          <p:cNvPr id="11" name="Text 9"/>
          <p:cNvSpPr/>
          <p:nvPr/>
        </p:nvSpPr>
        <p:spPr>
          <a:xfrm>
            <a:off x="1248668" y="3040063"/>
            <a:ext cx="321373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Menghapus titik ikut menghapus garis yang terhubung.</a:t>
            </a:r>
            <a:endParaRPr lang="en-US" sz="1200" dirty="0"/>
          </a:p>
        </p:txBody>
      </p:sp>
      <p:sp>
        <p:nvSpPr>
          <p:cNvPr id="12" name="Shape 10"/>
          <p:cNvSpPr/>
          <p:nvPr/>
        </p:nvSpPr>
        <p:spPr>
          <a:xfrm>
            <a:off x="812800" y="3631803"/>
            <a:ext cx="311348" cy="299641"/>
          </a:xfrm>
          <a:prstGeom prst="roundRect">
            <a:avLst>
              <a:gd name="adj" fmla="val 50000"/>
            </a:avLst>
          </a:prstGeom>
          <a:solidFill>
            <a:srgbClr val="2563EB"/>
          </a:solidFill>
          <a:ln/>
        </p:spPr>
      </p:sp>
      <p:sp>
        <p:nvSpPr>
          <p:cNvPr id="13" name="Text 11"/>
          <p:cNvSpPr/>
          <p:nvPr/>
        </p:nvSpPr>
        <p:spPr>
          <a:xfrm>
            <a:off x="914400" y="3657203"/>
            <a:ext cx="15894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3</a:t>
            </a:r>
            <a:endParaRPr lang="en-US" sz="1400" dirty="0"/>
          </a:p>
        </p:txBody>
      </p:sp>
      <p:sp>
        <p:nvSpPr>
          <p:cNvPr id="14" name="Text 12"/>
          <p:cNvSpPr/>
          <p:nvPr/>
        </p:nvSpPr>
        <p:spPr>
          <a:xfrm>
            <a:off x="1251148" y="3631803"/>
            <a:ext cx="321118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Usulan hapus</a:t>
            </a:r>
            <a:endParaRPr lang="en-US" sz="1600" dirty="0"/>
          </a:p>
        </p:txBody>
      </p:sp>
      <p:sp>
        <p:nvSpPr>
          <p:cNvPr id="15" name="Text 13"/>
          <p:cNvSpPr/>
          <p:nvPr/>
        </p:nvSpPr>
        <p:spPr>
          <a:xfrm>
            <a:off x="1251148" y="3900984"/>
            <a:ext cx="321118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Objek ditandai merah; baru terhapus saat paket dirilis.</a:t>
            </a:r>
            <a:endParaRPr lang="en-US" sz="1200" dirty="0"/>
          </a:p>
        </p:txBody>
      </p:sp>
      <p:sp>
        <p:nvSpPr>
          <p:cNvPr id="16" name="Shape 14"/>
          <p:cNvSpPr/>
          <p:nvPr/>
        </p:nvSpPr>
        <p:spPr>
          <a:xfrm>
            <a:off x="812800" y="4492724"/>
            <a:ext cx="316309" cy="299641"/>
          </a:xfrm>
          <a:prstGeom prst="roundRect">
            <a:avLst>
              <a:gd name="adj" fmla="val 50000"/>
            </a:avLst>
          </a:prstGeom>
          <a:solidFill>
            <a:srgbClr val="2563EB"/>
          </a:solidFill>
          <a:ln/>
        </p:spPr>
      </p:sp>
      <p:sp>
        <p:nvSpPr>
          <p:cNvPr id="17" name="Text 15"/>
          <p:cNvSpPr/>
          <p:nvPr/>
        </p:nvSpPr>
        <p:spPr>
          <a:xfrm>
            <a:off x="914400" y="4518124"/>
            <a:ext cx="163909"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4</a:t>
            </a:r>
            <a:endParaRPr lang="en-US" sz="1400" dirty="0"/>
          </a:p>
        </p:txBody>
      </p:sp>
      <p:sp>
        <p:nvSpPr>
          <p:cNvPr id="18" name="Text 16"/>
          <p:cNvSpPr/>
          <p:nvPr/>
        </p:nvSpPr>
        <p:spPr>
          <a:xfrm>
            <a:off x="1256109" y="4492724"/>
            <a:ext cx="320607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Topologi dibersihkan</a:t>
            </a:r>
            <a:endParaRPr lang="en-US" sz="1600" dirty="0"/>
          </a:p>
        </p:txBody>
      </p:sp>
      <p:sp>
        <p:nvSpPr>
          <p:cNvPr id="19" name="Text 17"/>
          <p:cNvSpPr/>
          <p:nvPr/>
        </p:nvSpPr>
        <p:spPr>
          <a:xfrm>
            <a:off x="1256109" y="4761905"/>
            <a:ext cx="320607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Junction yatim dihapus; nyala/padam dihitung ulang.</a:t>
            </a:r>
            <a:endParaRPr lang="en-US" sz="1200" dirty="0"/>
          </a:p>
        </p:txBody>
      </p:sp>
      <p:pic>
        <p:nvPicPr>
          <p:cNvPr id="20" name="Image 0" descr="Dialog konfirmasi hapus fitur yang menyebut garis terhubung ikut terhapus"/>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21" name="Shape 18"/>
          <p:cNvSpPr/>
          <p:nvPr/>
        </p:nvSpPr>
        <p:spPr>
          <a:xfrm>
            <a:off x="4778375" y="1913136"/>
            <a:ext cx="6597650" cy="3708400"/>
          </a:xfrm>
          <a:prstGeom prst="roundRect">
            <a:avLst>
              <a:gd name="adj" fmla="val 2654"/>
            </a:avLst>
          </a:prstGeom>
          <a:noFill/>
          <a:ln w="6350">
            <a:solidFill>
              <a:srgbClr val="D8DDE3"/>
            </a:solidFill>
            <a:prstDash val="solid"/>
          </a:ln>
        </p:spPr>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08 · Hak akses: gis.edit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PENGELOLAAN DATA · PERSETUJUAN</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Setiap perubahan ditinjau sebelum berlaku</a:t>
            </a:r>
            <a:endParaRPr lang="en-US" sz="3600" dirty="0"/>
          </a:p>
        </p:txBody>
      </p:sp>
      <p:sp>
        <p:nvSpPr>
          <p:cNvPr id="4" name="Shape 2"/>
          <p:cNvSpPr/>
          <p:nvPr/>
        </p:nvSpPr>
        <p:spPr>
          <a:xfrm>
            <a:off x="812800" y="1909961"/>
            <a:ext cx="283567" cy="299641"/>
          </a:xfrm>
          <a:prstGeom prst="roundRect">
            <a:avLst>
              <a:gd name="adj" fmla="val 50000"/>
            </a:avLst>
          </a:prstGeom>
          <a:solidFill>
            <a:srgbClr val="2563EB"/>
          </a:solidFill>
          <a:ln/>
        </p:spPr>
      </p:sp>
      <p:sp>
        <p:nvSpPr>
          <p:cNvPr id="5" name="Text 3"/>
          <p:cNvSpPr/>
          <p:nvPr/>
        </p:nvSpPr>
        <p:spPr>
          <a:xfrm>
            <a:off x="914400" y="1935361"/>
            <a:ext cx="131167"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1</a:t>
            </a:r>
            <a:endParaRPr lang="en-US" sz="1400" dirty="0"/>
          </a:p>
        </p:txBody>
      </p:sp>
      <p:sp>
        <p:nvSpPr>
          <p:cNvPr id="6" name="Text 4"/>
          <p:cNvSpPr/>
          <p:nvPr/>
        </p:nvSpPr>
        <p:spPr>
          <a:xfrm>
            <a:off x="1223367" y="1909961"/>
            <a:ext cx="323979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Draf</a:t>
            </a:r>
            <a:endParaRPr lang="en-US" sz="1600" dirty="0"/>
          </a:p>
        </p:txBody>
      </p:sp>
      <p:sp>
        <p:nvSpPr>
          <p:cNvPr id="7" name="Text 5"/>
          <p:cNvSpPr/>
          <p:nvPr/>
        </p:nvSpPr>
        <p:spPr>
          <a:xfrm>
            <a:off x="1223367" y="2179141"/>
            <a:ext cx="323979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Editor mengumpulkan perubahan dalam satu paket.</a:t>
            </a:r>
            <a:endParaRPr lang="en-US" sz="1200" dirty="0"/>
          </a:p>
        </p:txBody>
      </p:sp>
      <p:sp>
        <p:nvSpPr>
          <p:cNvPr id="8" name="Shape 6"/>
          <p:cNvSpPr/>
          <p:nvPr/>
        </p:nvSpPr>
        <p:spPr>
          <a:xfrm>
            <a:off x="812800" y="2770882"/>
            <a:ext cx="308868" cy="299641"/>
          </a:xfrm>
          <a:prstGeom prst="roundRect">
            <a:avLst>
              <a:gd name="adj" fmla="val 50000"/>
            </a:avLst>
          </a:prstGeom>
          <a:solidFill>
            <a:srgbClr val="2563EB"/>
          </a:solidFill>
          <a:ln/>
        </p:spPr>
      </p:sp>
      <p:sp>
        <p:nvSpPr>
          <p:cNvPr id="9" name="Text 7"/>
          <p:cNvSpPr/>
          <p:nvPr/>
        </p:nvSpPr>
        <p:spPr>
          <a:xfrm>
            <a:off x="914400" y="2796282"/>
            <a:ext cx="15646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2</a:t>
            </a:r>
            <a:endParaRPr lang="en-US" sz="1400" dirty="0"/>
          </a:p>
        </p:txBody>
      </p:sp>
      <p:sp>
        <p:nvSpPr>
          <p:cNvPr id="10" name="Text 8"/>
          <p:cNvSpPr/>
          <p:nvPr/>
        </p:nvSpPr>
        <p:spPr>
          <a:xfrm>
            <a:off x="1248668" y="2770882"/>
            <a:ext cx="321373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Diajukan</a:t>
            </a:r>
            <a:endParaRPr lang="en-US" sz="1600" dirty="0"/>
          </a:p>
        </p:txBody>
      </p:sp>
      <p:sp>
        <p:nvSpPr>
          <p:cNvPr id="11" name="Text 9"/>
          <p:cNvSpPr/>
          <p:nvPr/>
        </p:nvSpPr>
        <p:spPr>
          <a:xfrm>
            <a:off x="1248668" y="3040063"/>
            <a:ext cx="321373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Paket diajukan dengan catatan; jaringan aktif belum berubah.</a:t>
            </a:r>
            <a:endParaRPr lang="en-US" sz="1200" dirty="0"/>
          </a:p>
        </p:txBody>
      </p:sp>
      <p:sp>
        <p:nvSpPr>
          <p:cNvPr id="12" name="Shape 10"/>
          <p:cNvSpPr/>
          <p:nvPr/>
        </p:nvSpPr>
        <p:spPr>
          <a:xfrm>
            <a:off x="812800" y="3631803"/>
            <a:ext cx="311348" cy="299641"/>
          </a:xfrm>
          <a:prstGeom prst="roundRect">
            <a:avLst>
              <a:gd name="adj" fmla="val 50000"/>
            </a:avLst>
          </a:prstGeom>
          <a:solidFill>
            <a:srgbClr val="2563EB"/>
          </a:solidFill>
          <a:ln/>
        </p:spPr>
      </p:sp>
      <p:sp>
        <p:nvSpPr>
          <p:cNvPr id="13" name="Text 11"/>
          <p:cNvSpPr/>
          <p:nvPr/>
        </p:nvSpPr>
        <p:spPr>
          <a:xfrm>
            <a:off x="914400" y="3657203"/>
            <a:ext cx="15894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3</a:t>
            </a:r>
            <a:endParaRPr lang="en-US" sz="1400" dirty="0"/>
          </a:p>
        </p:txBody>
      </p:sp>
      <p:sp>
        <p:nvSpPr>
          <p:cNvPr id="14" name="Text 12"/>
          <p:cNvSpPr/>
          <p:nvPr/>
        </p:nvSpPr>
        <p:spPr>
          <a:xfrm>
            <a:off x="1251148" y="3631803"/>
            <a:ext cx="321118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Disetujui</a:t>
            </a:r>
            <a:endParaRPr lang="en-US" sz="1600" dirty="0"/>
          </a:p>
        </p:txBody>
      </p:sp>
      <p:sp>
        <p:nvSpPr>
          <p:cNvPr id="15" name="Text 13"/>
          <p:cNvSpPr/>
          <p:nvPr/>
        </p:nvSpPr>
        <p:spPr>
          <a:xfrm>
            <a:off x="1251148" y="3900984"/>
            <a:ext cx="321118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Supervisor memeriksa sebelum → sesudah; tolak wajib beralasan.</a:t>
            </a:r>
            <a:endParaRPr lang="en-US" sz="1200" dirty="0"/>
          </a:p>
        </p:txBody>
      </p:sp>
      <p:sp>
        <p:nvSpPr>
          <p:cNvPr id="16" name="Shape 14"/>
          <p:cNvSpPr/>
          <p:nvPr/>
        </p:nvSpPr>
        <p:spPr>
          <a:xfrm>
            <a:off x="812800" y="4492724"/>
            <a:ext cx="316309" cy="299641"/>
          </a:xfrm>
          <a:prstGeom prst="roundRect">
            <a:avLst>
              <a:gd name="adj" fmla="val 50000"/>
            </a:avLst>
          </a:prstGeom>
          <a:solidFill>
            <a:srgbClr val="2563EB"/>
          </a:solidFill>
          <a:ln/>
        </p:spPr>
      </p:sp>
      <p:sp>
        <p:nvSpPr>
          <p:cNvPr id="17" name="Text 15"/>
          <p:cNvSpPr/>
          <p:nvPr/>
        </p:nvSpPr>
        <p:spPr>
          <a:xfrm>
            <a:off x="914400" y="4518124"/>
            <a:ext cx="163909"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4</a:t>
            </a:r>
            <a:endParaRPr lang="en-US" sz="1400" dirty="0"/>
          </a:p>
        </p:txBody>
      </p:sp>
      <p:sp>
        <p:nvSpPr>
          <p:cNvPr id="18" name="Text 16"/>
          <p:cNvSpPr/>
          <p:nvPr/>
        </p:nvSpPr>
        <p:spPr>
          <a:xfrm>
            <a:off x="1256109" y="4492724"/>
            <a:ext cx="320607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Dirilis</a:t>
            </a:r>
            <a:endParaRPr lang="en-US" sz="1600" dirty="0"/>
          </a:p>
        </p:txBody>
      </p:sp>
      <p:sp>
        <p:nvSpPr>
          <p:cNvPr id="19" name="Text 17"/>
          <p:cNvSpPr/>
          <p:nvPr/>
        </p:nvSpPr>
        <p:spPr>
          <a:xfrm>
            <a:off x="1256109" y="4761905"/>
            <a:ext cx="320607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Manajer menerapkan ke jaringan aktif; konflik dicek lebih dulu.</a:t>
            </a:r>
            <a:endParaRPr lang="en-US" sz="1200" dirty="0"/>
          </a:p>
        </p:txBody>
      </p:sp>
      <p:pic>
        <p:nvPicPr>
          <p:cNvPr id="20" name="Image 0" descr="Halaman Persetujuan Perubahan dengan tahapan paket dan daftar perubahan"/>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21" name="Shape 18"/>
          <p:cNvSpPr/>
          <p:nvPr/>
        </p:nvSpPr>
        <p:spPr>
          <a:xfrm>
            <a:off x="4778375" y="1913136"/>
            <a:ext cx="6597650" cy="3708400"/>
          </a:xfrm>
          <a:prstGeom prst="roundRect">
            <a:avLst>
              <a:gd name="adj" fmla="val 2654"/>
            </a:avLst>
          </a:prstGeom>
          <a:noFill/>
          <a:ln w="6350">
            <a:solidFill>
              <a:srgbClr val="D8DDE3"/>
            </a:solidFill>
            <a:prstDash val="solid"/>
          </a:ln>
        </p:spPr>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09 · Hak akses: gis.edit · gis.approve · gis.release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PENGELOLAAN DATA · EDIT MASSAL</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Edit massal lewat QGIS</a:t>
            </a:r>
            <a:endParaRPr lang="en-US" sz="3600" dirty="0"/>
          </a:p>
        </p:txBody>
      </p:sp>
      <p:sp>
        <p:nvSpPr>
          <p:cNvPr id="4" name="Shape 2"/>
          <p:cNvSpPr/>
          <p:nvPr/>
        </p:nvSpPr>
        <p:spPr>
          <a:xfrm>
            <a:off x="812800" y="1909961"/>
            <a:ext cx="283567" cy="299641"/>
          </a:xfrm>
          <a:prstGeom prst="roundRect">
            <a:avLst>
              <a:gd name="adj" fmla="val 50000"/>
            </a:avLst>
          </a:prstGeom>
          <a:solidFill>
            <a:srgbClr val="2563EB"/>
          </a:solidFill>
          <a:ln/>
        </p:spPr>
      </p:sp>
      <p:sp>
        <p:nvSpPr>
          <p:cNvPr id="5" name="Text 3"/>
          <p:cNvSpPr/>
          <p:nvPr/>
        </p:nvSpPr>
        <p:spPr>
          <a:xfrm>
            <a:off x="914400" y="1935361"/>
            <a:ext cx="131167"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1</a:t>
            </a:r>
            <a:endParaRPr lang="en-US" sz="1400" dirty="0"/>
          </a:p>
        </p:txBody>
      </p:sp>
      <p:sp>
        <p:nvSpPr>
          <p:cNvPr id="6" name="Text 4"/>
          <p:cNvSpPr/>
          <p:nvPr/>
        </p:nvSpPr>
        <p:spPr>
          <a:xfrm>
            <a:off x="1223367" y="1909961"/>
            <a:ext cx="323979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Ekspor GeoJSON</a:t>
            </a:r>
            <a:endParaRPr lang="en-US" sz="1600" dirty="0"/>
          </a:p>
        </p:txBody>
      </p:sp>
      <p:sp>
        <p:nvSpPr>
          <p:cNvPr id="7" name="Text 5"/>
          <p:cNvSpPr/>
          <p:nvPr/>
        </p:nvSpPr>
        <p:spPr>
          <a:xfrm>
            <a:off x="1223367" y="2179141"/>
            <a:ext cx="323979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Tampilan peta atau poligon, pilih tipe, maksimal 10 MB.</a:t>
            </a:r>
            <a:endParaRPr lang="en-US" sz="1200" dirty="0"/>
          </a:p>
        </p:txBody>
      </p:sp>
      <p:sp>
        <p:nvSpPr>
          <p:cNvPr id="8" name="Shape 6"/>
          <p:cNvSpPr/>
          <p:nvPr/>
        </p:nvSpPr>
        <p:spPr>
          <a:xfrm>
            <a:off x="812800" y="2770882"/>
            <a:ext cx="308868" cy="299641"/>
          </a:xfrm>
          <a:prstGeom prst="roundRect">
            <a:avLst>
              <a:gd name="adj" fmla="val 50000"/>
            </a:avLst>
          </a:prstGeom>
          <a:solidFill>
            <a:srgbClr val="2563EB"/>
          </a:solidFill>
          <a:ln/>
        </p:spPr>
      </p:sp>
      <p:sp>
        <p:nvSpPr>
          <p:cNvPr id="9" name="Text 7"/>
          <p:cNvSpPr/>
          <p:nvPr/>
        </p:nvSpPr>
        <p:spPr>
          <a:xfrm>
            <a:off x="914400" y="2796282"/>
            <a:ext cx="15646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2</a:t>
            </a:r>
            <a:endParaRPr lang="en-US" sz="1400" dirty="0"/>
          </a:p>
        </p:txBody>
      </p:sp>
      <p:sp>
        <p:nvSpPr>
          <p:cNvPr id="10" name="Text 8"/>
          <p:cNvSpPr/>
          <p:nvPr/>
        </p:nvSpPr>
        <p:spPr>
          <a:xfrm>
            <a:off x="1248668" y="2770882"/>
            <a:ext cx="3213736"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Sunting di QGIS</a:t>
            </a:r>
            <a:endParaRPr lang="en-US" sz="1600" dirty="0"/>
          </a:p>
        </p:txBody>
      </p:sp>
      <p:sp>
        <p:nvSpPr>
          <p:cNvPr id="11" name="Text 9"/>
          <p:cNvSpPr/>
          <p:nvPr/>
        </p:nvSpPr>
        <p:spPr>
          <a:xfrm>
            <a:off x="1248668" y="3040063"/>
            <a:ext cx="321373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Ubah atribut dan geometri, atau tambah objek baru.</a:t>
            </a:r>
            <a:endParaRPr lang="en-US" sz="1200" dirty="0"/>
          </a:p>
        </p:txBody>
      </p:sp>
      <p:sp>
        <p:nvSpPr>
          <p:cNvPr id="12" name="Shape 10"/>
          <p:cNvSpPr/>
          <p:nvPr/>
        </p:nvSpPr>
        <p:spPr>
          <a:xfrm>
            <a:off x="812800" y="3631803"/>
            <a:ext cx="311348" cy="299641"/>
          </a:xfrm>
          <a:prstGeom prst="roundRect">
            <a:avLst>
              <a:gd name="adj" fmla="val 50000"/>
            </a:avLst>
          </a:prstGeom>
          <a:solidFill>
            <a:srgbClr val="2563EB"/>
          </a:solidFill>
          <a:ln/>
        </p:spPr>
      </p:sp>
      <p:sp>
        <p:nvSpPr>
          <p:cNvPr id="13" name="Text 11"/>
          <p:cNvSpPr/>
          <p:nvPr/>
        </p:nvSpPr>
        <p:spPr>
          <a:xfrm>
            <a:off x="914400" y="3657203"/>
            <a:ext cx="15894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3</a:t>
            </a:r>
            <a:endParaRPr lang="en-US" sz="1400" dirty="0"/>
          </a:p>
        </p:txBody>
      </p:sp>
      <p:sp>
        <p:nvSpPr>
          <p:cNvPr id="14" name="Text 12"/>
          <p:cNvSpPr/>
          <p:nvPr/>
        </p:nvSpPr>
        <p:spPr>
          <a:xfrm>
            <a:off x="1251148" y="3631803"/>
            <a:ext cx="321118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Pratinjau &amp; rekap</a:t>
            </a:r>
            <a:endParaRPr lang="en-US" sz="1600" dirty="0"/>
          </a:p>
        </p:txBody>
      </p:sp>
      <p:sp>
        <p:nvSpPr>
          <p:cNvPr id="15" name="Text 13"/>
          <p:cNvSpPr/>
          <p:nvPr/>
        </p:nvSpPr>
        <p:spPr>
          <a:xfrm>
            <a:off x="1251148" y="3900984"/>
            <a:ext cx="321118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Baru, ubah, sama, galat per layer; daftar galat bisa diunduh.</a:t>
            </a:r>
            <a:endParaRPr lang="en-US" sz="1200" dirty="0"/>
          </a:p>
        </p:txBody>
      </p:sp>
      <p:sp>
        <p:nvSpPr>
          <p:cNvPr id="16" name="Shape 14"/>
          <p:cNvSpPr/>
          <p:nvPr/>
        </p:nvSpPr>
        <p:spPr>
          <a:xfrm>
            <a:off x="812800" y="4492724"/>
            <a:ext cx="316309" cy="299641"/>
          </a:xfrm>
          <a:prstGeom prst="roundRect">
            <a:avLst>
              <a:gd name="adj" fmla="val 50000"/>
            </a:avLst>
          </a:prstGeom>
          <a:solidFill>
            <a:srgbClr val="2563EB"/>
          </a:solidFill>
          <a:ln/>
        </p:spPr>
      </p:sp>
      <p:sp>
        <p:nvSpPr>
          <p:cNvPr id="17" name="Text 15"/>
          <p:cNvSpPr/>
          <p:nvPr/>
        </p:nvSpPr>
        <p:spPr>
          <a:xfrm>
            <a:off x="914400" y="4518124"/>
            <a:ext cx="163909"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5F6F2"/>
                </a:solidFill>
                <a:latin typeface="Space Grotesk" pitchFamily="34" charset="0"/>
                <a:ea typeface="Space Grotesk" pitchFamily="34" charset="-122"/>
                <a:cs typeface="Space Grotesk" pitchFamily="34" charset="-120"/>
              </a:rPr>
              <a:t>4</a:t>
            </a:r>
            <a:endParaRPr lang="en-US" sz="1400" dirty="0"/>
          </a:p>
        </p:txBody>
      </p:sp>
      <p:sp>
        <p:nvSpPr>
          <p:cNvPr id="18" name="Text 16"/>
          <p:cNvSpPr/>
          <p:nvPr/>
        </p:nvSpPr>
        <p:spPr>
          <a:xfrm>
            <a:off x="1256109" y="4492724"/>
            <a:ext cx="320607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Terapkan ke paket</a:t>
            </a:r>
            <a:endParaRPr lang="en-US" sz="1600" dirty="0"/>
          </a:p>
        </p:txBody>
      </p:sp>
      <p:sp>
        <p:nvSpPr>
          <p:cNvPr id="19" name="Text 17"/>
          <p:cNvSpPr/>
          <p:nvPr/>
        </p:nvSpPr>
        <p:spPr>
          <a:xfrm>
            <a:off x="1256109" y="4761905"/>
            <a:ext cx="320607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Masuk paket perubahan, lalu melalui persetujuan.</a:t>
            </a:r>
            <a:endParaRPr lang="en-US" sz="1200" dirty="0"/>
          </a:p>
        </p:txBody>
      </p:sp>
      <p:pic>
        <p:nvPicPr>
          <p:cNvPr id="20" name="Image 0" descr="Pratinjau impor GeoJSON dengan rekap per layer dan daftar galat"/>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21" name="Shape 18"/>
          <p:cNvSpPr/>
          <p:nvPr/>
        </p:nvSpPr>
        <p:spPr>
          <a:xfrm>
            <a:off x="4778375" y="1913136"/>
            <a:ext cx="6597650" cy="3708400"/>
          </a:xfrm>
          <a:prstGeom prst="roundRect">
            <a:avLst>
              <a:gd name="adj" fmla="val 2654"/>
            </a:avLst>
          </a:prstGeom>
          <a:noFill/>
          <a:ln w="6350">
            <a:solidFill>
              <a:srgbClr val="D8DDE3"/>
            </a:solidFill>
            <a:prstDash val="solid"/>
          </a:ln>
        </p:spPr>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10 · Ekspor: gis.view · Impor: gis.edit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MASTER DATA · DATA ASET</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Hirarki aset dari GI sampai pelanggan</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Tree &amp; tabel</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GI → trafo GI → penyulang → gardu → trafo → jurusan → pelanggan.</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Otomatis dari topologi</a:t>
            </a:r>
            <a:endParaRPr lang="en-US" sz="1600" dirty="0"/>
          </a:p>
        </p:txBody>
      </p:sp>
      <p:sp>
        <p:nvSpPr>
          <p:cNvPr id="7" name="Text 5"/>
          <p:cNvSpPr/>
          <p:nvPr/>
        </p:nvSpPr>
        <p:spPr>
          <a:xfrm>
            <a:off x="812800" y="3078163"/>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Tidak diisi manual; selalu sesuai data peta.</a:t>
            </a:r>
            <a:endParaRPr lang="en-US" sz="1200" dirty="0"/>
          </a:p>
        </p:txBody>
      </p:sp>
      <p:sp>
        <p:nvSpPr>
          <p:cNvPr id="8" name="Text 6"/>
          <p:cNvSpPr/>
          <p:nvPr/>
        </p:nvSpPr>
        <p:spPr>
          <a:xfrm>
            <a:off x="812800" y="346928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Cari &amp; sorot</a:t>
            </a:r>
            <a:endParaRPr lang="en-US" sz="1600" dirty="0"/>
          </a:p>
        </p:txBody>
      </p:sp>
      <p:sp>
        <p:nvSpPr>
          <p:cNvPr id="9" name="Text 7"/>
          <p:cNvSpPr/>
          <p:nvPr/>
        </p:nvSpPr>
        <p:spPr>
          <a:xfrm>
            <a:off x="812800" y="3751163"/>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Pohon terbuka sampai objek yang dicari.</a:t>
            </a:r>
            <a:endParaRPr lang="en-US" sz="1200" dirty="0"/>
          </a:p>
        </p:txBody>
      </p:sp>
      <p:sp>
        <p:nvSpPr>
          <p:cNvPr id="10" name="Text 8"/>
          <p:cNvSpPr/>
          <p:nvPr/>
        </p:nvSpPr>
        <p:spPr>
          <a:xfrm>
            <a:off x="812800" y="414228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Filter &amp; ekspor</a:t>
            </a:r>
            <a:endParaRPr lang="en-US" sz="1600" dirty="0"/>
          </a:p>
        </p:txBody>
      </p:sp>
      <p:sp>
        <p:nvSpPr>
          <p:cNvPr id="11" name="Text 9"/>
          <p:cNvSpPr/>
          <p:nvPr/>
        </p:nvSpPr>
        <p:spPr>
          <a:xfrm>
            <a:off x="812800" y="4424164"/>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Tingkat, cakupan, status, unit pemilik; unduh CSV.</a:t>
            </a:r>
            <a:endParaRPr lang="en-US" sz="1200" dirty="0"/>
          </a:p>
        </p:txBody>
      </p:sp>
      <p:pic>
        <p:nvPicPr>
          <p:cNvPr id="12" name="Image 0" descr="Pohon hirarki aset GI sampai pelanggan dengan panel rincian"/>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11 · Hak akses: master.view</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MASTER DATA · UNIT</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Unit pemilik dan pengelola aset</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Jenjang organisasi</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PUSAT → REGION → UID/UP2B → UP3/UP2D → ULP.</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Profil unit</a:t>
            </a:r>
            <a:endParaRPr lang="en-US" sz="1600" dirty="0"/>
          </a:p>
        </p:txBody>
      </p:sp>
      <p:sp>
        <p:nvSpPr>
          <p:cNvPr id="7" name="Text 5"/>
          <p:cNvSpPr/>
          <p:nvPr/>
        </p:nvSpPr>
        <p:spPr>
          <a:xfrm>
            <a:off x="812800" y="3078163"/>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Alamat, koordinat, kontak, dan wilayah kerja.</a:t>
            </a:r>
            <a:endParaRPr lang="en-US" sz="1200" dirty="0"/>
          </a:p>
        </p:txBody>
      </p:sp>
      <p:sp>
        <p:nvSpPr>
          <p:cNvPr id="8" name="Text 6"/>
          <p:cNvSpPr/>
          <p:nvPr/>
        </p:nvSpPr>
        <p:spPr>
          <a:xfrm>
            <a:off x="812800" y="346928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Kepemilikan otomatis</a:t>
            </a:r>
            <a:endParaRPr lang="en-US" sz="1600" dirty="0"/>
          </a:p>
        </p:txBody>
      </p:sp>
      <p:sp>
        <p:nvSpPr>
          <p:cNvPr id="9" name="Text 7"/>
          <p:cNvSpPr/>
          <p:nvPr/>
        </p:nvSpPr>
        <p:spPr>
          <a:xfrm>
            <a:off x="812800" y="3751163"/>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Aset diberi unit dari lokasinya (ULP/UP3 terdekat).</a:t>
            </a:r>
            <a:endParaRPr lang="en-US" sz="1200" dirty="0"/>
          </a:p>
        </p:txBody>
      </p:sp>
      <p:sp>
        <p:nvSpPr>
          <p:cNvPr id="10" name="Text 8"/>
          <p:cNvSpPr/>
          <p:nvPr/>
        </p:nvSpPr>
        <p:spPr>
          <a:xfrm>
            <a:off x="812800" y="414228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Dasar analisa</a:t>
            </a:r>
            <a:endParaRPr lang="en-US" sz="1600" dirty="0"/>
          </a:p>
        </p:txBody>
      </p:sp>
      <p:sp>
        <p:nvSpPr>
          <p:cNvPr id="11" name="Text 9"/>
          <p:cNvSpPr/>
          <p:nvPr/>
        </p:nvSpPr>
        <p:spPr>
          <a:xfrm>
            <a:off x="812800" y="4424164"/>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Beban, susut, dan filter data aset per unit.</a:t>
            </a:r>
            <a:endParaRPr lang="en-US" sz="1200" dirty="0"/>
          </a:p>
        </p:txBody>
      </p:sp>
      <p:pic>
        <p:nvPicPr>
          <p:cNvPr id="12" name="Image 0" descr="Master Data Unit dengan jenjang unit dan jumlah aset"/>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12 · Hak akses: master.manage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PUSAT OPERASI</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Kondisi jaringan terlihat seketika</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Rekap berlapis</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GI, trafo GI, penyulang, zona, gardu, trafo, pelanggan, beban.</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Daftar per level</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Tab GI, penyulang, gardu, dan pelanggan dengan pencarian.</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Peta nyala/padam</a:t>
            </a:r>
            <a:endParaRPr lang="en-US" sz="1600" dirty="0"/>
          </a:p>
        </p:txBody>
      </p:sp>
      <p:sp>
        <p:nvSpPr>
          <p:cNvPr id="9" name="Text 7"/>
          <p:cNvSpPr/>
          <p:nvPr/>
        </p:nvSpPr>
        <p:spPr>
          <a:xfrm>
            <a:off x="812800" y="3964484"/>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Filter status, trace hulu/hilir, ukur panjang dan luas.</a:t>
            </a:r>
            <a:endParaRPr lang="en-US" sz="1200" dirty="0"/>
          </a:p>
        </p:txBody>
      </p:sp>
      <p:sp>
        <p:nvSpPr>
          <p:cNvPr id="10" name="Text 8"/>
          <p:cNvSpPr/>
          <p:nvPr/>
        </p:nvSpPr>
        <p:spPr>
          <a:xfrm>
            <a:off x="812800" y="435560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Realtime</a:t>
            </a:r>
            <a:endParaRPr lang="en-US" sz="1600" dirty="0"/>
          </a:p>
        </p:txBody>
      </p:sp>
      <p:sp>
        <p:nvSpPr>
          <p:cNvPr id="11" name="Text 9"/>
          <p:cNvSpPr/>
          <p:nvPr/>
        </p:nvSpPr>
        <p:spPr>
          <a:xfrm>
            <a:off x="812800" y="4637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Perubahan pengguna lain tampil tanpa memuat ulang.</a:t>
            </a:r>
            <a:endParaRPr lang="en-US" sz="1200" dirty="0"/>
          </a:p>
        </p:txBody>
      </p:sp>
      <p:pic>
        <p:nvPicPr>
          <p:cNvPr id="12" name="Image 0" descr="Pusat Operasi dengan pita rekap, indeks keandalan, dan peta nyala padam"/>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OPERASI JARINGAN</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Manuver aman, sesuai hak akses</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Satu pintu operasi</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Buka/tutup dan energize hanya dari Pusat Operasi dan SLD.</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Kategori wajib</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Gangguan, pemeliharaan, MLS, manuver, bencana alam.</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Izin per peran</a:t>
            </a:r>
            <a:endParaRPr lang="en-US" sz="1600" dirty="0"/>
          </a:p>
        </p:txBody>
      </p:sp>
      <p:sp>
        <p:nvSpPr>
          <p:cNvPr id="9" name="Text 7"/>
          <p:cNvSpPr/>
          <p:nvPr/>
        </p:nvSpPr>
        <p:spPr>
          <a:xfrm>
            <a:off x="812800" y="3964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Switch dan energize dibedakan TM dan TR, dicek di server.</a:t>
            </a:r>
            <a:endParaRPr lang="en-US" sz="1200" dirty="0"/>
          </a:p>
        </p:txBody>
      </p:sp>
      <p:sp>
        <p:nvSpPr>
          <p:cNvPr id="10" name="Text 8"/>
          <p:cNvSpPr/>
          <p:nvPr/>
        </p:nvSpPr>
        <p:spPr>
          <a:xfrm>
            <a:off x="812800" y="456892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Identitas operator</a:t>
            </a:r>
            <a:endParaRPr lang="en-US" sz="1600" dirty="0"/>
          </a:p>
        </p:txBody>
      </p:sp>
      <p:sp>
        <p:nvSpPr>
          <p:cNvPr id="11" name="Text 9"/>
          <p:cNvSpPr/>
          <p:nvPr/>
        </p:nvSpPr>
        <p:spPr>
          <a:xfrm>
            <a:off x="812800" y="4850805"/>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Nama, peran, kanal (web, ponsel, SLD), dan alamat IP.</a:t>
            </a:r>
            <a:endParaRPr lang="en-US" sz="1200" dirty="0"/>
          </a:p>
        </p:txBody>
      </p:sp>
      <p:pic>
        <p:nvPicPr>
          <p:cNvPr id="12" name="Image 0" descr="Popup objek di Pusat Operasi dengan rekap hilir dan kotak operasi"/>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PENANGANAN GANGGUAN</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Dari isolasi gangguan sampai pemulihan</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FLISR</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Isolasi seksi gangguan, pulihkan hulu dan hilir lewat tie.</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Rencana manuver</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Simulasi dampak, persetujuan, lalu eksekusi bertahap.</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Laporan gangguan</a:t>
            </a:r>
            <a:endParaRPr lang="en-US" sz="1600" dirty="0"/>
          </a:p>
        </p:txBody>
      </p:sp>
      <p:sp>
        <p:nvSpPr>
          <p:cNvPr id="9" name="Text 7"/>
          <p:cNvSpPr/>
          <p:nvPr/>
        </p:nvSpPr>
        <p:spPr>
          <a:xfrm>
            <a:off x="812800" y="3964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Dari pelanggan, petugas lapangan, atau operator; pantau SLA.</a:t>
            </a:r>
            <a:endParaRPr lang="en-US" sz="1200" dirty="0"/>
          </a:p>
        </p:txBody>
      </p:sp>
      <p:sp>
        <p:nvSpPr>
          <p:cNvPr id="10" name="Text 8"/>
          <p:cNvSpPr/>
          <p:nvPr/>
        </p:nvSpPr>
        <p:spPr>
          <a:xfrm>
            <a:off x="812800" y="456892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AI operasi</a:t>
            </a:r>
            <a:endParaRPr lang="en-US" sz="1600" dirty="0"/>
          </a:p>
        </p:txBody>
      </p:sp>
      <p:sp>
        <p:nvSpPr>
          <p:cNvPr id="11" name="Text 9"/>
          <p:cNvSpPr/>
          <p:nvPr/>
        </p:nvSpPr>
        <p:spPr>
          <a:xfrm>
            <a:off x="812800" y="4850805"/>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Ringkasan gangguan, laporan shift, dan saran pemulihan.</a:t>
            </a:r>
            <a:endParaRPr lang="en-US" sz="1200" dirty="0"/>
          </a:p>
        </p:txBody>
      </p:sp>
      <p:pic>
        <p:nvPicPr>
          <p:cNvPr id="12" name="Image 0" descr="Tab FLISR di Pusat Operasi dengan langkah isolasi dan pemulihan"/>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15 · Hak akses: power.plan · report.manage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SEQUENCE OF EVENTS</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Setiap kejadian tercatat sampai milidetik</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Kronologis realtime</a:t>
            </a:r>
            <a:endParaRPr lang="en-US" sz="1600" dirty="0"/>
          </a:p>
        </p:txBody>
      </p:sp>
      <p:sp>
        <p:nvSpPr>
          <p:cNvPr id="5" name="Text 3"/>
          <p:cNvSpPr/>
          <p:nvPr/>
        </p:nvSpPr>
        <p:spPr>
          <a:xfrm>
            <a:off x="812800" y="2191841"/>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Buka/tutup, pemutusan, padam mulai dan selesai.</a:t>
            </a:r>
            <a:endParaRPr lang="en-US" sz="1200" dirty="0"/>
          </a:p>
        </p:txBody>
      </p:sp>
      <p:sp>
        <p:nvSpPr>
          <p:cNvPr id="6" name="Text 4"/>
          <p:cNvSpPr/>
          <p:nvPr/>
        </p:nvSpPr>
        <p:spPr>
          <a:xfrm>
            <a:off x="812800" y="258296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Tingkat keparahan</a:t>
            </a:r>
            <a:endParaRPr lang="en-US" sz="1600" dirty="0"/>
          </a:p>
        </p:txBody>
      </p:sp>
      <p:sp>
        <p:nvSpPr>
          <p:cNvPr id="7" name="Text 5"/>
          <p:cNvSpPr/>
          <p:nvPr/>
        </p:nvSpPr>
        <p:spPr>
          <a:xfrm>
            <a:off x="812800" y="2864842"/>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Normal, peringatan, serius, kritis, dengan ikon dan teks.</a:t>
            </a:r>
            <a:endParaRPr lang="en-US" sz="1200" dirty="0"/>
          </a:p>
        </p:txBody>
      </p:sp>
      <p:sp>
        <p:nvSpPr>
          <p:cNvPr id="8" name="Text 6"/>
          <p:cNvSpPr/>
          <p:nvPr/>
        </p:nvSpPr>
        <p:spPr>
          <a:xfrm>
            <a:off x="812800" y="346928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Identitas operator</a:t>
            </a:r>
            <a:endParaRPr lang="en-US" sz="1600" dirty="0"/>
          </a:p>
        </p:txBody>
      </p:sp>
      <p:sp>
        <p:nvSpPr>
          <p:cNvPr id="9" name="Text 7"/>
          <p:cNvSpPr/>
          <p:nvPr/>
        </p:nvSpPr>
        <p:spPr>
          <a:xfrm>
            <a:off x="812800" y="3751163"/>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Nama, username, peran, kanal, dan alamat IP.</a:t>
            </a:r>
            <a:endParaRPr lang="en-US" sz="1200" dirty="0"/>
          </a:p>
        </p:txBody>
      </p:sp>
      <p:sp>
        <p:nvSpPr>
          <p:cNvPr id="10" name="Text 8"/>
          <p:cNvSpPr/>
          <p:nvPr/>
        </p:nvSpPr>
        <p:spPr>
          <a:xfrm>
            <a:off x="812800" y="414228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Siap audit</a:t>
            </a:r>
            <a:endParaRPr lang="en-US" sz="1600" dirty="0"/>
          </a:p>
        </p:txBody>
      </p:sp>
      <p:sp>
        <p:nvSpPr>
          <p:cNvPr id="11" name="Text 9"/>
          <p:cNvSpPr/>
          <p:nvPr/>
        </p:nvSpPr>
        <p:spPr>
          <a:xfrm>
            <a:off x="812800" y="4424164"/>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Filter per operator, alarm suara, ekspor CSV.</a:t>
            </a:r>
            <a:endParaRPr lang="en-US" sz="1200" dirty="0"/>
          </a:p>
        </p:txBody>
      </p:sp>
      <p:pic>
        <p:nvPicPr>
          <p:cNvPr id="12" name="Image 0" descr="Tab SOE dengan daftar event berwarna menurut keparahan dan kolom operator"/>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KEANDALAN</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SAIDI, SAIFI, ENS langsung dari operasi</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SAIDI</a:t>
            </a:r>
            <a:endParaRPr lang="en-US" sz="1600" dirty="0"/>
          </a:p>
        </p:txBody>
      </p:sp>
      <p:sp>
        <p:nvSpPr>
          <p:cNvPr id="5" name="Text 3"/>
          <p:cNvSpPr/>
          <p:nvPr/>
        </p:nvSpPr>
        <p:spPr>
          <a:xfrm>
            <a:off x="812800" y="2191841"/>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Σ(pelanggan padam × menit) ÷ pelanggan dilayani.</a:t>
            </a:r>
            <a:endParaRPr lang="en-US" sz="1200" dirty="0"/>
          </a:p>
        </p:txBody>
      </p:sp>
      <p:sp>
        <p:nvSpPr>
          <p:cNvPr id="6" name="Text 4"/>
          <p:cNvSpPr/>
          <p:nvPr/>
        </p:nvSpPr>
        <p:spPr>
          <a:xfrm>
            <a:off x="812800" y="258296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SAIFI</a:t>
            </a:r>
            <a:endParaRPr lang="en-US" sz="1600" dirty="0"/>
          </a:p>
        </p:txBody>
      </p:sp>
      <p:sp>
        <p:nvSpPr>
          <p:cNvPr id="7" name="Text 5"/>
          <p:cNvSpPr/>
          <p:nvPr/>
        </p:nvSpPr>
        <p:spPr>
          <a:xfrm>
            <a:off x="812800" y="2864842"/>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Σ pelanggan padam ÷ pelanggan dilayani.</a:t>
            </a:r>
            <a:endParaRPr lang="en-US" sz="1200" dirty="0"/>
          </a:p>
        </p:txBody>
      </p:sp>
      <p:sp>
        <p:nvSpPr>
          <p:cNvPr id="8" name="Text 6"/>
          <p:cNvSpPr/>
          <p:nvPr/>
        </p:nvSpPr>
        <p:spPr>
          <a:xfrm>
            <a:off x="812800" y="325596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ENS kWh &amp; Rupiah</a:t>
            </a:r>
            <a:endParaRPr lang="en-US" sz="1600" dirty="0"/>
          </a:p>
        </p:txBody>
      </p:sp>
      <p:sp>
        <p:nvSpPr>
          <p:cNvPr id="9" name="Text 7"/>
          <p:cNvSpPr/>
          <p:nvPr/>
        </p:nvSpPr>
        <p:spPr>
          <a:xfrm>
            <a:off x="812800" y="3537843"/>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Daya padam × faktor beban × cos φ × durasi × tarif.</a:t>
            </a:r>
            <a:endParaRPr lang="en-US" sz="1200" dirty="0"/>
          </a:p>
        </p:txBody>
      </p:sp>
      <p:sp>
        <p:nvSpPr>
          <p:cNvPr id="10" name="Text 8"/>
          <p:cNvSpPr/>
          <p:nvPr/>
        </p:nvSpPr>
        <p:spPr>
          <a:xfrm>
            <a:off x="812800" y="392896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Per wilayah</a:t>
            </a:r>
            <a:endParaRPr lang="en-US" sz="1600" dirty="0"/>
          </a:p>
        </p:txBody>
      </p:sp>
      <p:sp>
        <p:nvSpPr>
          <p:cNvPr id="11" name="Text 9"/>
          <p:cNvSpPr/>
          <p:nvPr/>
        </p:nvSpPr>
        <p:spPr>
          <a:xfrm>
            <a:off x="812800" y="4210844"/>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Peringkat UP3 dan ULP di peta Keandalan Wilayah.</a:t>
            </a:r>
            <a:endParaRPr lang="en-US" sz="1200" dirty="0"/>
          </a:p>
        </p:txBody>
      </p:sp>
      <p:pic>
        <p:nvPicPr>
          <p:cNvPr id="12" name="Image 0" descr="Keandalan Wilayah: peta UP3 menurut SAIDI dan tabel peringkat"/>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DASBOR EKSEKUTIF</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Kinerja jaringan untuk manajemen</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KPI vs target</a:t>
            </a:r>
            <a:endParaRPr lang="en-US" sz="1600" dirty="0"/>
          </a:p>
        </p:txBody>
      </p:sp>
      <p:sp>
        <p:nvSpPr>
          <p:cNvPr id="5" name="Text 3"/>
          <p:cNvSpPr/>
          <p:nvPr/>
        </p:nvSpPr>
        <p:spPr>
          <a:xfrm>
            <a:off x="812800" y="2191841"/>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SAIDI, SAIFI, ENS, kejadian, dan SLA laporan.</a:t>
            </a:r>
            <a:endParaRPr lang="en-US" sz="1200" dirty="0"/>
          </a:p>
        </p:txBody>
      </p:sp>
      <p:sp>
        <p:nvSpPr>
          <p:cNvPr id="6" name="Text 4"/>
          <p:cNvSpPr/>
          <p:nvPr/>
        </p:nvSpPr>
        <p:spPr>
          <a:xfrm>
            <a:off x="812800" y="258296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Tren &amp; peringkat</a:t>
            </a:r>
            <a:endParaRPr lang="en-US" sz="1600" dirty="0"/>
          </a:p>
        </p:txBody>
      </p:sp>
      <p:sp>
        <p:nvSpPr>
          <p:cNvPr id="7" name="Text 5"/>
          <p:cNvSpPr/>
          <p:nvPr/>
        </p:nvSpPr>
        <p:spPr>
          <a:xfrm>
            <a:off x="812800" y="2864842"/>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Tren SAIDI 12 bulan, ULP dengan SAIDI tertinggi.</a:t>
            </a:r>
            <a:endParaRPr lang="en-US" sz="1200" dirty="0"/>
          </a:p>
        </p:txBody>
      </p:sp>
      <p:sp>
        <p:nvSpPr>
          <p:cNvPr id="8" name="Text 6"/>
          <p:cNvSpPr/>
          <p:nvPr/>
        </p:nvSpPr>
        <p:spPr>
          <a:xfrm>
            <a:off x="812800" y="325596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Laporan berkala</a:t>
            </a:r>
            <a:endParaRPr lang="en-US" sz="1600" dirty="0"/>
          </a:p>
        </p:txBody>
      </p:sp>
      <p:sp>
        <p:nvSpPr>
          <p:cNvPr id="9" name="Text 7"/>
          <p:cNvSpPr/>
          <p:nvPr/>
        </p:nvSpPr>
        <p:spPr>
          <a:xfrm>
            <a:off x="812800" y="3537843"/>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Harian sampai tahunan, otomatis; cetak PDF.</a:t>
            </a:r>
            <a:endParaRPr lang="en-US" sz="1200" dirty="0"/>
          </a:p>
        </p:txBody>
      </p:sp>
      <p:sp>
        <p:nvSpPr>
          <p:cNvPr id="10" name="Text 8"/>
          <p:cNvSpPr/>
          <p:nvPr/>
        </p:nvSpPr>
        <p:spPr>
          <a:xfrm>
            <a:off x="812800" y="392896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Ringkasan AI</a:t>
            </a:r>
            <a:endParaRPr lang="en-US" sz="1600" dirty="0"/>
          </a:p>
        </p:txBody>
      </p:sp>
      <p:sp>
        <p:nvSpPr>
          <p:cNvPr id="11" name="Text 9"/>
          <p:cNvSpPr/>
          <p:nvPr/>
        </p:nvSpPr>
        <p:spPr>
          <a:xfrm>
            <a:off x="812800" y="4210844"/>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Narasi laporan disusun AI dan dapat disunting.</a:t>
            </a:r>
            <a:endParaRPr lang="en-US" sz="1200" dirty="0"/>
          </a:p>
        </p:txBody>
      </p:sp>
      <p:pic>
        <p:nvPicPr>
          <p:cNvPr id="12" name="Image 0" descr="Dasbor Eksekutif dengan KPI periode, tren SAIDI, dan peringkat ULP"/>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18 · Hak akses: exec.view</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ANALISIS · BEBAN &amp; ENERGI</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Load profile SCADA/AMR setiap 30 menit</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Besaran lengkap</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Arus dan tegangan per fasa, P/Q/S, pf, frekuensi, kWh/kvarh.</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Pembebanan MW</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Trafo GI, penyulang, dan gardu terhadap daya mampu.</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Harian–tahunan</a:t>
            </a:r>
            <a:endParaRPr lang="en-US" sz="1600" dirty="0"/>
          </a:p>
        </p:txBody>
      </p:sp>
      <p:sp>
        <p:nvSpPr>
          <p:cNvPr id="9" name="Text 7"/>
          <p:cNvSpPr/>
          <p:nvPr/>
        </p:nvSpPr>
        <p:spPr>
          <a:xfrm>
            <a:off x="812800" y="3964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Kurva beban, peta panas, kurva lama beban, prakiraan.</a:t>
            </a:r>
            <a:endParaRPr lang="en-US" sz="1200" dirty="0"/>
          </a:p>
        </p:txBody>
      </p:sp>
      <p:sp>
        <p:nvSpPr>
          <p:cNvPr id="10" name="Text 8"/>
          <p:cNvSpPr/>
          <p:nvPr/>
        </p:nvSpPr>
        <p:spPr>
          <a:xfrm>
            <a:off x="812800" y="456892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Anomali &amp; laporan</a:t>
            </a:r>
            <a:endParaRPr lang="en-US" sz="1600" dirty="0"/>
          </a:p>
        </p:txBody>
      </p:sp>
      <p:sp>
        <p:nvSpPr>
          <p:cNvPr id="11" name="Text 9"/>
          <p:cNvSpPr/>
          <p:nvPr/>
        </p:nvSpPr>
        <p:spPr>
          <a:xfrm>
            <a:off x="812800" y="4850805"/>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Data hilang atau macet, beban lebih; laporan otomatis.</a:t>
            </a:r>
            <a:endParaRPr lang="en-US" sz="1200" dirty="0"/>
          </a:p>
        </p:txBody>
      </p:sp>
      <p:pic>
        <p:nvPicPr>
          <p:cNvPr id="12" name="Image 0" descr="Ringkasan Analisa Beban dan Energi dengan titik ukur dan pembebanan tertinggi"/>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19 · Hak akses: load.view</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ANALISIS · SUSUT ENERGI</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Neraca energi dari GI sampai gardu</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Rantai energi</a:t>
            </a:r>
            <a:endParaRPr lang="en-US" sz="1600" dirty="0"/>
          </a:p>
        </p:txBody>
      </p:sp>
      <p:sp>
        <p:nvSpPr>
          <p:cNvPr id="5" name="Text 3"/>
          <p:cNvSpPr/>
          <p:nvPr/>
        </p:nvSpPr>
        <p:spPr>
          <a:xfrm>
            <a:off x="812800" y="2191841"/>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Trafo GI → Σ penyulang → Σ gardu, setiap hari.</a:t>
            </a:r>
            <a:endParaRPr lang="en-US" sz="1200" dirty="0"/>
          </a:p>
        </p:txBody>
      </p:sp>
      <p:sp>
        <p:nvSpPr>
          <p:cNvPr id="6" name="Text 4"/>
          <p:cNvSpPr/>
          <p:nvPr/>
        </p:nvSpPr>
        <p:spPr>
          <a:xfrm>
            <a:off x="812800" y="258296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Susut distribusi</a:t>
            </a:r>
            <a:endParaRPr lang="en-US" sz="1600" dirty="0"/>
          </a:p>
        </p:txBody>
      </p:sp>
      <p:sp>
        <p:nvSpPr>
          <p:cNvPr id="7" name="Text 5"/>
          <p:cNvSpPr/>
          <p:nvPr/>
        </p:nvSpPr>
        <p:spPr>
          <a:xfrm>
            <a:off x="812800" y="2864842"/>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Selisih energi penyulang dan gardu (JTM + trafo).</a:t>
            </a:r>
            <a:endParaRPr lang="en-US" sz="1200" dirty="0"/>
          </a:p>
        </p:txBody>
      </p:sp>
      <p:sp>
        <p:nvSpPr>
          <p:cNvPr id="8" name="Text 6"/>
          <p:cNvSpPr/>
          <p:nvPr/>
        </p:nvSpPr>
        <p:spPr>
          <a:xfrm>
            <a:off x="812800" y="325596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Per wilayah &amp; aset</a:t>
            </a:r>
            <a:endParaRPr lang="en-US" sz="1600" dirty="0"/>
          </a:p>
        </p:txBody>
      </p:sp>
      <p:sp>
        <p:nvSpPr>
          <p:cNvPr id="9" name="Text 7"/>
          <p:cNvSpPr/>
          <p:nvPr/>
        </p:nvSpPr>
        <p:spPr>
          <a:xfrm>
            <a:off x="812800" y="3537843"/>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Sistem, UID, UP3, GI, trafo GI, penyulang.</a:t>
            </a:r>
            <a:endParaRPr lang="en-US" sz="1200" dirty="0"/>
          </a:p>
        </p:txBody>
      </p:sp>
      <p:sp>
        <p:nvSpPr>
          <p:cNvPr id="10" name="Text 8"/>
          <p:cNvSpPr/>
          <p:nvPr/>
        </p:nvSpPr>
        <p:spPr>
          <a:xfrm>
            <a:off x="812800" y="392896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Dekomposisi</a:t>
            </a:r>
            <a:endParaRPr lang="en-US" sz="1600" dirty="0"/>
          </a:p>
        </p:txBody>
      </p:sp>
      <p:sp>
        <p:nvSpPr>
          <p:cNvPr id="11" name="Text 9"/>
          <p:cNvSpPr/>
          <p:nvPr/>
        </p:nvSpPr>
        <p:spPr>
          <a:xfrm>
            <a:off x="812800" y="4210844"/>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Susut tetap, sebanding beban, dan kuadrat beban.</a:t>
            </a:r>
            <a:endParaRPr lang="en-US" sz="1200" dirty="0"/>
          </a:p>
        </p:txBody>
      </p:sp>
      <p:pic>
        <p:nvPicPr>
          <p:cNvPr id="12" name="Image 0" descr="Halaman Susut Energi dengan neraca energi dan tabel penyulang"/>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20 · Hak akses: load.view</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ANALISIS · SINGLE LINE DIAGRAM</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SLD dari GIS, tanpa menggambar ulang</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Lima cakupan</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Penyulang, GI, gardu distribusi, objek, atau area poligon.</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Empat tingkat detail</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Hanya TM sampai pelanggan; seksi disederhanakan otomatis.</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Manuver dari diagram</a:t>
            </a:r>
            <a:endParaRPr lang="en-US" sz="1600" dirty="0"/>
          </a:p>
        </p:txBody>
      </p:sp>
      <p:sp>
        <p:nvSpPr>
          <p:cNvPr id="9" name="Text 7"/>
          <p:cNvSpPr/>
          <p:nvPr/>
        </p:nvSpPr>
        <p:spPr>
          <a:xfrm>
            <a:off x="812800" y="3964484"/>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Warna berubah realtime, sinkron dengan peta.</a:t>
            </a:r>
            <a:endParaRPr lang="en-US" sz="1200" dirty="0"/>
          </a:p>
        </p:txBody>
      </p:sp>
      <p:sp>
        <p:nvSpPr>
          <p:cNvPr id="10" name="Text 8"/>
          <p:cNvSpPr/>
          <p:nvPr/>
        </p:nvSpPr>
        <p:spPr>
          <a:xfrm>
            <a:off x="812800" y="435560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Siap cetak</a:t>
            </a:r>
            <a:endParaRPr lang="en-US" sz="1600" dirty="0"/>
          </a:p>
        </p:txBody>
      </p:sp>
      <p:sp>
        <p:nvSpPr>
          <p:cNvPr id="11" name="Text 9"/>
          <p:cNvSpPr/>
          <p:nvPr/>
        </p:nvSpPr>
        <p:spPr>
          <a:xfrm>
            <a:off x="812800" y="4637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SVG, PNG, PDF A3 berkop; posisi manual tersimpan.</a:t>
            </a:r>
            <a:endParaRPr lang="en-US" sz="1200" dirty="0"/>
          </a:p>
        </p:txBody>
      </p:sp>
      <p:pic>
        <p:nvPicPr>
          <p:cNvPr id="12" name="Image 0" descr="Single Line Diagram penyulang dengan simbol IEC dan penanda kelanjutan"/>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ANALISIS · ALIRAN DAYA</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Tegangan dan pembebanan per penyulang</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Backward/forward sweep</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Tegangan tiap node (pu), arus, dan susut per penyulang.</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Skenario beban</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Faktor beban, cos φ, dan tegangan kirim dapat diubah.</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Penghantar &amp; trafo</a:t>
            </a:r>
            <a:endParaRPr lang="en-US" sz="1600" dirty="0"/>
          </a:p>
        </p:txBody>
      </p:sp>
      <p:sp>
        <p:nvSpPr>
          <p:cNvPr id="9" name="Text 7"/>
          <p:cNvSpPr/>
          <p:nvPr/>
        </p:nvSpPr>
        <p:spPr>
          <a:xfrm>
            <a:off x="812800" y="3964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Peringkat penyulang kritis dan saluran paling terbebani.</a:t>
            </a:r>
            <a:endParaRPr lang="en-US" sz="1200" dirty="0"/>
          </a:p>
        </p:txBody>
      </p:sp>
      <p:sp>
        <p:nvSpPr>
          <p:cNvPr id="10" name="Text 8"/>
          <p:cNvSpPr/>
          <p:nvPr/>
        </p:nvSpPr>
        <p:spPr>
          <a:xfrm>
            <a:off x="812800" y="456892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Kalibrasi SCADA</a:t>
            </a:r>
            <a:endParaRPr lang="en-US" sz="1600" dirty="0"/>
          </a:p>
        </p:txBody>
      </p:sp>
      <p:sp>
        <p:nvSpPr>
          <p:cNvPr id="11" name="Text 9"/>
          <p:cNvSpPr/>
          <p:nvPr/>
        </p:nvSpPr>
        <p:spPr>
          <a:xfrm>
            <a:off x="812800" y="4850805"/>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Beban simulasi disesuaikan dengan data terukur.</a:t>
            </a:r>
            <a:endParaRPr lang="en-US" sz="1200" dirty="0"/>
          </a:p>
        </p:txBody>
      </p:sp>
      <p:pic>
        <p:nvPicPr>
          <p:cNvPr id="12" name="Image 0" descr="Halaman Aliran Daya dengan skenario beban dan peta penyulang"/>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25822"/>
          </a:xfrm>
          <a:prstGeom prst="rect">
            <a:avLst/>
          </a:prstGeom>
          <a:noFill/>
          <a:ln/>
        </p:spPr>
        <p:txBody>
          <a:bodyPr wrap="square" lIns="0" tIns="0" rIns="0" bIns="0" rtlCol="0" anchor="t">
            <a:normAutofit/>
          </a:bodyPr>
          <a:lstStyle/>
          <a:p>
            <a:pPr marL="0" indent="0" algn="l">
              <a:lnSpc>
                <a:spcPts val="1622"/>
              </a:lnSpc>
              <a:buNone/>
            </a:pPr>
            <a:r>
              <a:rPr lang="en-US" sz="1159" b="1" kern="0" spc="150" dirty="0">
                <a:solidFill>
                  <a:srgbClr val="2563EB"/>
                </a:solidFill>
                <a:latin typeface="IBM Plex Sans" pitchFamily="34" charset="0"/>
                <a:ea typeface="IBM Plex Sans" pitchFamily="34" charset="-122"/>
                <a:cs typeface="IBM Plex Sans" pitchFamily="34" charset="-120"/>
              </a:rPr>
              <a:t>ANALISIS · WILAYAH &amp; PELANGGAN</a:t>
            </a:r>
            <a:endParaRPr lang="en-US" sz="1159" dirty="0"/>
          </a:p>
        </p:txBody>
      </p:sp>
      <p:sp>
        <p:nvSpPr>
          <p:cNvPr id="3" name="Text 1"/>
          <p:cNvSpPr/>
          <p:nvPr/>
        </p:nvSpPr>
        <p:spPr>
          <a:xfrm>
            <a:off x="812800" y="1089422"/>
            <a:ext cx="10883392" cy="970161"/>
          </a:xfrm>
          <a:prstGeom prst="rect">
            <a:avLst/>
          </a:prstGeom>
          <a:noFill/>
          <a:ln/>
        </p:spPr>
        <p:txBody>
          <a:bodyPr wrap="square" lIns="0" tIns="0" rIns="0" bIns="0" rtlCol="0" anchor="t">
            <a:normAutofit/>
          </a:bodyPr>
          <a:lstStyle/>
          <a:p>
            <a:pPr marL="0" indent="0" algn="l">
              <a:lnSpc>
                <a:spcPts val="3824"/>
              </a:lnSpc>
              <a:buNone/>
            </a:pPr>
            <a:r>
              <a:rPr lang="en-US" sz="3476" b="1" dirty="0">
                <a:solidFill>
                  <a:srgbClr val="0E1A2B"/>
                </a:solidFill>
                <a:latin typeface="Space Grotesk" pitchFamily="34" charset="0"/>
                <a:ea typeface="Space Grotesk" pitchFamily="34" charset="-122"/>
                <a:cs typeface="Space Grotesk" pitchFamily="34" charset="-120"/>
              </a:rPr>
              <a:t>Wilayah kerja dan pelanggan dalam satu tampilan</a:t>
            </a:r>
            <a:endParaRPr lang="en-US" sz="3476" dirty="0"/>
          </a:p>
        </p:txBody>
      </p:sp>
      <p:sp>
        <p:nvSpPr>
          <p:cNvPr id="4" name="Text 2"/>
          <p:cNvSpPr/>
          <p:nvPr/>
        </p:nvSpPr>
        <p:spPr>
          <a:xfrm>
            <a:off x="812800" y="233898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Batas UP3 &amp; ULP</a:t>
            </a:r>
            <a:endParaRPr lang="en-US" sz="1600" dirty="0"/>
          </a:p>
        </p:txBody>
      </p:sp>
      <p:sp>
        <p:nvSpPr>
          <p:cNvPr id="5" name="Text 3"/>
          <p:cNvSpPr/>
          <p:nvPr/>
        </p:nvSpPr>
        <p:spPr>
          <a:xfrm>
            <a:off x="812800" y="26208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Dari shapefile; warna berbeda, transparansi per pengguna.</a:t>
            </a:r>
            <a:endParaRPr lang="en-US" sz="1200" dirty="0"/>
          </a:p>
        </p:txBody>
      </p:sp>
      <p:sp>
        <p:nvSpPr>
          <p:cNvPr id="6" name="Text 4"/>
          <p:cNvSpPr/>
          <p:nvPr/>
        </p:nvSpPr>
        <p:spPr>
          <a:xfrm>
            <a:off x="812800" y="322530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Daftar pelanggan</a:t>
            </a:r>
            <a:endParaRPr lang="en-US" sz="1600" dirty="0"/>
          </a:p>
        </p:txBody>
      </p:sp>
      <p:sp>
        <p:nvSpPr>
          <p:cNvPr id="7" name="Text 5"/>
          <p:cNvSpPr/>
          <p:nvPr/>
        </p:nvSpPr>
        <p:spPr>
          <a:xfrm>
            <a:off x="812800" y="3507184"/>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Nyala/padam, cari kode, nama, atau kode SSOT.</a:t>
            </a:r>
            <a:endParaRPr lang="en-US" sz="1200" dirty="0"/>
          </a:p>
        </p:txBody>
      </p:sp>
      <p:sp>
        <p:nvSpPr>
          <p:cNvPr id="8" name="Text 6"/>
          <p:cNvSpPr/>
          <p:nvPr/>
        </p:nvSpPr>
        <p:spPr>
          <a:xfrm>
            <a:off x="812800" y="3898305"/>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Padam per pelanggan</a:t>
            </a:r>
            <a:endParaRPr lang="en-US" sz="1600" dirty="0"/>
          </a:p>
        </p:txBody>
      </p:sp>
      <p:sp>
        <p:nvSpPr>
          <p:cNvPr id="9" name="Text 7"/>
          <p:cNvSpPr/>
          <p:nvPr/>
        </p:nvSpPr>
        <p:spPr>
          <a:xfrm>
            <a:off x="812800" y="4180185"/>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Waktu mulai, kategori, dan nomor kejadian aktif.</a:t>
            </a:r>
            <a:endParaRPr lang="en-US" sz="1200" dirty="0"/>
          </a:p>
        </p:txBody>
      </p:sp>
      <p:sp>
        <p:nvSpPr>
          <p:cNvPr id="10" name="Text 8"/>
          <p:cNvSpPr/>
          <p:nvPr/>
        </p:nvSpPr>
        <p:spPr>
          <a:xfrm>
            <a:off x="812800" y="4571305"/>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Trace hulu/hilir</a:t>
            </a:r>
            <a:endParaRPr lang="en-US" sz="1600" dirty="0"/>
          </a:p>
        </p:txBody>
      </p:sp>
      <p:sp>
        <p:nvSpPr>
          <p:cNvPr id="11" name="Text 9"/>
          <p:cNvSpPr/>
          <p:nvPr/>
        </p:nvSpPr>
        <p:spPr>
          <a:xfrm>
            <a:off x="812800" y="4853186"/>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Ringkasan node, panjang, dan pelanggan terdampak.</a:t>
            </a:r>
            <a:endParaRPr lang="en-US" sz="1200" dirty="0"/>
          </a:p>
        </p:txBody>
      </p:sp>
      <p:pic>
        <p:nvPicPr>
          <p:cNvPr id="12" name="Image 0" descr="Overlay batas wilayah UP3 di peta Pusat Operasi"/>
          <p:cNvPicPr>
            <a:picLocks noChangeAspect="1"/>
          </p:cNvPicPr>
          <p:nvPr/>
        </p:nvPicPr>
        <p:blipFill>
          <a:blip r:embed="rId3"/>
          <a:srcRect t="75" b="75"/>
          <a:stretch/>
        </p:blipFill>
        <p:spPr>
          <a:xfrm>
            <a:off x="4781550" y="2345333"/>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2342158"/>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FITUR · LAPANGAN (PONSEL)</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Petugas lapangan terhubung dari ponsel</a:t>
            </a:r>
            <a:endParaRPr lang="en-US" sz="3600" dirty="0"/>
          </a:p>
        </p:txBody>
      </p:sp>
      <p:sp>
        <p:nvSpPr>
          <p:cNvPr id="4" name="Text 2"/>
          <p:cNvSpPr/>
          <p:nvPr/>
        </p:nvSpPr>
        <p:spPr>
          <a:xfrm>
            <a:off x="812800" y="1909961"/>
            <a:ext cx="588645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Pasang seperti aplikasi</a:t>
            </a:r>
            <a:endParaRPr lang="en-US" sz="1600" dirty="0"/>
          </a:p>
        </p:txBody>
      </p:sp>
      <p:sp>
        <p:nvSpPr>
          <p:cNvPr id="5" name="Text 3"/>
          <p:cNvSpPr/>
          <p:nvPr/>
        </p:nvSpPr>
        <p:spPr>
          <a:xfrm>
            <a:off x="812800" y="2191841"/>
            <a:ext cx="588645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PWA di ponsel, tanpa toko aplikasi; menu bawah untuk dasbor, operasi, lapangan, SLD.</a:t>
            </a:r>
            <a:endParaRPr lang="en-US" sz="1200" dirty="0"/>
          </a:p>
        </p:txBody>
      </p:sp>
      <p:sp>
        <p:nvSpPr>
          <p:cNvPr id="6" name="Text 4"/>
          <p:cNvSpPr/>
          <p:nvPr/>
        </p:nvSpPr>
        <p:spPr>
          <a:xfrm>
            <a:off x="812800" y="2796282"/>
            <a:ext cx="588645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Aset terdekat</a:t>
            </a:r>
            <a:endParaRPr lang="en-US" sz="1600" dirty="0"/>
          </a:p>
        </p:txBody>
      </p:sp>
      <p:sp>
        <p:nvSpPr>
          <p:cNvPr id="7" name="Text 5"/>
          <p:cNvSpPr/>
          <p:nvPr/>
        </p:nvSpPr>
        <p:spPr>
          <a:xfrm>
            <a:off x="812800" y="3078163"/>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GPS menampilkan gardu, switch, tiang, dan pelanggan di sekitar petugas.</a:t>
            </a:r>
            <a:endParaRPr lang="en-US" sz="1200" dirty="0"/>
          </a:p>
        </p:txBody>
      </p:sp>
      <p:sp>
        <p:nvSpPr>
          <p:cNvPr id="8" name="Text 6"/>
          <p:cNvSpPr/>
          <p:nvPr/>
        </p:nvSpPr>
        <p:spPr>
          <a:xfrm>
            <a:off x="812800" y="3469283"/>
            <a:ext cx="588645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Laporan cepat + foto</a:t>
            </a:r>
            <a:endParaRPr lang="en-US" sz="1600" dirty="0"/>
          </a:p>
        </p:txBody>
      </p:sp>
      <p:sp>
        <p:nvSpPr>
          <p:cNvPr id="9" name="Text 7"/>
          <p:cNvSpPr/>
          <p:nvPr/>
        </p:nvSpPr>
        <p:spPr>
          <a:xfrm>
            <a:off x="812800" y="3751163"/>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Tetap tersimpan saat tanpa sinyal, lalu terkirim otomatis.</a:t>
            </a:r>
            <a:endParaRPr lang="en-US" sz="1200" dirty="0"/>
          </a:p>
        </p:txBody>
      </p:sp>
      <p:sp>
        <p:nvSpPr>
          <p:cNvPr id="10" name="Text 8"/>
          <p:cNvSpPr/>
          <p:nvPr/>
        </p:nvSpPr>
        <p:spPr>
          <a:xfrm>
            <a:off x="812800" y="4142284"/>
            <a:ext cx="588645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Notifikasi push</a:t>
            </a:r>
            <a:endParaRPr lang="en-US" sz="1600" dirty="0"/>
          </a:p>
        </p:txBody>
      </p:sp>
      <p:sp>
        <p:nvSpPr>
          <p:cNvPr id="11" name="Text 9"/>
          <p:cNvSpPr/>
          <p:nvPr/>
        </p:nvSpPr>
        <p:spPr>
          <a:xfrm>
            <a:off x="812800" y="4424164"/>
            <a:ext cx="58864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Gangguan, laporan, dan beban sesuai topik yang dipilih.</a:t>
            </a:r>
            <a:endParaRPr lang="en-US" sz="1200" dirty="0"/>
          </a:p>
        </p:txBody>
      </p:sp>
      <p:sp>
        <p:nvSpPr>
          <p:cNvPr id="12" name="Shape 10"/>
          <p:cNvSpPr/>
          <p:nvPr/>
        </p:nvSpPr>
        <p:spPr>
          <a:xfrm>
            <a:off x="7137400" y="1909961"/>
            <a:ext cx="4241800" cy="3911600"/>
          </a:xfrm>
          <a:prstGeom prst="roundRect">
            <a:avLst>
              <a:gd name="adj" fmla="val 3896"/>
            </a:avLst>
          </a:prstGeom>
          <a:solidFill>
            <a:srgbClr val="0E1A2B"/>
          </a:solidFill>
          <a:ln/>
        </p:spPr>
      </p:sp>
      <p:pic>
        <p:nvPicPr>
          <p:cNvPr id="13" name="Image 0" descr="Halaman Lapangan di ponsel: lokasi saya, aset terdekat, laporan gangguan cepat"/>
          <p:cNvPicPr>
            <a:picLocks noChangeAspect="1"/>
          </p:cNvPicPr>
          <p:nvPr/>
        </p:nvPicPr>
        <p:blipFill>
          <a:blip r:embed="rId3"/>
          <a:stretch>
            <a:fillRect/>
          </a:stretch>
        </p:blipFill>
        <p:spPr>
          <a:xfrm>
            <a:off x="8436712" y="2087761"/>
            <a:ext cx="1643175" cy="3556000"/>
          </a:xfrm>
          <a:custGeom>
            <a:avLst/>
            <a:gdLst/>
            <a:ahLst/>
            <a:cxnLst/>
            <a:rect l="l" t="t" r="r" b="b"/>
            <a:pathLst>
              <a:path w="1643175" h="3556000">
                <a:moveTo>
                  <a:pt x="0" y="32628"/>
                </a:moveTo>
                <a:arcTo wR="127000" hR="127000" stAng="13679705" swAng="2520295"/>
                <a:lnTo>
                  <a:pt x="1558188" y="0"/>
                </a:lnTo>
                <a:arcTo wR="127000" hR="127000" stAng="16200000" swAng="2520295"/>
                <a:lnTo>
                  <a:pt x="1643175" y="3523372"/>
                </a:lnTo>
                <a:arcTo wR="127000" hR="127000" stAng="2879705" swAng="2520295"/>
                <a:lnTo>
                  <a:pt x="84988" y="3556000"/>
                </a:lnTo>
                <a:arcTo wR="127000" hR="127000" stAng="5400000" swAng="2520295"/>
                <a:close/>
              </a:path>
            </a:pathLst>
          </a:custGeom>
        </p:spPr>
      </p:pic>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24 · Foto aset: field.photo · Laporan: report.manage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A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2A93B"/>
                </a:solidFill>
                <a:latin typeface="IBM Plex Sans" pitchFamily="34" charset="0"/>
                <a:ea typeface="IBM Plex Sans" pitchFamily="34" charset="-122"/>
                <a:cs typeface="IBM Plex Sans" pitchFamily="34" charset="-120"/>
              </a:rPr>
              <a:t>CARA KERJA · ARSITEKTUR</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F5F6F2"/>
                </a:solidFill>
                <a:latin typeface="Space Grotesk" pitchFamily="34" charset="0"/>
                <a:ea typeface="Space Grotesk" pitchFamily="34" charset="-122"/>
                <a:cs typeface="Space Grotesk" pitchFamily="34" charset="-120"/>
              </a:rPr>
              <a:t>Empat lapisan, satu graf topologi</a:t>
            </a:r>
            <a:endParaRPr lang="en-US" sz="3600" dirty="0"/>
          </a:p>
        </p:txBody>
      </p:sp>
      <p:sp>
        <p:nvSpPr>
          <p:cNvPr id="4" name="Text 2"/>
          <p:cNvSpPr/>
          <p:nvPr/>
        </p:nvSpPr>
        <p:spPr>
          <a:xfrm>
            <a:off x="812800" y="1909961"/>
            <a:ext cx="222377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7FB0FF"/>
                </a:solidFill>
                <a:latin typeface="IBM Plex Sans" pitchFamily="34" charset="0"/>
                <a:ea typeface="IBM Plex Sans" pitchFamily="34" charset="-122"/>
                <a:cs typeface="IBM Plex Sans" pitchFamily="34" charset="-120"/>
              </a:rPr>
              <a:t>PENGGUNA</a:t>
            </a:r>
            <a:endParaRPr lang="en-US" sz="1200" dirty="0"/>
          </a:p>
        </p:txBody>
      </p:sp>
      <p:sp>
        <p:nvSpPr>
          <p:cNvPr id="5" name="Shape 3"/>
          <p:cNvSpPr/>
          <p:nvPr/>
        </p:nvSpPr>
        <p:spPr>
          <a:xfrm>
            <a:off x="815975" y="2228056"/>
            <a:ext cx="2152650" cy="966291"/>
          </a:xfrm>
          <a:prstGeom prst="roundRect">
            <a:avLst>
              <a:gd name="adj" fmla="val 8872"/>
            </a:avLst>
          </a:prstGeom>
          <a:solidFill>
            <a:srgbClr val="13233A"/>
          </a:solidFill>
          <a:ln w="6350">
            <a:solidFill>
              <a:srgbClr val="2B4A73"/>
            </a:solidFill>
            <a:prstDash val="solid"/>
          </a:ln>
        </p:spPr>
      </p:sp>
      <p:sp>
        <p:nvSpPr>
          <p:cNvPr id="6" name="Text 4"/>
          <p:cNvSpPr/>
          <p:nvPr/>
        </p:nvSpPr>
        <p:spPr>
          <a:xfrm>
            <a:off x="971550" y="2383631"/>
            <a:ext cx="189674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Browser</a:t>
            </a:r>
            <a:endParaRPr lang="en-US" sz="1600" dirty="0"/>
          </a:p>
        </p:txBody>
      </p:sp>
      <p:sp>
        <p:nvSpPr>
          <p:cNvPr id="7" name="Text 5"/>
          <p:cNvSpPr/>
          <p:nvPr/>
        </p:nvSpPr>
        <p:spPr>
          <a:xfrm>
            <a:off x="971550" y="2627412"/>
            <a:ext cx="1896745"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Peta, operasi, SLD, beban, AI</a:t>
            </a:r>
            <a:endParaRPr lang="en-US" sz="1200" dirty="0"/>
          </a:p>
        </p:txBody>
      </p:sp>
      <p:sp>
        <p:nvSpPr>
          <p:cNvPr id="8" name="Shape 6"/>
          <p:cNvSpPr/>
          <p:nvPr/>
        </p:nvSpPr>
        <p:spPr>
          <a:xfrm>
            <a:off x="815975" y="3302298"/>
            <a:ext cx="2152650" cy="760611"/>
          </a:xfrm>
          <a:prstGeom prst="roundRect">
            <a:avLst>
              <a:gd name="adj" fmla="val 11271"/>
            </a:avLst>
          </a:prstGeom>
          <a:solidFill>
            <a:srgbClr val="13233A"/>
          </a:solidFill>
          <a:ln w="6350">
            <a:solidFill>
              <a:srgbClr val="2B4A73"/>
            </a:solidFill>
            <a:prstDash val="solid"/>
          </a:ln>
        </p:spPr>
      </p:sp>
      <p:sp>
        <p:nvSpPr>
          <p:cNvPr id="9" name="Text 7"/>
          <p:cNvSpPr/>
          <p:nvPr/>
        </p:nvSpPr>
        <p:spPr>
          <a:xfrm>
            <a:off x="971550" y="3457873"/>
            <a:ext cx="189674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QGIS / ArcGIS</a:t>
            </a:r>
            <a:endParaRPr lang="en-US" sz="1600" dirty="0"/>
          </a:p>
        </p:txBody>
      </p:sp>
      <p:sp>
        <p:nvSpPr>
          <p:cNvPr id="10" name="Text 8"/>
          <p:cNvSpPr/>
          <p:nvPr/>
        </p:nvSpPr>
        <p:spPr>
          <a:xfrm>
            <a:off x="971550" y="3701653"/>
            <a:ext cx="189674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GeoJSON, GDB</a:t>
            </a:r>
            <a:endParaRPr lang="en-US" sz="1200" dirty="0"/>
          </a:p>
        </p:txBody>
      </p:sp>
      <p:sp>
        <p:nvSpPr>
          <p:cNvPr id="11" name="Shape 9"/>
          <p:cNvSpPr/>
          <p:nvPr/>
        </p:nvSpPr>
        <p:spPr>
          <a:xfrm>
            <a:off x="815975" y="4170859"/>
            <a:ext cx="2152650" cy="760611"/>
          </a:xfrm>
          <a:prstGeom prst="roundRect">
            <a:avLst>
              <a:gd name="adj" fmla="val 11271"/>
            </a:avLst>
          </a:prstGeom>
          <a:solidFill>
            <a:srgbClr val="13233A"/>
          </a:solidFill>
          <a:ln w="6350">
            <a:solidFill>
              <a:srgbClr val="2B4A73"/>
            </a:solidFill>
            <a:prstDash val="solid"/>
          </a:ln>
        </p:spPr>
      </p:sp>
      <p:sp>
        <p:nvSpPr>
          <p:cNvPr id="12" name="Text 10"/>
          <p:cNvSpPr/>
          <p:nvPr/>
        </p:nvSpPr>
        <p:spPr>
          <a:xfrm>
            <a:off x="971550" y="4326434"/>
            <a:ext cx="189674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Ponsel (PWA)</a:t>
            </a:r>
            <a:endParaRPr lang="en-US" sz="1600" dirty="0"/>
          </a:p>
        </p:txBody>
      </p:sp>
      <p:sp>
        <p:nvSpPr>
          <p:cNvPr id="13" name="Text 11"/>
          <p:cNvSpPr/>
          <p:nvPr/>
        </p:nvSpPr>
        <p:spPr>
          <a:xfrm>
            <a:off x="971550" y="4570214"/>
            <a:ext cx="189674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Lapangan, offline, push</a:t>
            </a:r>
            <a:endParaRPr lang="en-US" sz="1200" dirty="0"/>
          </a:p>
        </p:txBody>
      </p:sp>
      <p:pic>
        <p:nvPicPr>
          <p:cNvPr id="14" name="Image 0" descr="arrow-right"/>
          <p:cNvPicPr>
            <a:picLocks noChangeAspect="1"/>
          </p:cNvPicPr>
          <p:nvPr/>
        </p:nvPicPr>
        <p:blipFill>
          <a:blip r:embed="rId3"/>
          <a:srcRect/>
          <a:stretch/>
        </p:blipFill>
        <p:spPr>
          <a:xfrm>
            <a:off x="3031034" y="3333353"/>
            <a:ext cx="355600" cy="177800"/>
          </a:xfrm>
          <a:prstGeom prst="rect">
            <a:avLst/>
          </a:prstGeom>
        </p:spPr>
      </p:pic>
      <p:sp>
        <p:nvSpPr>
          <p:cNvPr id="15" name="Text 12"/>
          <p:cNvSpPr/>
          <p:nvPr/>
        </p:nvSpPr>
        <p:spPr>
          <a:xfrm>
            <a:off x="3445867" y="2778522"/>
            <a:ext cx="196215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C4B2FF"/>
                </a:solidFill>
                <a:latin typeface="IBM Plex Sans" pitchFamily="34" charset="0"/>
                <a:ea typeface="IBM Plex Sans" pitchFamily="34" charset="-122"/>
                <a:cs typeface="IBM Plex Sans" pitchFamily="34" charset="-120"/>
              </a:rPr>
              <a:t>EDGE</a:t>
            </a:r>
            <a:endParaRPr lang="en-US" sz="1200" dirty="0"/>
          </a:p>
        </p:txBody>
      </p:sp>
      <p:sp>
        <p:nvSpPr>
          <p:cNvPr id="16" name="Shape 13"/>
          <p:cNvSpPr/>
          <p:nvPr/>
        </p:nvSpPr>
        <p:spPr>
          <a:xfrm>
            <a:off x="3449042" y="3096617"/>
            <a:ext cx="1898650" cy="966291"/>
          </a:xfrm>
          <a:prstGeom prst="roundRect">
            <a:avLst>
              <a:gd name="adj" fmla="val 8872"/>
            </a:avLst>
          </a:prstGeom>
          <a:solidFill>
            <a:srgbClr val="13233A"/>
          </a:solidFill>
          <a:ln w="6350">
            <a:solidFill>
              <a:srgbClr val="2B4A73"/>
            </a:solidFill>
            <a:prstDash val="solid"/>
          </a:ln>
        </p:spPr>
      </p:sp>
      <p:sp>
        <p:nvSpPr>
          <p:cNvPr id="17" name="Text 14"/>
          <p:cNvSpPr/>
          <p:nvPr/>
        </p:nvSpPr>
        <p:spPr>
          <a:xfrm>
            <a:off x="3604617" y="3252192"/>
            <a:ext cx="163830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nginx</a:t>
            </a:r>
            <a:endParaRPr lang="en-US" sz="1600" dirty="0"/>
          </a:p>
        </p:txBody>
      </p:sp>
      <p:sp>
        <p:nvSpPr>
          <p:cNvPr id="18" name="Text 15"/>
          <p:cNvSpPr/>
          <p:nvPr/>
        </p:nvSpPr>
        <p:spPr>
          <a:xfrm>
            <a:off x="3604617" y="3495973"/>
            <a:ext cx="163830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HTTPS TLS 1.3, HSTS, gzip, proxy</a:t>
            </a:r>
            <a:endParaRPr lang="en-US" sz="1200" dirty="0"/>
          </a:p>
        </p:txBody>
      </p:sp>
      <p:pic>
        <p:nvPicPr>
          <p:cNvPr id="19" name="Image 1" descr="arrow-right"/>
          <p:cNvPicPr>
            <a:picLocks noChangeAspect="1"/>
          </p:cNvPicPr>
          <p:nvPr/>
        </p:nvPicPr>
        <p:blipFill>
          <a:blip r:embed="rId3"/>
          <a:srcRect/>
          <a:stretch/>
        </p:blipFill>
        <p:spPr>
          <a:xfrm>
            <a:off x="5410101" y="3333353"/>
            <a:ext cx="355600" cy="177800"/>
          </a:xfrm>
          <a:prstGeom prst="rect">
            <a:avLst/>
          </a:prstGeom>
        </p:spPr>
      </p:pic>
      <p:sp>
        <p:nvSpPr>
          <p:cNvPr id="20" name="Text 16"/>
          <p:cNvSpPr/>
          <p:nvPr/>
        </p:nvSpPr>
        <p:spPr>
          <a:xfrm>
            <a:off x="5825034" y="2344241"/>
            <a:ext cx="274701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FE0CC"/>
                </a:solidFill>
                <a:latin typeface="IBM Plex Sans" pitchFamily="34" charset="0"/>
                <a:ea typeface="IBM Plex Sans" pitchFamily="34" charset="-122"/>
                <a:cs typeface="IBM Plex Sans" pitchFamily="34" charset="-120"/>
              </a:rPr>
              <a:t>APLIKASI</a:t>
            </a:r>
            <a:endParaRPr lang="en-US" sz="1200" dirty="0"/>
          </a:p>
        </p:txBody>
      </p:sp>
      <p:sp>
        <p:nvSpPr>
          <p:cNvPr id="21" name="Shape 17"/>
          <p:cNvSpPr/>
          <p:nvPr/>
        </p:nvSpPr>
        <p:spPr>
          <a:xfrm>
            <a:off x="5828209" y="2662337"/>
            <a:ext cx="2660650" cy="760611"/>
          </a:xfrm>
          <a:prstGeom prst="roundRect">
            <a:avLst>
              <a:gd name="adj" fmla="val 11271"/>
            </a:avLst>
          </a:prstGeom>
          <a:solidFill>
            <a:srgbClr val="13233A"/>
          </a:solidFill>
          <a:ln w="6350">
            <a:solidFill>
              <a:srgbClr val="2B4A73"/>
            </a:solidFill>
            <a:prstDash val="solid"/>
          </a:ln>
        </p:spPr>
      </p:sp>
      <p:sp>
        <p:nvSpPr>
          <p:cNvPr id="22" name="Text 18"/>
          <p:cNvSpPr/>
          <p:nvPr/>
        </p:nvSpPr>
        <p:spPr>
          <a:xfrm>
            <a:off x="5983784" y="2817912"/>
            <a:ext cx="241998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Next.js</a:t>
            </a:r>
            <a:endParaRPr lang="en-US" sz="1600" dirty="0"/>
          </a:p>
        </p:txBody>
      </p:sp>
      <p:sp>
        <p:nvSpPr>
          <p:cNvPr id="23" name="Text 19"/>
          <p:cNvSpPr/>
          <p:nvPr/>
        </p:nvSpPr>
        <p:spPr>
          <a:xfrm>
            <a:off x="5983784" y="3061692"/>
            <a:ext cx="241998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MapLibre, SLD SVG, tema, ID/EN</a:t>
            </a:r>
            <a:endParaRPr lang="en-US" sz="1200" dirty="0"/>
          </a:p>
        </p:txBody>
      </p:sp>
      <p:sp>
        <p:nvSpPr>
          <p:cNvPr id="24" name="Shape 20"/>
          <p:cNvSpPr/>
          <p:nvPr/>
        </p:nvSpPr>
        <p:spPr>
          <a:xfrm>
            <a:off x="5828209" y="3530898"/>
            <a:ext cx="2660650" cy="966291"/>
          </a:xfrm>
          <a:prstGeom prst="roundRect">
            <a:avLst>
              <a:gd name="adj" fmla="val 8872"/>
            </a:avLst>
          </a:prstGeom>
          <a:solidFill>
            <a:srgbClr val="13233A"/>
          </a:solidFill>
          <a:ln w="6350">
            <a:solidFill>
              <a:srgbClr val="2B4A73"/>
            </a:solidFill>
            <a:prstDash val="solid"/>
          </a:ln>
        </p:spPr>
      </p:sp>
      <p:sp>
        <p:nvSpPr>
          <p:cNvPr id="25" name="Text 21"/>
          <p:cNvSpPr/>
          <p:nvPr/>
        </p:nvSpPr>
        <p:spPr>
          <a:xfrm>
            <a:off x="5983784" y="3686473"/>
            <a:ext cx="241998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Go backend</a:t>
            </a:r>
            <a:endParaRPr lang="en-US" sz="1600" dirty="0"/>
          </a:p>
        </p:txBody>
      </p:sp>
      <p:sp>
        <p:nvSpPr>
          <p:cNvPr id="26" name="Text 22"/>
          <p:cNvSpPr/>
          <p:nvPr/>
        </p:nvSpPr>
        <p:spPr>
          <a:xfrm>
            <a:off x="5983784" y="3930253"/>
            <a:ext cx="2419985"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Graf memori, energisasi, keandalan, SLD, beban &amp; susut</a:t>
            </a:r>
            <a:endParaRPr lang="en-US" sz="1200" dirty="0"/>
          </a:p>
        </p:txBody>
      </p:sp>
      <p:pic>
        <p:nvPicPr>
          <p:cNvPr id="27" name="Image 2" descr="arrow-right"/>
          <p:cNvPicPr>
            <a:picLocks noChangeAspect="1"/>
          </p:cNvPicPr>
          <p:nvPr/>
        </p:nvPicPr>
        <p:blipFill>
          <a:blip r:embed="rId3"/>
          <a:srcRect/>
          <a:stretch/>
        </p:blipFill>
        <p:spPr>
          <a:xfrm>
            <a:off x="8551267" y="3333353"/>
            <a:ext cx="355600" cy="177800"/>
          </a:xfrm>
          <a:prstGeom prst="rect">
            <a:avLst/>
          </a:prstGeom>
        </p:spPr>
      </p:pic>
      <p:sp>
        <p:nvSpPr>
          <p:cNvPr id="28" name="Text 23"/>
          <p:cNvSpPr/>
          <p:nvPr/>
        </p:nvSpPr>
        <p:spPr>
          <a:xfrm>
            <a:off x="8966200" y="2088952"/>
            <a:ext cx="248539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2C074"/>
                </a:solidFill>
                <a:latin typeface="IBM Plex Sans" pitchFamily="34" charset="0"/>
                <a:ea typeface="IBM Plex Sans" pitchFamily="34" charset="-122"/>
                <a:cs typeface="IBM Plex Sans" pitchFamily="34" charset="-120"/>
              </a:rPr>
              <a:t>DATA &amp; LAYANAN</a:t>
            </a:r>
            <a:endParaRPr lang="en-US" sz="1200" dirty="0"/>
          </a:p>
        </p:txBody>
      </p:sp>
      <p:sp>
        <p:nvSpPr>
          <p:cNvPr id="29" name="Shape 24"/>
          <p:cNvSpPr/>
          <p:nvPr/>
        </p:nvSpPr>
        <p:spPr>
          <a:xfrm>
            <a:off x="8969375" y="2407047"/>
            <a:ext cx="2406650" cy="709811"/>
          </a:xfrm>
          <a:prstGeom prst="roundRect">
            <a:avLst>
              <a:gd name="adj" fmla="val 12077"/>
            </a:avLst>
          </a:prstGeom>
          <a:solidFill>
            <a:srgbClr val="13233A"/>
          </a:solidFill>
          <a:ln w="6350">
            <a:solidFill>
              <a:srgbClr val="2B4A73"/>
            </a:solidFill>
            <a:prstDash val="solid"/>
          </a:ln>
        </p:spPr>
      </p:sp>
      <p:sp>
        <p:nvSpPr>
          <p:cNvPr id="30" name="Text 25"/>
          <p:cNvSpPr/>
          <p:nvPr/>
        </p:nvSpPr>
        <p:spPr>
          <a:xfrm>
            <a:off x="9124950" y="2537222"/>
            <a:ext cx="215836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PostgreSQL</a:t>
            </a:r>
            <a:endParaRPr lang="en-US" sz="1600" dirty="0"/>
          </a:p>
        </p:txBody>
      </p:sp>
      <p:sp>
        <p:nvSpPr>
          <p:cNvPr id="31" name="Text 26"/>
          <p:cNvSpPr/>
          <p:nvPr/>
        </p:nvSpPr>
        <p:spPr>
          <a:xfrm>
            <a:off x="9124950" y="2781002"/>
            <a:ext cx="215836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PostGIS, TimescaleDB</a:t>
            </a:r>
            <a:endParaRPr lang="en-US" sz="1200" dirty="0"/>
          </a:p>
        </p:txBody>
      </p:sp>
      <p:sp>
        <p:nvSpPr>
          <p:cNvPr id="32" name="Shape 27"/>
          <p:cNvSpPr/>
          <p:nvPr/>
        </p:nvSpPr>
        <p:spPr>
          <a:xfrm>
            <a:off x="8969375" y="3224808"/>
            <a:ext cx="2406650" cy="709811"/>
          </a:xfrm>
          <a:prstGeom prst="roundRect">
            <a:avLst>
              <a:gd name="adj" fmla="val 12077"/>
            </a:avLst>
          </a:prstGeom>
          <a:solidFill>
            <a:srgbClr val="13233A"/>
          </a:solidFill>
          <a:ln w="6350">
            <a:solidFill>
              <a:srgbClr val="2B4A73"/>
            </a:solidFill>
            <a:prstDash val="solid"/>
          </a:ln>
        </p:spPr>
      </p:sp>
      <p:sp>
        <p:nvSpPr>
          <p:cNvPr id="33" name="Text 28"/>
          <p:cNvSpPr/>
          <p:nvPr/>
        </p:nvSpPr>
        <p:spPr>
          <a:xfrm>
            <a:off x="9124950" y="3354983"/>
            <a:ext cx="215836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Redis · Kafka</a:t>
            </a:r>
            <a:endParaRPr lang="en-US" sz="1600" dirty="0"/>
          </a:p>
        </p:txBody>
      </p:sp>
      <p:sp>
        <p:nvSpPr>
          <p:cNvPr id="34" name="Text 29"/>
          <p:cNvSpPr/>
          <p:nvPr/>
        </p:nvSpPr>
        <p:spPr>
          <a:xfrm>
            <a:off x="9124950" y="3598763"/>
            <a:ext cx="215836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Cache, realtime, SCADA/AMR</a:t>
            </a:r>
            <a:endParaRPr lang="en-US" sz="1200" dirty="0"/>
          </a:p>
        </p:txBody>
      </p:sp>
      <p:sp>
        <p:nvSpPr>
          <p:cNvPr id="35" name="Shape 30"/>
          <p:cNvSpPr/>
          <p:nvPr/>
        </p:nvSpPr>
        <p:spPr>
          <a:xfrm>
            <a:off x="8969375" y="4042569"/>
            <a:ext cx="2406650" cy="709811"/>
          </a:xfrm>
          <a:prstGeom prst="roundRect">
            <a:avLst>
              <a:gd name="adj" fmla="val 12077"/>
            </a:avLst>
          </a:prstGeom>
          <a:solidFill>
            <a:srgbClr val="13233A"/>
          </a:solidFill>
          <a:ln w="6350">
            <a:solidFill>
              <a:srgbClr val="2B4A73"/>
            </a:solidFill>
            <a:prstDash val="solid"/>
          </a:ln>
        </p:spPr>
      </p:sp>
      <p:sp>
        <p:nvSpPr>
          <p:cNvPr id="36" name="Text 31"/>
          <p:cNvSpPr/>
          <p:nvPr/>
        </p:nvSpPr>
        <p:spPr>
          <a:xfrm>
            <a:off x="9124950" y="4172744"/>
            <a:ext cx="2158365"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5F6F2"/>
                </a:solidFill>
                <a:latin typeface="IBM Plex Sans" pitchFamily="34" charset="0"/>
                <a:ea typeface="IBM Plex Sans" pitchFamily="34" charset="-122"/>
                <a:cs typeface="IBM Plex Sans" pitchFamily="34" charset="-120"/>
              </a:rPr>
              <a:t>Penyedia AI</a:t>
            </a:r>
            <a:endParaRPr lang="en-US" sz="1600" dirty="0"/>
          </a:p>
        </p:txBody>
      </p:sp>
      <p:sp>
        <p:nvSpPr>
          <p:cNvPr id="37" name="Text 32"/>
          <p:cNvSpPr/>
          <p:nvPr/>
        </p:nvSpPr>
        <p:spPr>
          <a:xfrm>
            <a:off x="9124950" y="4416524"/>
            <a:ext cx="215836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FCBDA"/>
                </a:solidFill>
                <a:latin typeface="IBM Plex Sans" pitchFamily="34" charset="0"/>
                <a:ea typeface="IBM Plex Sans" pitchFamily="34" charset="-122"/>
                <a:cs typeface="IBM Plex Sans" pitchFamily="34" charset="-120"/>
              </a:rPr>
              <a:t>Claude, ChatGPT, Kimi</a:t>
            </a:r>
            <a:endParaRPr lang="en-US" sz="1200" dirty="0"/>
          </a:p>
        </p:txBody>
      </p:sp>
      <p:sp>
        <p:nvSpPr>
          <p:cNvPr id="38" name="Text 33"/>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A3BA"/>
                </a:solidFill>
                <a:latin typeface="IBM Plex Sans" pitchFamily="34" charset="0"/>
                <a:ea typeface="IBM Plex Sans" pitchFamily="34" charset="-122"/>
                <a:cs typeface="IBM Plex Sans" pitchFamily="34" charset="-120"/>
              </a:rPr>
              <a:t>QuadranGIS · 25 · Semua layanan berjalan sebagai container Docker</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CARA KERJA · PROSES BISNIS</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Dari gangguan sampai laporan keandalan</a:t>
            </a:r>
            <a:endParaRPr lang="en-US" sz="3600" dirty="0"/>
          </a:p>
        </p:txBody>
      </p:sp>
      <p:sp>
        <p:nvSpPr>
          <p:cNvPr id="4" name="Shape 2"/>
          <p:cNvSpPr/>
          <p:nvPr/>
        </p:nvSpPr>
        <p:spPr>
          <a:xfrm>
            <a:off x="815975" y="1963936"/>
            <a:ext cx="1648817" cy="2012752"/>
          </a:xfrm>
          <a:prstGeom prst="roundRect">
            <a:avLst>
              <a:gd name="adj" fmla="val 5969"/>
            </a:avLst>
          </a:prstGeom>
          <a:solidFill>
            <a:srgbClr val="FFFFFF"/>
          </a:solidFill>
          <a:ln w="6350">
            <a:solidFill>
              <a:srgbClr val="DDE2E8"/>
            </a:solidFill>
            <a:prstDash val="solid"/>
          </a:ln>
        </p:spPr>
      </p:sp>
      <p:sp>
        <p:nvSpPr>
          <p:cNvPr id="5" name="Text 3"/>
          <p:cNvSpPr/>
          <p:nvPr/>
        </p:nvSpPr>
        <p:spPr>
          <a:xfrm>
            <a:off x="971550" y="2144911"/>
            <a:ext cx="1388467"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2563EB"/>
                </a:solidFill>
                <a:latin typeface="Space Grotesk" pitchFamily="34" charset="0"/>
                <a:ea typeface="Space Grotesk" pitchFamily="34" charset="-122"/>
                <a:cs typeface="Space Grotesk" pitchFamily="34" charset="-120"/>
              </a:rPr>
              <a:t>01</a:t>
            </a:r>
            <a:endParaRPr lang="en-US" sz="2200" dirty="0"/>
          </a:p>
        </p:txBody>
      </p:sp>
      <p:sp>
        <p:nvSpPr>
          <p:cNvPr id="6" name="Text 4"/>
          <p:cNvSpPr/>
          <p:nvPr/>
        </p:nvSpPr>
        <p:spPr>
          <a:xfrm>
            <a:off x="971550" y="2624931"/>
            <a:ext cx="138846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E1A2B"/>
                </a:solidFill>
                <a:latin typeface="IBM Plex Sans" pitchFamily="34" charset="0"/>
                <a:ea typeface="IBM Plex Sans" pitchFamily="34" charset="-122"/>
                <a:cs typeface="IBM Plex Sans" pitchFamily="34" charset="-120"/>
              </a:rPr>
              <a:t>Kejadian</a:t>
            </a:r>
            <a:endParaRPr lang="en-US" sz="1500" dirty="0"/>
          </a:p>
        </p:txBody>
      </p:sp>
      <p:sp>
        <p:nvSpPr>
          <p:cNvPr id="7" name="Text 5"/>
          <p:cNvSpPr/>
          <p:nvPr/>
        </p:nvSpPr>
        <p:spPr>
          <a:xfrm>
            <a:off x="971550" y="2942431"/>
            <a:ext cx="1388467"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Gangguan, jadwal pemeliharaan, atau MLS</a:t>
            </a:r>
            <a:endParaRPr lang="en-US" sz="1200" dirty="0"/>
          </a:p>
        </p:txBody>
      </p:sp>
      <p:sp>
        <p:nvSpPr>
          <p:cNvPr id="8" name="Shape 6"/>
          <p:cNvSpPr/>
          <p:nvPr/>
        </p:nvSpPr>
        <p:spPr>
          <a:xfrm>
            <a:off x="2598142" y="1963936"/>
            <a:ext cx="1648916" cy="2012752"/>
          </a:xfrm>
          <a:prstGeom prst="roundRect">
            <a:avLst>
              <a:gd name="adj" fmla="val 5969"/>
            </a:avLst>
          </a:prstGeom>
          <a:solidFill>
            <a:srgbClr val="FFFFFF"/>
          </a:solidFill>
          <a:ln w="6350">
            <a:solidFill>
              <a:srgbClr val="DDE2E8"/>
            </a:solidFill>
            <a:prstDash val="solid"/>
          </a:ln>
        </p:spPr>
      </p:sp>
      <p:sp>
        <p:nvSpPr>
          <p:cNvPr id="9" name="Text 7"/>
          <p:cNvSpPr/>
          <p:nvPr/>
        </p:nvSpPr>
        <p:spPr>
          <a:xfrm>
            <a:off x="2753717" y="2144911"/>
            <a:ext cx="1388566"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2563EB"/>
                </a:solidFill>
                <a:latin typeface="Space Grotesk" pitchFamily="34" charset="0"/>
                <a:ea typeface="Space Grotesk" pitchFamily="34" charset="-122"/>
                <a:cs typeface="Space Grotesk" pitchFamily="34" charset="-120"/>
              </a:rPr>
              <a:t>02</a:t>
            </a:r>
            <a:endParaRPr lang="en-US" sz="2200" dirty="0"/>
          </a:p>
        </p:txBody>
      </p:sp>
      <p:sp>
        <p:nvSpPr>
          <p:cNvPr id="10" name="Text 8"/>
          <p:cNvSpPr/>
          <p:nvPr/>
        </p:nvSpPr>
        <p:spPr>
          <a:xfrm>
            <a:off x="2753717" y="2624931"/>
            <a:ext cx="138856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E1A2B"/>
                </a:solidFill>
                <a:latin typeface="IBM Plex Sans" pitchFamily="34" charset="0"/>
                <a:ea typeface="IBM Plex Sans" pitchFamily="34" charset="-122"/>
                <a:cs typeface="IBM Plex Sans" pitchFamily="34" charset="-120"/>
              </a:rPr>
              <a:t>Temukan</a:t>
            </a:r>
            <a:endParaRPr lang="en-US" sz="1500" dirty="0"/>
          </a:p>
        </p:txBody>
      </p:sp>
      <p:sp>
        <p:nvSpPr>
          <p:cNvPr id="11" name="Text 9"/>
          <p:cNvSpPr/>
          <p:nvPr/>
        </p:nvSpPr>
        <p:spPr>
          <a:xfrm>
            <a:off x="2753717" y="2942431"/>
            <a:ext cx="138856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Cari objek di peta, SLD, atau daftar</a:t>
            </a:r>
            <a:endParaRPr lang="en-US" sz="1200" dirty="0"/>
          </a:p>
        </p:txBody>
      </p:sp>
      <p:sp>
        <p:nvSpPr>
          <p:cNvPr id="12" name="Shape 10"/>
          <p:cNvSpPr/>
          <p:nvPr/>
        </p:nvSpPr>
        <p:spPr>
          <a:xfrm>
            <a:off x="4380409" y="1963936"/>
            <a:ext cx="1648817" cy="2012752"/>
          </a:xfrm>
          <a:prstGeom prst="roundRect">
            <a:avLst>
              <a:gd name="adj" fmla="val 5969"/>
            </a:avLst>
          </a:prstGeom>
          <a:solidFill>
            <a:srgbClr val="FFFFFF"/>
          </a:solidFill>
          <a:ln w="6350">
            <a:solidFill>
              <a:srgbClr val="DDE2E8"/>
            </a:solidFill>
            <a:prstDash val="solid"/>
          </a:ln>
        </p:spPr>
      </p:sp>
      <p:sp>
        <p:nvSpPr>
          <p:cNvPr id="13" name="Text 11"/>
          <p:cNvSpPr/>
          <p:nvPr/>
        </p:nvSpPr>
        <p:spPr>
          <a:xfrm>
            <a:off x="4535984" y="2144911"/>
            <a:ext cx="1388467"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45309"/>
                </a:solidFill>
                <a:latin typeface="Space Grotesk" pitchFamily="34" charset="0"/>
                <a:ea typeface="Space Grotesk" pitchFamily="34" charset="-122"/>
                <a:cs typeface="Space Grotesk" pitchFamily="34" charset="-120"/>
              </a:rPr>
              <a:t>03</a:t>
            </a:r>
            <a:endParaRPr lang="en-US" sz="2200" dirty="0"/>
          </a:p>
        </p:txBody>
      </p:sp>
      <p:sp>
        <p:nvSpPr>
          <p:cNvPr id="14" name="Text 12"/>
          <p:cNvSpPr/>
          <p:nvPr/>
        </p:nvSpPr>
        <p:spPr>
          <a:xfrm>
            <a:off x="4535984" y="2624931"/>
            <a:ext cx="138846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E1A2B"/>
                </a:solidFill>
                <a:latin typeface="IBM Plex Sans" pitchFamily="34" charset="0"/>
                <a:ea typeface="IBM Plex Sans" pitchFamily="34" charset="-122"/>
                <a:cs typeface="IBM Plex Sans" pitchFamily="34" charset="-120"/>
              </a:rPr>
              <a:t>Operasikan</a:t>
            </a:r>
            <a:endParaRPr lang="en-US" sz="1500" dirty="0"/>
          </a:p>
        </p:txBody>
      </p:sp>
      <p:sp>
        <p:nvSpPr>
          <p:cNvPr id="15" name="Text 13"/>
          <p:cNvSpPr/>
          <p:nvPr/>
        </p:nvSpPr>
        <p:spPr>
          <a:xfrm>
            <a:off x="4535984" y="2942431"/>
            <a:ext cx="1388467" cy="87868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Buka atau deenergize dari Pusat Operasi / SLD</a:t>
            </a:r>
            <a:endParaRPr lang="en-US" sz="1200" dirty="0"/>
          </a:p>
        </p:txBody>
      </p:sp>
      <p:sp>
        <p:nvSpPr>
          <p:cNvPr id="16" name="Shape 14"/>
          <p:cNvSpPr/>
          <p:nvPr/>
        </p:nvSpPr>
        <p:spPr>
          <a:xfrm>
            <a:off x="6162576" y="1963936"/>
            <a:ext cx="1648916" cy="2012752"/>
          </a:xfrm>
          <a:prstGeom prst="roundRect">
            <a:avLst>
              <a:gd name="adj" fmla="val 5969"/>
            </a:avLst>
          </a:prstGeom>
          <a:solidFill>
            <a:srgbClr val="FFFFFF"/>
          </a:solidFill>
          <a:ln w="6350">
            <a:solidFill>
              <a:srgbClr val="DDE2E8"/>
            </a:solidFill>
            <a:prstDash val="solid"/>
          </a:ln>
        </p:spPr>
      </p:sp>
      <p:sp>
        <p:nvSpPr>
          <p:cNvPr id="17" name="Text 15"/>
          <p:cNvSpPr/>
          <p:nvPr/>
        </p:nvSpPr>
        <p:spPr>
          <a:xfrm>
            <a:off x="6318151" y="2144911"/>
            <a:ext cx="1388566"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45309"/>
                </a:solidFill>
                <a:latin typeface="Space Grotesk" pitchFamily="34" charset="0"/>
                <a:ea typeface="Space Grotesk" pitchFamily="34" charset="-122"/>
                <a:cs typeface="Space Grotesk" pitchFamily="34" charset="-120"/>
              </a:rPr>
              <a:t>04</a:t>
            </a:r>
            <a:endParaRPr lang="en-US" sz="2200" dirty="0"/>
          </a:p>
        </p:txBody>
      </p:sp>
      <p:sp>
        <p:nvSpPr>
          <p:cNvPr id="18" name="Text 16"/>
          <p:cNvSpPr/>
          <p:nvPr/>
        </p:nvSpPr>
        <p:spPr>
          <a:xfrm>
            <a:off x="6318151" y="2624931"/>
            <a:ext cx="138856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E1A2B"/>
                </a:solidFill>
                <a:latin typeface="IBM Plex Sans" pitchFamily="34" charset="0"/>
                <a:ea typeface="IBM Plex Sans" pitchFamily="34" charset="-122"/>
                <a:cs typeface="IBM Plex Sans" pitchFamily="34" charset="-120"/>
              </a:rPr>
              <a:t>Hitung</a:t>
            </a:r>
            <a:endParaRPr lang="en-US" sz="1500" dirty="0"/>
          </a:p>
        </p:txBody>
      </p:sp>
      <p:sp>
        <p:nvSpPr>
          <p:cNvPr id="19" name="Text 17"/>
          <p:cNvSpPr/>
          <p:nvPr/>
        </p:nvSpPr>
        <p:spPr>
          <a:xfrm>
            <a:off x="6318151" y="2942431"/>
            <a:ext cx="1388566" cy="87868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Wilayah padam dihitung; FLISR menyusun pemulihan</a:t>
            </a:r>
            <a:endParaRPr lang="en-US" sz="1200" dirty="0"/>
          </a:p>
        </p:txBody>
      </p:sp>
      <p:sp>
        <p:nvSpPr>
          <p:cNvPr id="20" name="Shape 18"/>
          <p:cNvSpPr/>
          <p:nvPr/>
        </p:nvSpPr>
        <p:spPr>
          <a:xfrm>
            <a:off x="7944842" y="1963936"/>
            <a:ext cx="1648916" cy="2012752"/>
          </a:xfrm>
          <a:prstGeom prst="roundRect">
            <a:avLst>
              <a:gd name="adj" fmla="val 5969"/>
            </a:avLst>
          </a:prstGeom>
          <a:solidFill>
            <a:srgbClr val="FFFFFF"/>
          </a:solidFill>
          <a:ln w="6350">
            <a:solidFill>
              <a:srgbClr val="DDE2E8"/>
            </a:solidFill>
            <a:prstDash val="solid"/>
          </a:ln>
        </p:spPr>
      </p:sp>
      <p:sp>
        <p:nvSpPr>
          <p:cNvPr id="21" name="Text 19"/>
          <p:cNvSpPr/>
          <p:nvPr/>
        </p:nvSpPr>
        <p:spPr>
          <a:xfrm>
            <a:off x="8100417" y="2144911"/>
            <a:ext cx="1388566"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F766E"/>
                </a:solidFill>
                <a:latin typeface="Space Grotesk" pitchFamily="34" charset="0"/>
                <a:ea typeface="Space Grotesk" pitchFamily="34" charset="-122"/>
                <a:cs typeface="Space Grotesk" pitchFamily="34" charset="-120"/>
              </a:rPr>
              <a:t>05</a:t>
            </a:r>
            <a:endParaRPr lang="en-US" sz="2200" dirty="0"/>
          </a:p>
        </p:txBody>
      </p:sp>
      <p:sp>
        <p:nvSpPr>
          <p:cNvPr id="22" name="Text 20"/>
          <p:cNvSpPr/>
          <p:nvPr/>
        </p:nvSpPr>
        <p:spPr>
          <a:xfrm>
            <a:off x="8100417" y="2624931"/>
            <a:ext cx="138856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E1A2B"/>
                </a:solidFill>
                <a:latin typeface="IBM Plex Sans" pitchFamily="34" charset="0"/>
                <a:ea typeface="IBM Plex Sans" pitchFamily="34" charset="-122"/>
                <a:cs typeface="IBM Plex Sans" pitchFamily="34" charset="-120"/>
              </a:rPr>
              <a:t>Pulihkan</a:t>
            </a:r>
            <a:endParaRPr lang="en-US" sz="1500" dirty="0"/>
          </a:p>
        </p:txBody>
      </p:sp>
      <p:sp>
        <p:nvSpPr>
          <p:cNvPr id="23" name="Text 21"/>
          <p:cNvSpPr/>
          <p:nvPr/>
        </p:nvSpPr>
        <p:spPr>
          <a:xfrm>
            <a:off x="8100417" y="2942431"/>
            <a:ext cx="1388566"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Tutup atau energize; durasi tercatat</a:t>
            </a:r>
            <a:endParaRPr lang="en-US" sz="1200" dirty="0"/>
          </a:p>
        </p:txBody>
      </p:sp>
      <p:sp>
        <p:nvSpPr>
          <p:cNvPr id="24" name="Shape 22"/>
          <p:cNvSpPr/>
          <p:nvPr/>
        </p:nvSpPr>
        <p:spPr>
          <a:xfrm>
            <a:off x="9727109" y="1963936"/>
            <a:ext cx="1648817" cy="2012752"/>
          </a:xfrm>
          <a:prstGeom prst="roundRect">
            <a:avLst>
              <a:gd name="adj" fmla="val 5969"/>
            </a:avLst>
          </a:prstGeom>
          <a:solidFill>
            <a:srgbClr val="FFFFFF"/>
          </a:solidFill>
          <a:ln w="6350">
            <a:solidFill>
              <a:srgbClr val="DDE2E8"/>
            </a:solidFill>
            <a:prstDash val="solid"/>
          </a:ln>
        </p:spPr>
      </p:sp>
      <p:sp>
        <p:nvSpPr>
          <p:cNvPr id="25" name="Text 23"/>
          <p:cNvSpPr/>
          <p:nvPr/>
        </p:nvSpPr>
        <p:spPr>
          <a:xfrm>
            <a:off x="9882684" y="2144911"/>
            <a:ext cx="1388467"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F766E"/>
                </a:solidFill>
                <a:latin typeface="Space Grotesk" pitchFamily="34" charset="0"/>
                <a:ea typeface="Space Grotesk" pitchFamily="34" charset="-122"/>
                <a:cs typeface="Space Grotesk" pitchFamily="34" charset="-120"/>
              </a:rPr>
              <a:t>06</a:t>
            </a:r>
            <a:endParaRPr lang="en-US" sz="2200" dirty="0"/>
          </a:p>
        </p:txBody>
      </p:sp>
      <p:sp>
        <p:nvSpPr>
          <p:cNvPr id="26" name="Text 24"/>
          <p:cNvSpPr/>
          <p:nvPr/>
        </p:nvSpPr>
        <p:spPr>
          <a:xfrm>
            <a:off x="9882684" y="2624931"/>
            <a:ext cx="138846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0E1A2B"/>
                </a:solidFill>
                <a:latin typeface="IBM Plex Sans" pitchFamily="34" charset="0"/>
                <a:ea typeface="IBM Plex Sans" pitchFamily="34" charset="-122"/>
                <a:cs typeface="IBM Plex Sans" pitchFamily="34" charset="-120"/>
              </a:rPr>
              <a:t>Laporkan</a:t>
            </a:r>
            <a:endParaRPr lang="en-US" sz="1500" dirty="0"/>
          </a:p>
        </p:txBody>
      </p:sp>
      <p:sp>
        <p:nvSpPr>
          <p:cNvPr id="27" name="Text 25"/>
          <p:cNvSpPr/>
          <p:nvPr/>
        </p:nvSpPr>
        <p:spPr>
          <a:xfrm>
            <a:off x="9882684" y="2942431"/>
            <a:ext cx="1388467"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SAIDI, SAIFI, ENS per periode</a:t>
            </a:r>
            <a:endParaRPr lang="en-US" sz="1200" dirty="0"/>
          </a:p>
        </p:txBody>
      </p:sp>
      <p:sp>
        <p:nvSpPr>
          <p:cNvPr id="28" name="Text 26"/>
          <p:cNvSpPr/>
          <p:nvPr/>
        </p:nvSpPr>
        <p:spPr>
          <a:xfrm>
            <a:off x="812800" y="4335463"/>
            <a:ext cx="981075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Setiap langkah terekam di SOE beserta identitas operator, dan tampil realtime di layar semua dispatcher.</a:t>
            </a:r>
            <a:endParaRPr lang="en-US" sz="1400" dirty="0"/>
          </a:p>
        </p:txBody>
      </p:sp>
      <p:sp>
        <p:nvSpPr>
          <p:cNvPr id="29" name="Text 27"/>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CARA KERJA · KEAMANAN &amp; TATA KELOLA</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Aman dari login sampai manuver</a:t>
            </a:r>
            <a:endParaRPr lang="en-US" sz="3600" dirty="0"/>
          </a:p>
        </p:txBody>
      </p:sp>
      <p:sp>
        <p:nvSpPr>
          <p:cNvPr id="4" name="Shape 2"/>
          <p:cNvSpPr/>
          <p:nvPr/>
        </p:nvSpPr>
        <p:spPr>
          <a:xfrm>
            <a:off x="815975" y="1963936"/>
            <a:ext cx="3397250" cy="1591171"/>
          </a:xfrm>
          <a:prstGeom prst="roundRect">
            <a:avLst>
              <a:gd name="adj" fmla="val 6984"/>
            </a:avLst>
          </a:prstGeom>
          <a:solidFill>
            <a:srgbClr val="FFFFFF"/>
          </a:solidFill>
          <a:ln w="6350">
            <a:solidFill>
              <a:srgbClr val="DDE2E8"/>
            </a:solidFill>
            <a:prstDash val="solid"/>
          </a:ln>
        </p:spPr>
      </p:sp>
      <p:pic>
        <p:nvPicPr>
          <p:cNvPr id="5" name="Image 0" descr="Lock"/>
          <p:cNvPicPr>
            <a:picLocks noChangeAspect="1"/>
          </p:cNvPicPr>
          <p:nvPr/>
        </p:nvPicPr>
        <p:blipFill>
          <a:blip r:embed="rId3"/>
          <a:srcRect/>
          <a:stretch/>
        </p:blipFill>
        <p:spPr>
          <a:xfrm>
            <a:off x="1047750" y="2195711"/>
            <a:ext cx="304800" cy="304800"/>
          </a:xfrm>
          <a:prstGeom prst="rect">
            <a:avLst/>
          </a:prstGeom>
        </p:spPr>
      </p:pic>
      <p:sp>
        <p:nvSpPr>
          <p:cNvPr id="6" name="Text 3"/>
          <p:cNvSpPr/>
          <p:nvPr/>
        </p:nvSpPr>
        <p:spPr>
          <a:xfrm>
            <a:off x="1047750" y="2576711"/>
            <a:ext cx="302171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Sesi aman</a:t>
            </a:r>
            <a:endParaRPr lang="en-US" sz="1600" dirty="0"/>
          </a:p>
        </p:txBody>
      </p:sp>
      <p:sp>
        <p:nvSpPr>
          <p:cNvPr id="7" name="Text 4"/>
          <p:cNvSpPr/>
          <p:nvPr/>
        </p:nvSpPr>
        <p:spPr>
          <a:xfrm>
            <a:off x="1047750" y="2896691"/>
            <a:ext cx="302171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HTTPS wajib, JWT HttpOnly, bcrypt, captcha login.</a:t>
            </a:r>
            <a:endParaRPr lang="en-US" sz="1200" dirty="0"/>
          </a:p>
        </p:txBody>
      </p:sp>
      <p:sp>
        <p:nvSpPr>
          <p:cNvPr id="8" name="Shape 5"/>
          <p:cNvSpPr/>
          <p:nvPr/>
        </p:nvSpPr>
        <p:spPr>
          <a:xfrm>
            <a:off x="4397375" y="1963936"/>
            <a:ext cx="3397250" cy="1591171"/>
          </a:xfrm>
          <a:prstGeom prst="roundRect">
            <a:avLst>
              <a:gd name="adj" fmla="val 6984"/>
            </a:avLst>
          </a:prstGeom>
          <a:solidFill>
            <a:srgbClr val="FFFFFF"/>
          </a:solidFill>
          <a:ln w="6350">
            <a:solidFill>
              <a:srgbClr val="DDE2E8"/>
            </a:solidFill>
            <a:prstDash val="solid"/>
          </a:ln>
        </p:spPr>
      </p:sp>
      <p:pic>
        <p:nvPicPr>
          <p:cNvPr id="9" name="Image 1" descr="Users"/>
          <p:cNvPicPr>
            <a:picLocks noChangeAspect="1"/>
          </p:cNvPicPr>
          <p:nvPr/>
        </p:nvPicPr>
        <p:blipFill>
          <a:blip r:embed="rId4"/>
          <a:srcRect/>
          <a:stretch/>
        </p:blipFill>
        <p:spPr>
          <a:xfrm>
            <a:off x="4629150" y="2195711"/>
            <a:ext cx="304800" cy="304800"/>
          </a:xfrm>
          <a:prstGeom prst="rect">
            <a:avLst/>
          </a:prstGeom>
        </p:spPr>
      </p:pic>
      <p:sp>
        <p:nvSpPr>
          <p:cNvPr id="10" name="Text 6"/>
          <p:cNvSpPr/>
          <p:nvPr/>
        </p:nvSpPr>
        <p:spPr>
          <a:xfrm>
            <a:off x="4629150" y="2576711"/>
            <a:ext cx="302171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Izin granular</a:t>
            </a:r>
            <a:endParaRPr lang="en-US" sz="1600" dirty="0"/>
          </a:p>
        </p:txBody>
      </p:sp>
      <p:sp>
        <p:nvSpPr>
          <p:cNvPr id="11" name="Text 7"/>
          <p:cNvSpPr/>
          <p:nvPr/>
        </p:nvSpPr>
        <p:spPr>
          <a:xfrm>
            <a:off x="4629150" y="2896691"/>
            <a:ext cx="302171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Admin, editor, supervisor, manajer, operator, operator TR, viewer.</a:t>
            </a:r>
            <a:endParaRPr lang="en-US" sz="1200" dirty="0"/>
          </a:p>
        </p:txBody>
      </p:sp>
      <p:sp>
        <p:nvSpPr>
          <p:cNvPr id="12" name="Shape 8"/>
          <p:cNvSpPr/>
          <p:nvPr/>
        </p:nvSpPr>
        <p:spPr>
          <a:xfrm>
            <a:off x="7978775" y="1963936"/>
            <a:ext cx="3397250" cy="1591171"/>
          </a:xfrm>
          <a:prstGeom prst="roundRect">
            <a:avLst>
              <a:gd name="adj" fmla="val 6984"/>
            </a:avLst>
          </a:prstGeom>
          <a:solidFill>
            <a:srgbClr val="FFFFFF"/>
          </a:solidFill>
          <a:ln w="6350">
            <a:solidFill>
              <a:srgbClr val="DDE2E8"/>
            </a:solidFill>
            <a:prstDash val="solid"/>
          </a:ln>
        </p:spPr>
      </p:sp>
      <p:pic>
        <p:nvPicPr>
          <p:cNvPr id="13" name="Image 2" descr="Verified"/>
          <p:cNvPicPr>
            <a:picLocks noChangeAspect="1"/>
          </p:cNvPicPr>
          <p:nvPr/>
        </p:nvPicPr>
        <p:blipFill>
          <a:blip r:embed="rId5"/>
          <a:srcRect/>
          <a:stretch/>
        </p:blipFill>
        <p:spPr>
          <a:xfrm>
            <a:off x="8210550" y="2195711"/>
            <a:ext cx="304800" cy="304800"/>
          </a:xfrm>
          <a:prstGeom prst="rect">
            <a:avLst/>
          </a:prstGeom>
        </p:spPr>
      </p:pic>
      <p:sp>
        <p:nvSpPr>
          <p:cNvPr id="14" name="Text 9"/>
          <p:cNvSpPr/>
          <p:nvPr/>
        </p:nvSpPr>
        <p:spPr>
          <a:xfrm>
            <a:off x="8210550" y="2576711"/>
            <a:ext cx="302171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Dicek di server</a:t>
            </a:r>
            <a:endParaRPr lang="en-US" sz="1600" dirty="0"/>
          </a:p>
        </p:txBody>
      </p:sp>
      <p:sp>
        <p:nvSpPr>
          <p:cNvPr id="15" name="Text 10"/>
          <p:cNvSpPr/>
          <p:nvPr/>
        </p:nvSpPr>
        <p:spPr>
          <a:xfrm>
            <a:off x="8210550" y="2896691"/>
            <a:ext cx="302171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Operasi dan persetujuan diperiksa per izin dan tegangan.</a:t>
            </a:r>
            <a:endParaRPr lang="en-US" sz="1200" dirty="0"/>
          </a:p>
        </p:txBody>
      </p:sp>
      <p:sp>
        <p:nvSpPr>
          <p:cNvPr id="16" name="Shape 11"/>
          <p:cNvSpPr/>
          <p:nvPr/>
        </p:nvSpPr>
        <p:spPr>
          <a:xfrm>
            <a:off x="815975" y="3739257"/>
            <a:ext cx="3397250" cy="1591171"/>
          </a:xfrm>
          <a:prstGeom prst="roundRect">
            <a:avLst>
              <a:gd name="adj" fmla="val 6984"/>
            </a:avLst>
          </a:prstGeom>
          <a:solidFill>
            <a:srgbClr val="FFFFFF"/>
          </a:solidFill>
          <a:ln w="6350">
            <a:solidFill>
              <a:srgbClr val="DDE2E8"/>
            </a:solidFill>
            <a:prstDash val="solid"/>
          </a:ln>
        </p:spPr>
      </p:sp>
      <p:pic>
        <p:nvPicPr>
          <p:cNvPr id="17" name="Image 3" descr="Book"/>
          <p:cNvPicPr>
            <a:picLocks noChangeAspect="1"/>
          </p:cNvPicPr>
          <p:nvPr/>
        </p:nvPicPr>
        <p:blipFill>
          <a:blip r:embed="rId6"/>
          <a:srcRect/>
          <a:stretch/>
        </p:blipFill>
        <p:spPr>
          <a:xfrm>
            <a:off x="1047750" y="3971032"/>
            <a:ext cx="304800" cy="304800"/>
          </a:xfrm>
          <a:prstGeom prst="rect">
            <a:avLst/>
          </a:prstGeom>
        </p:spPr>
      </p:pic>
      <p:sp>
        <p:nvSpPr>
          <p:cNvPr id="18" name="Text 12"/>
          <p:cNvSpPr/>
          <p:nvPr/>
        </p:nvSpPr>
        <p:spPr>
          <a:xfrm>
            <a:off x="1047750" y="4352032"/>
            <a:ext cx="302171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Jejak audit</a:t>
            </a:r>
            <a:endParaRPr lang="en-US" sz="1600" dirty="0"/>
          </a:p>
        </p:txBody>
      </p:sp>
      <p:sp>
        <p:nvSpPr>
          <p:cNvPr id="19" name="Text 13"/>
          <p:cNvSpPr/>
          <p:nvPr/>
        </p:nvSpPr>
        <p:spPr>
          <a:xfrm>
            <a:off x="1047750" y="4672013"/>
            <a:ext cx="302171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Paket perubahan, SOE dengan identitas operator, audit log.</a:t>
            </a:r>
            <a:endParaRPr lang="en-US" sz="1200" dirty="0"/>
          </a:p>
        </p:txBody>
      </p:sp>
      <p:sp>
        <p:nvSpPr>
          <p:cNvPr id="20" name="Shape 14"/>
          <p:cNvSpPr/>
          <p:nvPr/>
        </p:nvSpPr>
        <p:spPr>
          <a:xfrm>
            <a:off x="4397375" y="3739257"/>
            <a:ext cx="3397250" cy="1591171"/>
          </a:xfrm>
          <a:prstGeom prst="roundRect">
            <a:avLst>
              <a:gd name="adj" fmla="val 6984"/>
            </a:avLst>
          </a:prstGeom>
          <a:solidFill>
            <a:srgbClr val="FFFFFF"/>
          </a:solidFill>
          <a:ln w="6350">
            <a:solidFill>
              <a:srgbClr val="DDE2E8"/>
            </a:solidFill>
            <a:prstDash val="solid"/>
          </a:ln>
        </p:spPr>
      </p:sp>
      <p:pic>
        <p:nvPicPr>
          <p:cNvPr id="21" name="Image 4" descr="Key"/>
          <p:cNvPicPr>
            <a:picLocks noChangeAspect="1"/>
          </p:cNvPicPr>
          <p:nvPr/>
        </p:nvPicPr>
        <p:blipFill>
          <a:blip r:embed="rId7"/>
          <a:srcRect/>
          <a:stretch/>
        </p:blipFill>
        <p:spPr>
          <a:xfrm>
            <a:off x="4629150" y="3971032"/>
            <a:ext cx="304800" cy="304800"/>
          </a:xfrm>
          <a:prstGeom prst="rect">
            <a:avLst/>
          </a:prstGeom>
        </p:spPr>
      </p:pic>
      <p:sp>
        <p:nvSpPr>
          <p:cNvPr id="22" name="Text 15"/>
          <p:cNvSpPr/>
          <p:nvPr/>
        </p:nvSpPr>
        <p:spPr>
          <a:xfrm>
            <a:off x="4629150" y="4352032"/>
            <a:ext cx="302171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Rahasia terlindungi</a:t>
            </a:r>
            <a:endParaRPr lang="en-US" sz="1600" dirty="0"/>
          </a:p>
        </p:txBody>
      </p:sp>
      <p:sp>
        <p:nvSpPr>
          <p:cNvPr id="23" name="Text 16"/>
          <p:cNvSpPr/>
          <p:nvPr/>
        </p:nvSpPr>
        <p:spPr>
          <a:xfrm>
            <a:off x="4629150" y="4672013"/>
            <a:ext cx="302171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Kunci API tersimpan, tidak dikirim ke browser.</a:t>
            </a:r>
            <a:endParaRPr lang="en-US" sz="1200" dirty="0"/>
          </a:p>
        </p:txBody>
      </p:sp>
      <p:sp>
        <p:nvSpPr>
          <p:cNvPr id="24" name="Shape 17"/>
          <p:cNvSpPr/>
          <p:nvPr/>
        </p:nvSpPr>
        <p:spPr>
          <a:xfrm>
            <a:off x="7978775" y="3739257"/>
            <a:ext cx="3397250" cy="1591171"/>
          </a:xfrm>
          <a:prstGeom prst="roundRect">
            <a:avLst>
              <a:gd name="adj" fmla="val 6984"/>
            </a:avLst>
          </a:prstGeom>
          <a:solidFill>
            <a:srgbClr val="FFFFFF"/>
          </a:solidFill>
          <a:ln w="6350">
            <a:solidFill>
              <a:srgbClr val="DDE2E8"/>
            </a:solidFill>
            <a:prstDash val="solid"/>
          </a:ln>
        </p:spPr>
      </p:sp>
      <p:pic>
        <p:nvPicPr>
          <p:cNvPr id="25" name="Image 5" descr="Activity"/>
          <p:cNvPicPr>
            <a:picLocks noChangeAspect="1"/>
          </p:cNvPicPr>
          <p:nvPr/>
        </p:nvPicPr>
        <p:blipFill>
          <a:blip r:embed="rId8"/>
          <a:srcRect/>
          <a:stretch/>
        </p:blipFill>
        <p:spPr>
          <a:xfrm>
            <a:off x="8210550" y="3971032"/>
            <a:ext cx="304800" cy="304800"/>
          </a:xfrm>
          <a:prstGeom prst="rect">
            <a:avLst/>
          </a:prstGeom>
        </p:spPr>
      </p:pic>
      <p:sp>
        <p:nvSpPr>
          <p:cNvPr id="26" name="Text 18"/>
          <p:cNvSpPr/>
          <p:nvPr/>
        </p:nvSpPr>
        <p:spPr>
          <a:xfrm>
            <a:off x="8210550" y="4352032"/>
            <a:ext cx="302171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Monitoring sistem</a:t>
            </a:r>
            <a:endParaRPr lang="en-US" sz="1600" dirty="0"/>
          </a:p>
        </p:txBody>
      </p:sp>
      <p:sp>
        <p:nvSpPr>
          <p:cNvPr id="27" name="Text 19"/>
          <p:cNvSpPr/>
          <p:nvPr/>
        </p:nvSpPr>
        <p:spPr>
          <a:xfrm>
            <a:off x="8210550" y="4672013"/>
            <a:ext cx="302171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CPU, memori, database, Redis, Kafka, API.</a:t>
            </a:r>
            <a:endParaRPr lang="en-US" sz="1200" dirty="0"/>
          </a:p>
        </p:txBody>
      </p:sp>
      <p:sp>
        <p:nvSpPr>
          <p:cNvPr id="28" name="Text 20"/>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CARA KERJA · INTEGRASI &amp; AI</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Terbuka untuk sistem lain</a:t>
            </a:r>
            <a:endParaRPr lang="en-US" sz="3600" dirty="0"/>
          </a:p>
        </p:txBody>
      </p:sp>
      <p:sp>
        <p:nvSpPr>
          <p:cNvPr id="4" name="Text 2"/>
          <p:cNvSpPr/>
          <p:nvPr/>
        </p:nvSpPr>
        <p:spPr>
          <a:xfrm>
            <a:off x="812800" y="1909961"/>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AI Assistant</a:t>
            </a:r>
            <a:endParaRPr lang="en-US" sz="1600" dirty="0"/>
          </a:p>
        </p:txBody>
      </p:sp>
      <p:sp>
        <p:nvSpPr>
          <p:cNvPr id="5" name="Text 3"/>
          <p:cNvSpPr/>
          <p:nvPr/>
        </p:nvSpPr>
        <p:spPr>
          <a:xfrm>
            <a:off x="812800" y="2191841"/>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Claude, ChatGPT, Kimi, OpenRouter membaca data jaringan terkini.</a:t>
            </a:r>
            <a:endParaRPr lang="en-US" sz="1200" dirty="0"/>
          </a:p>
        </p:txBody>
      </p:sp>
      <p:sp>
        <p:nvSpPr>
          <p:cNvPr id="6" name="Text 4"/>
          <p:cNvSpPr/>
          <p:nvPr/>
        </p:nvSpPr>
        <p:spPr>
          <a:xfrm>
            <a:off x="812800" y="2796282"/>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SCADA / AMR via Kafka</a:t>
            </a:r>
            <a:endParaRPr lang="en-US" sz="1600" dirty="0"/>
          </a:p>
        </p:txBody>
      </p:sp>
      <p:sp>
        <p:nvSpPr>
          <p:cNvPr id="7" name="Text 5"/>
          <p:cNvSpPr/>
          <p:nvPr/>
        </p:nvSpPr>
        <p:spPr>
          <a:xfrm>
            <a:off x="812800" y="3078163"/>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Load profile 30 menit masuk otomatis; SOE dan perubahan keluar.</a:t>
            </a:r>
            <a:endParaRPr lang="en-US" sz="1200" dirty="0"/>
          </a:p>
        </p:txBody>
      </p:sp>
      <p:sp>
        <p:nvSpPr>
          <p:cNvPr id="8" name="Text 6"/>
          <p:cNvSpPr/>
          <p:nvPr/>
        </p:nvSpPr>
        <p:spPr>
          <a:xfrm>
            <a:off x="812800" y="3682603"/>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Format GIS standar</a:t>
            </a:r>
            <a:endParaRPr lang="en-US" sz="1600" dirty="0"/>
          </a:p>
        </p:txBody>
      </p:sp>
      <p:sp>
        <p:nvSpPr>
          <p:cNvPr id="9" name="Text 7"/>
          <p:cNvSpPr/>
          <p:nvPr/>
        </p:nvSpPr>
        <p:spPr>
          <a:xfrm>
            <a:off x="812800" y="3964484"/>
            <a:ext cx="36626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GeoJSON dua arah dengan QGIS, ekspor File Geodatabase dan CSV.</a:t>
            </a:r>
            <a:endParaRPr lang="en-US" sz="1200" dirty="0"/>
          </a:p>
        </p:txBody>
      </p:sp>
      <p:sp>
        <p:nvSpPr>
          <p:cNvPr id="10" name="Text 8"/>
          <p:cNvSpPr/>
          <p:nvPr/>
        </p:nvSpPr>
        <p:spPr>
          <a:xfrm>
            <a:off x="812800" y="4568924"/>
            <a:ext cx="366268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E1A2B"/>
                </a:solidFill>
                <a:latin typeface="IBM Plex Sans" pitchFamily="34" charset="0"/>
                <a:ea typeface="IBM Plex Sans" pitchFamily="34" charset="-122"/>
                <a:cs typeface="IBM Plex Sans" pitchFamily="34" charset="-120"/>
              </a:rPr>
              <a:t>REST API &amp; WebSocket</a:t>
            </a:r>
            <a:endParaRPr lang="en-US" sz="1600" dirty="0"/>
          </a:p>
        </p:txBody>
      </p:sp>
      <p:sp>
        <p:nvSpPr>
          <p:cNvPr id="11" name="Text 9"/>
          <p:cNvSpPr/>
          <p:nvPr/>
        </p:nvSpPr>
        <p:spPr>
          <a:xfrm>
            <a:off x="812800" y="4850805"/>
            <a:ext cx="36626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Akses terprogram, notifikasi push ke ponsel.</a:t>
            </a:r>
            <a:endParaRPr lang="en-US" sz="1200" dirty="0"/>
          </a:p>
        </p:txBody>
      </p:sp>
      <p:pic>
        <p:nvPicPr>
          <p:cNvPr id="12" name="Image 0" descr="Halaman AI Assistant dengan contoh pertanyaan tentang jaringan"/>
          <p:cNvPicPr>
            <a:picLocks noChangeAspect="1"/>
          </p:cNvPicPr>
          <p:nvPr/>
        </p:nvPicPr>
        <p:blipFill>
          <a:blip r:embed="rId3"/>
          <a:srcRect t="75" b="75"/>
          <a:stretch/>
        </p:blipFill>
        <p:spPr>
          <a:xfrm>
            <a:off x="4781550" y="1916311"/>
            <a:ext cx="6591300" cy="3702050"/>
          </a:xfrm>
          <a:prstGeom prst="roundRect">
            <a:avLst>
              <a:gd name="adj" fmla="val 2573"/>
            </a:avLst>
          </a:prstGeom>
          <a:effectLst>
            <a:outerShdw blurRad="381000" dist="152400" dir="5400000" algn="bl" rotWithShape="0">
              <a:srgbClr val="0E1A2B">
                <a:alpha val="18000"/>
              </a:srgbClr>
            </a:outerShdw>
          </a:effectLst>
        </p:spPr>
      </p:pic>
      <p:sp>
        <p:nvSpPr>
          <p:cNvPr id="13" name="Shape 10"/>
          <p:cNvSpPr/>
          <p:nvPr/>
        </p:nvSpPr>
        <p:spPr>
          <a:xfrm>
            <a:off x="4778375" y="1913136"/>
            <a:ext cx="6597650" cy="3708400"/>
          </a:xfrm>
          <a:prstGeom prst="roundRect">
            <a:avLst>
              <a:gd name="adj" fmla="val 2654"/>
            </a:avLst>
          </a:prstGeom>
          <a:noFill/>
          <a:ln w="6350">
            <a:solidFill>
              <a:srgbClr val="D8DDE3"/>
            </a:solidFill>
            <a:prstDash val="solid"/>
          </a:ln>
        </p:spPr>
      </p:sp>
      <p:sp>
        <p:nvSpPr>
          <p:cNvPr id="14" name="Text 11"/>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6F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2563EB"/>
                </a:solidFill>
                <a:latin typeface="IBM Plex Sans" pitchFamily="34" charset="0"/>
                <a:ea typeface="IBM Plex Sans" pitchFamily="34" charset="-122"/>
                <a:cs typeface="IBM Plex Sans" pitchFamily="34" charset="-120"/>
              </a:rPr>
              <a:t>IMPLEMENTASI</a:t>
            </a:r>
            <a:endParaRPr lang="en-US" sz="1200" dirty="0"/>
          </a:p>
        </p:txBody>
      </p:sp>
      <p:sp>
        <p:nvSpPr>
          <p:cNvPr id="3" name="Text 1"/>
          <p:cNvSpPr/>
          <p:nvPr/>
        </p:nvSpPr>
        <p:spPr>
          <a:xfrm>
            <a:off x="812800" y="1102320"/>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dirty="0">
                <a:solidFill>
                  <a:srgbClr val="0E1A2B"/>
                </a:solidFill>
                <a:latin typeface="Space Grotesk" pitchFamily="34" charset="0"/>
                <a:ea typeface="Space Grotesk" pitchFamily="34" charset="-122"/>
                <a:cs typeface="Space Grotesk" pitchFamily="34" charset="-120"/>
              </a:rPr>
              <a:t>Empat tahap menuju go-live</a:t>
            </a:r>
            <a:endParaRPr lang="en-US" sz="3600" dirty="0"/>
          </a:p>
        </p:txBody>
      </p:sp>
      <p:sp>
        <p:nvSpPr>
          <p:cNvPr id="4" name="Shape 2"/>
          <p:cNvSpPr/>
          <p:nvPr/>
        </p:nvSpPr>
        <p:spPr>
          <a:xfrm>
            <a:off x="815975" y="1963936"/>
            <a:ext cx="2501900" cy="1875631"/>
          </a:xfrm>
          <a:prstGeom prst="roundRect">
            <a:avLst>
              <a:gd name="adj" fmla="val 5925"/>
            </a:avLst>
          </a:prstGeom>
          <a:solidFill>
            <a:srgbClr val="FFFFFF"/>
          </a:solidFill>
          <a:ln w="6350">
            <a:solidFill>
              <a:srgbClr val="DDE2E8"/>
            </a:solidFill>
            <a:prstDash val="solid"/>
          </a:ln>
        </p:spPr>
      </p:sp>
      <p:sp>
        <p:nvSpPr>
          <p:cNvPr id="5" name="Shape 3"/>
          <p:cNvSpPr/>
          <p:nvPr/>
        </p:nvSpPr>
        <p:spPr>
          <a:xfrm>
            <a:off x="1022350" y="2195711"/>
            <a:ext cx="1714401" cy="289520"/>
          </a:xfrm>
          <a:prstGeom prst="roundRect">
            <a:avLst>
              <a:gd name="adj" fmla="val 50000"/>
            </a:avLst>
          </a:prstGeom>
          <a:solidFill>
            <a:srgbClr val="E7EEFD"/>
          </a:solidFill>
          <a:ln/>
        </p:spPr>
      </p:sp>
      <p:sp>
        <p:nvSpPr>
          <p:cNvPr id="6" name="Text 4"/>
          <p:cNvSpPr/>
          <p:nvPr/>
        </p:nvSpPr>
        <p:spPr>
          <a:xfrm>
            <a:off x="1123950" y="2233811"/>
            <a:ext cx="1562001"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Tahap 1 · [__ minggu]</a:t>
            </a:r>
            <a:endParaRPr lang="en-US" sz="1200" dirty="0"/>
          </a:p>
        </p:txBody>
      </p:sp>
      <p:sp>
        <p:nvSpPr>
          <p:cNvPr id="7" name="Text 5"/>
          <p:cNvSpPr/>
          <p:nvPr/>
        </p:nvSpPr>
        <p:spPr>
          <a:xfrm>
            <a:off x="1022350" y="2574131"/>
            <a:ext cx="21518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Instalasi</a:t>
            </a:r>
            <a:endParaRPr lang="en-US" sz="2000" dirty="0"/>
          </a:p>
        </p:txBody>
      </p:sp>
      <p:sp>
        <p:nvSpPr>
          <p:cNvPr id="8" name="Text 6"/>
          <p:cNvSpPr/>
          <p:nvPr/>
        </p:nvSpPr>
        <p:spPr>
          <a:xfrm>
            <a:off x="1022350" y="2967831"/>
            <a:ext cx="2151825"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Server, Docker Compose, HTTPS, identitas aplikasi, SCADA/AMR.</a:t>
            </a:r>
            <a:endParaRPr lang="en-US" sz="1200" dirty="0"/>
          </a:p>
        </p:txBody>
      </p:sp>
      <p:sp>
        <p:nvSpPr>
          <p:cNvPr id="9" name="Shape 7"/>
          <p:cNvSpPr/>
          <p:nvPr/>
        </p:nvSpPr>
        <p:spPr>
          <a:xfrm>
            <a:off x="3502025" y="1963936"/>
            <a:ext cx="2501900" cy="1875631"/>
          </a:xfrm>
          <a:prstGeom prst="roundRect">
            <a:avLst>
              <a:gd name="adj" fmla="val 5925"/>
            </a:avLst>
          </a:prstGeom>
          <a:solidFill>
            <a:srgbClr val="FFFFFF"/>
          </a:solidFill>
          <a:ln w="6350">
            <a:solidFill>
              <a:srgbClr val="DDE2E8"/>
            </a:solidFill>
            <a:prstDash val="solid"/>
          </a:ln>
        </p:spPr>
      </p:sp>
      <p:sp>
        <p:nvSpPr>
          <p:cNvPr id="10" name="Shape 8"/>
          <p:cNvSpPr/>
          <p:nvPr/>
        </p:nvSpPr>
        <p:spPr>
          <a:xfrm>
            <a:off x="3708400" y="2195711"/>
            <a:ext cx="1714401" cy="289520"/>
          </a:xfrm>
          <a:prstGeom prst="roundRect">
            <a:avLst>
              <a:gd name="adj" fmla="val 50000"/>
            </a:avLst>
          </a:prstGeom>
          <a:solidFill>
            <a:srgbClr val="E7EEFD"/>
          </a:solidFill>
          <a:ln/>
        </p:spPr>
      </p:sp>
      <p:sp>
        <p:nvSpPr>
          <p:cNvPr id="11" name="Text 9"/>
          <p:cNvSpPr/>
          <p:nvPr/>
        </p:nvSpPr>
        <p:spPr>
          <a:xfrm>
            <a:off x="3810000" y="2233811"/>
            <a:ext cx="1562001"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4ED8"/>
                </a:solidFill>
                <a:latin typeface="IBM Plex Sans" pitchFamily="34" charset="0"/>
                <a:ea typeface="IBM Plex Sans" pitchFamily="34" charset="-122"/>
                <a:cs typeface="IBM Plex Sans" pitchFamily="34" charset="-120"/>
              </a:rPr>
              <a:t>Tahap 2 · [__ minggu]</a:t>
            </a:r>
            <a:endParaRPr lang="en-US" sz="1200" dirty="0"/>
          </a:p>
        </p:txBody>
      </p:sp>
      <p:sp>
        <p:nvSpPr>
          <p:cNvPr id="12" name="Text 10"/>
          <p:cNvSpPr/>
          <p:nvPr/>
        </p:nvSpPr>
        <p:spPr>
          <a:xfrm>
            <a:off x="3708400" y="2574131"/>
            <a:ext cx="21518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Migrasi data</a:t>
            </a:r>
            <a:endParaRPr lang="en-US" sz="2000" dirty="0"/>
          </a:p>
        </p:txBody>
      </p:sp>
      <p:sp>
        <p:nvSpPr>
          <p:cNvPr id="13" name="Text 11"/>
          <p:cNvSpPr/>
          <p:nvPr/>
        </p:nvSpPr>
        <p:spPr>
          <a:xfrm>
            <a:off x="3708400" y="2967831"/>
            <a:ext cx="2151825"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Impor aset GIS, atribut SSOT, unit &amp; wilayah kerja, topologi.</a:t>
            </a:r>
            <a:endParaRPr lang="en-US" sz="1200" dirty="0"/>
          </a:p>
        </p:txBody>
      </p:sp>
      <p:sp>
        <p:nvSpPr>
          <p:cNvPr id="14" name="Shape 12"/>
          <p:cNvSpPr/>
          <p:nvPr/>
        </p:nvSpPr>
        <p:spPr>
          <a:xfrm>
            <a:off x="6188075" y="1963936"/>
            <a:ext cx="2501900" cy="1875631"/>
          </a:xfrm>
          <a:prstGeom prst="roundRect">
            <a:avLst>
              <a:gd name="adj" fmla="val 5925"/>
            </a:avLst>
          </a:prstGeom>
          <a:solidFill>
            <a:srgbClr val="FFFFFF"/>
          </a:solidFill>
          <a:ln w="6350">
            <a:solidFill>
              <a:srgbClr val="DDE2E8"/>
            </a:solidFill>
            <a:prstDash val="solid"/>
          </a:ln>
        </p:spPr>
      </p:sp>
      <p:sp>
        <p:nvSpPr>
          <p:cNvPr id="15" name="Shape 13"/>
          <p:cNvSpPr/>
          <p:nvPr/>
        </p:nvSpPr>
        <p:spPr>
          <a:xfrm>
            <a:off x="6394450" y="2195711"/>
            <a:ext cx="1714401" cy="289520"/>
          </a:xfrm>
          <a:prstGeom prst="roundRect">
            <a:avLst>
              <a:gd name="adj" fmla="val 50000"/>
            </a:avLst>
          </a:prstGeom>
          <a:solidFill>
            <a:srgbClr val="FDF1DD"/>
          </a:solidFill>
          <a:ln/>
        </p:spPr>
      </p:sp>
      <p:sp>
        <p:nvSpPr>
          <p:cNvPr id="16" name="Text 14"/>
          <p:cNvSpPr/>
          <p:nvPr/>
        </p:nvSpPr>
        <p:spPr>
          <a:xfrm>
            <a:off x="6496050" y="2233811"/>
            <a:ext cx="1562001"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B45309"/>
                </a:solidFill>
                <a:latin typeface="IBM Plex Sans" pitchFamily="34" charset="0"/>
                <a:ea typeface="IBM Plex Sans" pitchFamily="34" charset="-122"/>
                <a:cs typeface="IBM Plex Sans" pitchFamily="34" charset="-120"/>
              </a:rPr>
              <a:t>Tahap 3 · [__ minggu]</a:t>
            </a:r>
            <a:endParaRPr lang="en-US" sz="1200" dirty="0"/>
          </a:p>
        </p:txBody>
      </p:sp>
      <p:sp>
        <p:nvSpPr>
          <p:cNvPr id="17" name="Text 15"/>
          <p:cNvSpPr/>
          <p:nvPr/>
        </p:nvSpPr>
        <p:spPr>
          <a:xfrm>
            <a:off x="6394450" y="2574131"/>
            <a:ext cx="21518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Pelatihan</a:t>
            </a:r>
            <a:endParaRPr lang="en-US" sz="2000" dirty="0"/>
          </a:p>
        </p:txBody>
      </p:sp>
      <p:sp>
        <p:nvSpPr>
          <p:cNvPr id="18" name="Text 16"/>
          <p:cNvSpPr/>
          <p:nvPr/>
        </p:nvSpPr>
        <p:spPr>
          <a:xfrm>
            <a:off x="6394450" y="2967831"/>
            <a:ext cx="2151825"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Editor, supervisor, operator, petugas lapangan, admin.</a:t>
            </a:r>
            <a:endParaRPr lang="en-US" sz="1200" dirty="0"/>
          </a:p>
        </p:txBody>
      </p:sp>
      <p:sp>
        <p:nvSpPr>
          <p:cNvPr id="19" name="Shape 17"/>
          <p:cNvSpPr/>
          <p:nvPr/>
        </p:nvSpPr>
        <p:spPr>
          <a:xfrm>
            <a:off x="8874125" y="1963936"/>
            <a:ext cx="2501900" cy="1875631"/>
          </a:xfrm>
          <a:prstGeom prst="roundRect">
            <a:avLst>
              <a:gd name="adj" fmla="val 5925"/>
            </a:avLst>
          </a:prstGeom>
          <a:solidFill>
            <a:srgbClr val="FFFFFF"/>
          </a:solidFill>
          <a:ln w="6350">
            <a:solidFill>
              <a:srgbClr val="DDE2E8"/>
            </a:solidFill>
            <a:prstDash val="solid"/>
          </a:ln>
        </p:spPr>
      </p:sp>
      <p:sp>
        <p:nvSpPr>
          <p:cNvPr id="20" name="Shape 18"/>
          <p:cNvSpPr/>
          <p:nvPr/>
        </p:nvSpPr>
        <p:spPr>
          <a:xfrm>
            <a:off x="9080500" y="2195711"/>
            <a:ext cx="1714401" cy="289520"/>
          </a:xfrm>
          <a:prstGeom prst="roundRect">
            <a:avLst>
              <a:gd name="adj" fmla="val 50000"/>
            </a:avLst>
          </a:prstGeom>
          <a:solidFill>
            <a:srgbClr val="FDF1DD"/>
          </a:solidFill>
          <a:ln/>
        </p:spPr>
      </p:sp>
      <p:sp>
        <p:nvSpPr>
          <p:cNvPr id="21" name="Text 19"/>
          <p:cNvSpPr/>
          <p:nvPr/>
        </p:nvSpPr>
        <p:spPr>
          <a:xfrm>
            <a:off x="9182100" y="2233811"/>
            <a:ext cx="1562001"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B45309"/>
                </a:solidFill>
                <a:latin typeface="IBM Plex Sans" pitchFamily="34" charset="0"/>
                <a:ea typeface="IBM Plex Sans" pitchFamily="34" charset="-122"/>
                <a:cs typeface="IBM Plex Sans" pitchFamily="34" charset="-120"/>
              </a:rPr>
              <a:t>Tahap 4 · [__ minggu]</a:t>
            </a:r>
            <a:endParaRPr lang="en-US" sz="1200" dirty="0"/>
          </a:p>
        </p:txBody>
      </p:sp>
      <p:sp>
        <p:nvSpPr>
          <p:cNvPr id="22" name="Text 20"/>
          <p:cNvSpPr/>
          <p:nvPr/>
        </p:nvSpPr>
        <p:spPr>
          <a:xfrm>
            <a:off x="9080500" y="2574131"/>
            <a:ext cx="2151825"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0E1A2B"/>
                </a:solidFill>
                <a:latin typeface="Space Grotesk" pitchFamily="34" charset="0"/>
                <a:ea typeface="Space Grotesk" pitchFamily="34" charset="-122"/>
                <a:cs typeface="Space Grotesk" pitchFamily="34" charset="-120"/>
              </a:rPr>
              <a:t>Go-live</a:t>
            </a:r>
            <a:endParaRPr lang="en-US" sz="2000" dirty="0"/>
          </a:p>
        </p:txBody>
      </p:sp>
      <p:sp>
        <p:nvSpPr>
          <p:cNvPr id="23" name="Text 21"/>
          <p:cNvSpPr/>
          <p:nvPr/>
        </p:nvSpPr>
        <p:spPr>
          <a:xfrm>
            <a:off x="9080500" y="2967831"/>
            <a:ext cx="2151825"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Operasi paralel, pendampingan, evaluasi keandalan.</a:t>
            </a:r>
            <a:endParaRPr lang="en-US" sz="1200" dirty="0"/>
          </a:p>
        </p:txBody>
      </p:sp>
      <p:sp>
        <p:nvSpPr>
          <p:cNvPr id="24" name="Text 22"/>
          <p:cNvSpPr/>
          <p:nvPr/>
        </p:nvSpPr>
        <p:spPr>
          <a:xfrm>
            <a:off x="812800" y="62382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686"/>
                </a:solidFill>
                <a:latin typeface="IBM Plex Sans" pitchFamily="34" charset="0"/>
                <a:ea typeface="IBM Plex Sans" pitchFamily="34" charset="-122"/>
                <a:cs typeface="IBM Plex Sans" pitchFamily="34" charset="-120"/>
              </a:rPr>
              <a:t>QuadranGIS · 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E1A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B3A63"/>
              </a:gs>
              <a:gs pos="60000">
                <a:srgbClr val="0E1A2B"/>
              </a:gs>
            </a:gsLst>
            <a:path path="circle">
              <a:fillToRect l="80000" t="70000" r="20000" b="30000"/>
            </a:path>
          </a:gradFill>
          <a:ln/>
        </p:spPr>
      </p:sp>
      <p:sp>
        <p:nvSpPr>
          <p:cNvPr id="3" name="Text 1"/>
          <p:cNvSpPr/>
          <p:nvPr/>
        </p:nvSpPr>
        <p:spPr>
          <a:xfrm>
            <a:off x="812800" y="1809849"/>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200" dirty="0">
                <a:solidFill>
                  <a:srgbClr val="F2A93B"/>
                </a:solidFill>
                <a:latin typeface="IBM Plex Sans" pitchFamily="34" charset="0"/>
                <a:ea typeface="IBM Plex Sans" pitchFamily="34" charset="-122"/>
                <a:cs typeface="IBM Plex Sans" pitchFamily="34" charset="-120"/>
              </a:rPr>
              <a:t>QUADRANGIS</a:t>
            </a:r>
            <a:endParaRPr lang="en-US" sz="1200" dirty="0"/>
          </a:p>
        </p:txBody>
      </p:sp>
      <p:sp>
        <p:nvSpPr>
          <p:cNvPr id="4" name="Text 2"/>
          <p:cNvSpPr/>
          <p:nvPr/>
        </p:nvSpPr>
        <p:spPr>
          <a:xfrm>
            <a:off x="812800" y="2277170"/>
            <a:ext cx="9156700" cy="914400"/>
          </a:xfrm>
          <a:prstGeom prst="rect">
            <a:avLst/>
          </a:prstGeom>
          <a:noFill/>
          <a:ln/>
        </p:spPr>
        <p:txBody>
          <a:bodyPr wrap="square" lIns="0" tIns="0" rIns="0" bIns="0" rtlCol="0" anchor="t">
            <a:normAutofit/>
          </a:bodyPr>
          <a:lstStyle/>
          <a:p>
            <a:pPr marL="0" indent="0" algn="l">
              <a:lnSpc>
                <a:spcPts val="7000"/>
              </a:lnSpc>
              <a:buNone/>
            </a:pPr>
            <a:r>
              <a:rPr lang="en-US" sz="7000" b="1" dirty="0">
                <a:solidFill>
                  <a:srgbClr val="F5F6F2"/>
                </a:solidFill>
                <a:latin typeface="Space Grotesk" pitchFamily="34" charset="0"/>
                <a:ea typeface="Space Grotesk" pitchFamily="34" charset="-122"/>
                <a:cs typeface="Space Grotesk" pitchFamily="34" charset="-120"/>
              </a:rPr>
              <a:t>Terima kasih</a:t>
            </a:r>
            <a:endParaRPr lang="en-US" sz="7000" dirty="0"/>
          </a:p>
        </p:txBody>
      </p:sp>
      <p:sp>
        <p:nvSpPr>
          <p:cNvPr id="5" name="Text 3"/>
          <p:cNvSpPr/>
          <p:nvPr/>
        </p:nvSpPr>
        <p:spPr>
          <a:xfrm>
            <a:off x="812800" y="3420170"/>
            <a:ext cx="8502650" cy="751681"/>
          </a:xfrm>
          <a:prstGeom prst="rect">
            <a:avLst/>
          </a:prstGeom>
          <a:noFill/>
          <a:ln/>
        </p:spPr>
        <p:txBody>
          <a:bodyPr wrap="square" lIns="0" tIns="0" rIns="0" bIns="0" rtlCol="0" anchor="t">
            <a:normAutofit/>
          </a:bodyPr>
          <a:lstStyle/>
          <a:p>
            <a:pPr marL="0" indent="0" algn="l">
              <a:lnSpc>
                <a:spcPts val="2860"/>
              </a:lnSpc>
              <a:buNone/>
            </a:pPr>
            <a:r>
              <a:rPr lang="en-US" sz="2200" dirty="0">
                <a:solidFill>
                  <a:srgbClr val="BFCBDA"/>
                </a:solidFill>
                <a:latin typeface="IBM Plex Sans" pitchFamily="34" charset="0"/>
                <a:ea typeface="IBM Plex Sans" pitchFamily="34" charset="-122"/>
                <a:cs typeface="IBM Plex Sans" pitchFamily="34" charset="-120"/>
              </a:rPr>
              <a:t>Mari lanjutkan dengan demo langsung dan diskusi kebutuhan unit Anda.</a:t>
            </a:r>
            <a:endParaRPr lang="en-US" sz="2200" dirty="0"/>
          </a:p>
        </p:txBody>
      </p:sp>
      <p:sp>
        <p:nvSpPr>
          <p:cNvPr id="6" name="Shape 4"/>
          <p:cNvSpPr/>
          <p:nvPr/>
        </p:nvSpPr>
        <p:spPr>
          <a:xfrm>
            <a:off x="825500" y="4400451"/>
            <a:ext cx="0" cy="647601"/>
          </a:xfrm>
          <a:prstGeom prst="line">
            <a:avLst/>
          </a:prstGeom>
          <a:noFill/>
          <a:ln w="25400">
            <a:solidFill>
              <a:srgbClr val="3B82F6"/>
            </a:solidFill>
            <a:prstDash val="solid"/>
          </a:ln>
        </p:spPr>
      </p:sp>
      <p:sp>
        <p:nvSpPr>
          <p:cNvPr id="7" name="Text 5"/>
          <p:cNvSpPr/>
          <p:nvPr/>
        </p:nvSpPr>
        <p:spPr>
          <a:xfrm>
            <a:off x="1016000" y="4425851"/>
            <a:ext cx="10674096"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5F6F2"/>
                </a:solidFill>
                <a:latin typeface="IBM Plex Sans" pitchFamily="34" charset="0"/>
                <a:ea typeface="IBM Plex Sans" pitchFamily="34" charset="-122"/>
                <a:cs typeface="IBM Plex Sans" pitchFamily="34" charset="-120"/>
              </a:rPr>
              <a:t>PT. </a:t>
            </a:r>
            <a:r>
              <a:rPr lang="en-US" sz="1600" b="1" dirty="0" err="1">
                <a:solidFill>
                  <a:srgbClr val="F5F6F2"/>
                </a:solidFill>
                <a:latin typeface="IBM Plex Sans" pitchFamily="34" charset="0"/>
                <a:ea typeface="IBM Plex Sans" pitchFamily="34" charset="-122"/>
                <a:cs typeface="IBM Plex Sans" pitchFamily="34" charset="-120"/>
              </a:rPr>
              <a:t>Quadran</a:t>
            </a:r>
            <a:r>
              <a:rPr lang="en-US" sz="1600" b="1" dirty="0">
                <a:solidFill>
                  <a:srgbClr val="F5F6F2"/>
                </a:solidFill>
                <a:latin typeface="IBM Plex Sans" pitchFamily="34" charset="0"/>
                <a:ea typeface="IBM Plex Sans" pitchFamily="34" charset="-122"/>
                <a:cs typeface="IBM Plex Sans" pitchFamily="34" charset="-120"/>
              </a:rPr>
              <a:t> </a:t>
            </a:r>
            <a:r>
              <a:rPr lang="en-US" sz="1600" b="1" dirty="0" err="1">
                <a:solidFill>
                  <a:srgbClr val="F5F6F2"/>
                </a:solidFill>
                <a:latin typeface="IBM Plex Sans" pitchFamily="34" charset="0"/>
                <a:ea typeface="IBM Plex Sans" pitchFamily="34" charset="-122"/>
                <a:cs typeface="IBM Plex Sans" pitchFamily="34" charset="-120"/>
              </a:rPr>
              <a:t>Inovasi</a:t>
            </a:r>
            <a:r>
              <a:rPr lang="en-US" sz="1600" b="1" dirty="0">
                <a:solidFill>
                  <a:srgbClr val="F5F6F2"/>
                </a:solidFill>
                <a:latin typeface="IBM Plex Sans" pitchFamily="34" charset="0"/>
                <a:ea typeface="IBM Plex Sans" pitchFamily="34" charset="-122"/>
                <a:cs typeface="IBM Plex Sans" pitchFamily="34" charset="-120"/>
              </a:rPr>
              <a:t> </a:t>
            </a:r>
            <a:r>
              <a:rPr lang="en-US" sz="1600" b="1" dirty="0" err="1">
                <a:solidFill>
                  <a:srgbClr val="F5F6F2"/>
                </a:solidFill>
                <a:latin typeface="IBM Plex Sans" pitchFamily="34" charset="0"/>
                <a:ea typeface="IBM Plex Sans" pitchFamily="34" charset="-122"/>
                <a:cs typeface="IBM Plex Sans" pitchFamily="34" charset="-120"/>
              </a:rPr>
              <a:t>Karya</a:t>
            </a:r>
            <a:r>
              <a:rPr lang="en-US" sz="1600" b="1" dirty="0">
                <a:solidFill>
                  <a:srgbClr val="F5F6F2"/>
                </a:solidFill>
                <a:latin typeface="IBM Plex Sans" pitchFamily="34" charset="0"/>
                <a:ea typeface="IBM Plex Sans" pitchFamily="34" charset="-122"/>
                <a:cs typeface="IBM Plex Sans" pitchFamily="34" charset="-120"/>
              </a:rPr>
              <a:t> Bersama</a:t>
            </a:r>
            <a:endParaRPr lang="en-US" sz="1600" dirty="0"/>
          </a:p>
        </p:txBody>
      </p:sp>
      <p:sp>
        <p:nvSpPr>
          <p:cNvPr id="8" name="Text 6"/>
          <p:cNvSpPr/>
          <p:nvPr/>
        </p:nvSpPr>
        <p:spPr>
          <a:xfrm>
            <a:off x="1016000" y="4773811"/>
            <a:ext cx="10674096"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FCBDA"/>
                </a:solidFill>
                <a:latin typeface="IBM Plex Sans" pitchFamily="34" charset="0"/>
              </a:rPr>
              <a:t>quadraninovasi@gmail.com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3310</Words>
  <Application>Microsoft Office PowerPoint</Application>
  <PresentationFormat>Widescreen</PresentationFormat>
  <Paragraphs>435</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IBM Plex Sans</vt:lpstr>
      <vt:lpstr>Space Grotesk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Presentasi QuadranGIS</dc:title>
  <dc:subject>PptxGenJS Presentation</dc:subject>
  <dc:creator>PptxGenJS</dc:creator>
  <cp:lastModifiedBy>hendrapoernama hendrapoernama</cp:lastModifiedBy>
  <cp:revision>5</cp:revision>
  <dcterms:created xsi:type="dcterms:W3CDTF">2026-09-27T06:22:02Z</dcterms:created>
  <dcterms:modified xsi:type="dcterms:W3CDTF">2026-09-27T06:28:09Z</dcterms:modified>
</cp:coreProperties>
</file>