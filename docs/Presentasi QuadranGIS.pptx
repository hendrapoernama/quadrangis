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3434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QuadranGIS adalah aplikasi GIS jaringan distribusi listrik berbasis web: satu sumber data untuk membangun aset, memantau nyala/padam secara realtime, mengoperasikan jaringan, dan mengukur keandalan.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masalah yang sering ditemui unit distribusi: data aset tidak terhubung, informasi padam terlambat, rekap keandalan manual, dan SLD yang cepat usang.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utama: peta, monitoring, SLD, dan aliran daya membaca data dan graf topologi yang sama, sehingga selalu sinkron.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Angka-angka ini hasil pengujian pada basis data simulasi (2,7 juta node, 2 juta pelanggan). Kinerja di lingkungan produksi bergantung pada spesifikasi server.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 peta: pengguna cukup menggambar; sistem membentuk topologi, memisah garis, dan membuat junction. Data dapat disunting di QGIS lalu diimpor kembali dengan pratinjau perubahan.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Gardu (GI, GH, GD) dapat digambar sebagai titik atau poligon bangunan. Klik di atas garis memisah garis itu; klik di atas junction mengubahnya menjadi tipe yang dipilih. Graf topologi dan status nyala/padam langsung diperbarui, dan objek baru tampil di layar semua pengguna.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 vertex: seret vertex untuk menggeser, seret titik tengah untuk menambah vertex, klik kanan vertex untuk menghapus; perubahan tersimpan saat dilepas. Status nyala/padam objek jaringan tidak diubah lewat formulir, tetapi lewat operasi buka/tutup agar tercatat sebagai kejadian dan SOE.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Penghapusan selalu melalui dialog konfirmasi yang menjelaskan dampaknya. Menghapus garis tidak menghapus titik ujungnya, tetapi junction yang tidak lagi terhubung dibersihkan otomatis. Pelanggan di hilir objek yang dihapus menjadi padam, dan perubahan itu tampil realtime di Monitoring.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Cocok untuk pembaruan data dalam jumlah besar dari survei lapangan. Satu impor maksimal 5.000 perubahan. Ujung garis mengikuti topologi aplikasi; objek yang sudah ada dikenali lewat qgis_id sehingga tidak diduplikasi. Penghapusan sengaja tidak diambil dari berkas impor, supaya data tidak hilang karena kesalahan pemotongan area.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Klik widget rekap (GI, penyulang, gardu, pelanggan) untuk langsung membuka daftar terkait. Hijau berarti nyala, merah padam, lingkaran merah switch terbuka.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peran: Operator bisa semua operasi TM dan TR; Operator TR (ULP) hanya switch jurusan dan jaringan TR. Membuka tanpa kategori ditolak; menutup otomatis mengikuti kategori kejadian.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Periode hari ini, bulan ini, atau tahun ini. Tarif per kWh, faktor beban, cos φ, dan batas padam momentary diatur di Konfigurasi. Padam momentary tidak masuk SAIDI/SAIFI tetapi tetap masuk ENS.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SOE juga dikirim ke Kafka sehingga dapat diteruskan ke sistem lain (misalnya SCADA atau pelaporan).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SLD disusun dari topologi normal (posisi normal switch), jadi bentuknya stabil; warna dan posisi switch mengikuti kondisi saat ini. Tie normally-open ke penyulang lain digambar putus-putus.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Aliran daya membantu perencanaan: menemukan tegangan jatuh dan beban lebih, lalu menyusun rencana manuver, uprating, atau gardu sisip.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Overlay UP3 memakai pewarnaan peta 5 warna: UP3 yang bersebelahan selalu berbeda warna. Warna tidak mewakili nilai apa pun.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Inti kecepatan: graf topologi di memori backend. Manuver hanya menghitung ulang wilayah terdampak. Trace, rekap monitoring, SLD, dan aliran daya membaca graf yang sama.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operasi harian: biru = temukan, amber = tindakan operator, hijau toska = pemulihan dan laporan. Proses bisnis lain (pemeliharaan data, perencanaan, tata kelola akses) ada di menu Dokumentasi.</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Perubahan peran berlaku paling lambat 30 detik tanpa login ulang. Operator TR hanya bisa mengoperasikan jaringan tegangan rendah.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Assistant bersifat opsional; kunci API diisi admin. Jawaban AI perlu diverifikasi sebelum dipakai untuk keputusan operasional.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Durasi tiap tahap diisi sesuai ruang lingkup (jumlah UP3, volume data aset, jumlah pengguna). Aplikasi sudah menyediakan menu Dokumentasi berisi buku panduan dengan tangkapan layar setiap fitur.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Tawarkan demo langsung: manuver recloser dari SLD dan lihat peta, SOE, serta SAIDI berubah bersamaan.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B3A63"/>
              </a:gs>
              <a:gs pos="60000">
                <a:srgbClr val="0E1A2B"/>
              </a:gs>
            </a:gsLst>
            <a:path path="circle">
              <a:fillToRect l="85000" t="30000" r="15000" b="70000"/>
            </a:path>
          </a:gradFill>
          <a:ln/>
        </p:spPr>
      </p:sp>
      <p:pic>
        <p:nvPicPr>
          <p:cNvPr id="3" name="Image 0" descr="Tampilan Monitoring Kelistrikan QuadranGIS"/>
          <p:cNvPicPr>
            <a:picLocks noChangeAspect="1"/>
          </p:cNvPicPr>
          <p:nvPr/>
        </p:nvPicPr>
        <p:blipFill>
          <a:blip r:embed="rId3"/>
          <a:srcRect t="130" b="130"/>
          <a:stretch/>
        </p:blipFill>
        <p:spPr>
          <a:xfrm>
            <a:off x="6362700" y="1714500"/>
            <a:ext cx="5410200" cy="3035300"/>
          </a:xfrm>
          <a:prstGeom prst="roundRect">
            <a:avLst>
              <a:gd name="adj" fmla="val 3766"/>
            </a:avLst>
          </a:prstGeom>
          <a:effectLst>
            <a:outerShdw blurRad="762000" dist="254000" dir="5400000" algn="bl" rotWithShape="0">
              <a:srgbClr val="000000">
                <a:alpha val="55000"/>
              </a:srgbClr>
            </a:outerShdw>
          </a:effectLst>
        </p:spPr>
      </p:pic>
      <p:sp>
        <p:nvSpPr>
          <p:cNvPr id="4" name="Shape 1"/>
          <p:cNvSpPr/>
          <p:nvPr/>
        </p:nvSpPr>
        <p:spPr>
          <a:xfrm>
            <a:off x="6356350" y="1708150"/>
            <a:ext cx="5422900" cy="3048000"/>
          </a:xfrm>
          <a:prstGeom prst="roundRect">
            <a:avLst>
              <a:gd name="adj" fmla="val 3958"/>
            </a:avLst>
          </a:prstGeom>
          <a:noFill/>
          <a:ln w="12700">
            <a:solidFill>
              <a:srgbClr val="2B4A73"/>
            </a:solidFill>
            <a:prstDash val="solid"/>
          </a:ln>
        </p:spPr>
      </p:sp>
      <p:sp>
        <p:nvSpPr>
          <p:cNvPr id="5" name="Text 2"/>
          <p:cNvSpPr/>
          <p:nvPr/>
        </p:nvSpPr>
        <p:spPr>
          <a:xfrm>
            <a:off x="812800" y="1065709"/>
            <a:ext cx="4970780"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2A93B"/>
                </a:solidFill>
                <a:latin typeface="IBM Plex Sans" pitchFamily="34" charset="0"/>
                <a:ea typeface="IBM Plex Sans" pitchFamily="34" charset="-122"/>
                <a:cs typeface="IBM Plex Sans" pitchFamily="34" charset="-120"/>
              </a:rPr>
              <a:t>GIS JARINGAN DISTRIBUSI LISTRIK</a:t>
            </a:r>
            <a:endParaRPr lang="en-US" sz="1200" dirty="0"/>
          </a:p>
        </p:txBody>
      </p:sp>
      <p:sp>
        <p:nvSpPr>
          <p:cNvPr id="6" name="Text 3"/>
          <p:cNvSpPr/>
          <p:nvPr/>
        </p:nvSpPr>
        <p:spPr>
          <a:xfrm>
            <a:off x="812800" y="1482229"/>
            <a:ext cx="5549900" cy="2057400"/>
          </a:xfrm>
          <a:prstGeom prst="rect">
            <a:avLst/>
          </a:prstGeom>
          <a:noFill/>
          <a:ln/>
        </p:spPr>
        <p:txBody>
          <a:bodyPr wrap="square" lIns="0" tIns="0" rIns="0" bIns="0" rtlCol="0" anchor="t">
            <a:normAutofit/>
          </a:bodyPr>
          <a:lstStyle/>
          <a:p>
            <a:pPr marL="0" indent="0" algn="l">
              <a:lnSpc>
                <a:spcPts val="8000"/>
              </a:lnSpc>
              <a:buNone/>
            </a:pPr>
            <a:r>
              <a:rPr lang="en-US" sz="8000" b="1" dirty="0">
                <a:solidFill>
                  <a:srgbClr val="F5F6F2"/>
                </a:solidFill>
                <a:latin typeface="Space Grotesk" pitchFamily="34" charset="0"/>
                <a:ea typeface="Space Grotesk" pitchFamily="34" charset="-122"/>
                <a:cs typeface="Space Grotesk" pitchFamily="34" charset="-120"/>
              </a:rPr>
              <a:t>QuadranGIS</a:t>
            </a:r>
            <a:endParaRPr lang="en-US" sz="8000" dirty="0"/>
          </a:p>
        </p:txBody>
      </p:sp>
      <p:sp>
        <p:nvSpPr>
          <p:cNvPr id="7" name="Text 4"/>
          <p:cNvSpPr/>
          <p:nvPr/>
        </p:nvSpPr>
        <p:spPr>
          <a:xfrm>
            <a:off x="812800" y="3717429"/>
            <a:ext cx="4970780" cy="1114822"/>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BFCBDA"/>
                </a:solidFill>
                <a:latin typeface="IBM Plex Sans" pitchFamily="34" charset="0"/>
                <a:ea typeface="IBM Plex Sans" pitchFamily="34" charset="-122"/>
                <a:cs typeface="IBM Plex Sans" pitchFamily="34" charset="-120"/>
              </a:rPr>
              <a:t>Satu platform untuk aset, operasi, dan keandalan jaringan, dari gardu induk sampai pelanggan.</a:t>
            </a:r>
            <a:endParaRPr lang="en-US" sz="2200" dirty="0"/>
          </a:p>
        </p:txBody>
      </p:sp>
      <p:sp>
        <p:nvSpPr>
          <p:cNvPr id="8" name="Shape 5"/>
          <p:cNvSpPr/>
          <p:nvPr/>
        </p:nvSpPr>
        <p:spPr>
          <a:xfrm>
            <a:off x="812800" y="5010051"/>
            <a:ext cx="888702" cy="340320"/>
          </a:xfrm>
          <a:prstGeom prst="roundRect">
            <a:avLst>
              <a:gd name="adj" fmla="val 50000"/>
            </a:avLst>
          </a:prstGeom>
          <a:solidFill>
            <a:srgbClr val="1B3A63"/>
          </a:solidFill>
          <a:ln/>
        </p:spPr>
      </p:sp>
      <p:sp>
        <p:nvSpPr>
          <p:cNvPr id="9" name="Text 6"/>
          <p:cNvSpPr/>
          <p:nvPr/>
        </p:nvSpPr>
        <p:spPr>
          <a:xfrm>
            <a:off x="952500" y="5073551"/>
            <a:ext cx="6601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Realtime</a:t>
            </a:r>
            <a:endParaRPr lang="en-US" sz="1200" dirty="0"/>
          </a:p>
        </p:txBody>
      </p:sp>
      <p:sp>
        <p:nvSpPr>
          <p:cNvPr id="10" name="Shape 7"/>
          <p:cNvSpPr/>
          <p:nvPr/>
        </p:nvSpPr>
        <p:spPr>
          <a:xfrm>
            <a:off x="1803102" y="5010051"/>
            <a:ext cx="2266553" cy="340320"/>
          </a:xfrm>
          <a:prstGeom prst="roundRect">
            <a:avLst>
              <a:gd name="adj" fmla="val 50000"/>
            </a:avLst>
          </a:prstGeom>
          <a:solidFill>
            <a:srgbClr val="1B3A63"/>
          </a:solidFill>
          <a:ln/>
        </p:spPr>
      </p:sp>
      <p:sp>
        <p:nvSpPr>
          <p:cNvPr id="11" name="Text 8"/>
          <p:cNvSpPr/>
          <p:nvPr/>
        </p:nvSpPr>
        <p:spPr>
          <a:xfrm>
            <a:off x="1942802" y="5073551"/>
            <a:ext cx="204676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Single Line Diagram otomatis</a:t>
            </a:r>
            <a:endParaRPr lang="en-US" sz="1200" dirty="0"/>
          </a:p>
        </p:txBody>
      </p:sp>
      <p:sp>
        <p:nvSpPr>
          <p:cNvPr id="12" name="Shape 9"/>
          <p:cNvSpPr/>
          <p:nvPr/>
        </p:nvSpPr>
        <p:spPr>
          <a:xfrm>
            <a:off x="812800" y="5451971"/>
            <a:ext cx="1611610" cy="340320"/>
          </a:xfrm>
          <a:prstGeom prst="roundRect">
            <a:avLst>
              <a:gd name="adj" fmla="val 50000"/>
            </a:avLst>
          </a:prstGeom>
          <a:solidFill>
            <a:srgbClr val="1B3A63"/>
          </a:solidFill>
          <a:ln/>
        </p:spPr>
      </p:sp>
      <p:sp>
        <p:nvSpPr>
          <p:cNvPr id="13" name="Text 10"/>
          <p:cNvSpPr/>
          <p:nvPr/>
        </p:nvSpPr>
        <p:spPr>
          <a:xfrm>
            <a:off x="952500" y="5515471"/>
            <a:ext cx="13830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SAIDI · SAIFI · ENS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LATAR BELAKANG</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Tantangan pengelolaan jaringan distribusi</a:t>
            </a:r>
            <a:endParaRPr lang="en-US" sz="3600" dirty="0"/>
          </a:p>
        </p:txBody>
      </p:sp>
      <p:sp>
        <p:nvSpPr>
          <p:cNvPr id="4" name="Shape 2"/>
          <p:cNvSpPr/>
          <p:nvPr/>
        </p:nvSpPr>
        <p:spPr>
          <a:xfrm>
            <a:off x="815975" y="1963936"/>
            <a:ext cx="5175250" cy="1380331"/>
          </a:xfrm>
          <a:prstGeom prst="roundRect">
            <a:avLst>
              <a:gd name="adj" fmla="val 8971"/>
            </a:avLst>
          </a:prstGeom>
          <a:solidFill>
            <a:srgbClr val="FFFFFF"/>
          </a:solidFill>
          <a:ln w="6350">
            <a:solidFill>
              <a:srgbClr val="DDE2E8"/>
            </a:solidFill>
            <a:prstDash val="solid"/>
          </a:ln>
        </p:spPr>
      </p:sp>
      <p:pic>
        <p:nvPicPr>
          <p:cNvPr id="5" name="Image 0" descr="Database"/>
          <p:cNvPicPr>
            <a:picLocks noChangeAspect="1"/>
          </p:cNvPicPr>
          <p:nvPr/>
        </p:nvPicPr>
        <p:blipFill>
          <a:blip r:embed="rId3"/>
          <a:srcRect/>
          <a:stretch/>
        </p:blipFill>
        <p:spPr>
          <a:xfrm>
            <a:off x="1073150" y="2221111"/>
            <a:ext cx="355600" cy="355600"/>
          </a:xfrm>
          <a:prstGeom prst="rect">
            <a:avLst/>
          </a:prstGeom>
        </p:spPr>
      </p:pic>
      <p:sp>
        <p:nvSpPr>
          <p:cNvPr id="6" name="Text 3"/>
          <p:cNvSpPr/>
          <p:nvPr/>
        </p:nvSpPr>
        <p:spPr>
          <a:xfrm>
            <a:off x="1606550" y="2221111"/>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Data aset tersebar</a:t>
            </a:r>
            <a:endParaRPr lang="en-US" sz="2000" dirty="0"/>
          </a:p>
        </p:txBody>
      </p:sp>
      <p:sp>
        <p:nvSpPr>
          <p:cNvPr id="7" name="Text 4"/>
          <p:cNvSpPr/>
          <p:nvPr/>
        </p:nvSpPr>
        <p:spPr>
          <a:xfrm>
            <a:off x="1606550" y="2589411"/>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Peta, spreadsheet, dan gambar kerja tidak saling terhubung; topologi sulit dipercaya.</a:t>
            </a:r>
            <a:endParaRPr lang="en-US" sz="1400" dirty="0"/>
          </a:p>
        </p:txBody>
      </p:sp>
      <p:sp>
        <p:nvSpPr>
          <p:cNvPr id="8" name="Shape 5"/>
          <p:cNvSpPr/>
          <p:nvPr/>
        </p:nvSpPr>
        <p:spPr>
          <a:xfrm>
            <a:off x="6200775" y="1963936"/>
            <a:ext cx="5175250" cy="1380331"/>
          </a:xfrm>
          <a:prstGeom prst="roundRect">
            <a:avLst>
              <a:gd name="adj" fmla="val 8971"/>
            </a:avLst>
          </a:prstGeom>
          <a:solidFill>
            <a:srgbClr val="FFFFFF"/>
          </a:solidFill>
          <a:ln w="6350">
            <a:solidFill>
              <a:srgbClr val="DDE2E8"/>
            </a:solidFill>
            <a:prstDash val="solid"/>
          </a:ln>
        </p:spPr>
      </p:sp>
      <p:pic>
        <p:nvPicPr>
          <p:cNvPr id="9" name="Image 1" descr="Warning"/>
          <p:cNvPicPr>
            <a:picLocks noChangeAspect="1"/>
          </p:cNvPicPr>
          <p:nvPr/>
        </p:nvPicPr>
        <p:blipFill>
          <a:blip r:embed="rId4"/>
          <a:srcRect/>
          <a:stretch/>
        </p:blipFill>
        <p:spPr>
          <a:xfrm>
            <a:off x="6457950" y="2221111"/>
            <a:ext cx="355600" cy="355600"/>
          </a:xfrm>
          <a:prstGeom prst="rect">
            <a:avLst/>
          </a:prstGeom>
        </p:spPr>
      </p:pic>
      <p:sp>
        <p:nvSpPr>
          <p:cNvPr id="10" name="Text 6"/>
          <p:cNvSpPr/>
          <p:nvPr/>
        </p:nvSpPr>
        <p:spPr>
          <a:xfrm>
            <a:off x="6991350" y="2221111"/>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Padam lambat diketahui</a:t>
            </a:r>
            <a:endParaRPr lang="en-US" sz="2000" dirty="0"/>
          </a:p>
        </p:txBody>
      </p:sp>
      <p:sp>
        <p:nvSpPr>
          <p:cNvPr id="11" name="Text 7"/>
          <p:cNvSpPr/>
          <p:nvPr/>
        </p:nvSpPr>
        <p:spPr>
          <a:xfrm>
            <a:off x="6991350" y="2589411"/>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Lokasi dan jumlah pelanggan terdampak baru jelas setelah laporan masuk.</a:t>
            </a:r>
            <a:endParaRPr lang="en-US" sz="1400" dirty="0"/>
          </a:p>
        </p:txBody>
      </p:sp>
      <p:sp>
        <p:nvSpPr>
          <p:cNvPr id="12" name="Shape 8"/>
          <p:cNvSpPr/>
          <p:nvPr/>
        </p:nvSpPr>
        <p:spPr>
          <a:xfrm>
            <a:off x="815975" y="3553817"/>
            <a:ext cx="5175250" cy="1380331"/>
          </a:xfrm>
          <a:prstGeom prst="roundRect">
            <a:avLst>
              <a:gd name="adj" fmla="val 8971"/>
            </a:avLst>
          </a:prstGeom>
          <a:solidFill>
            <a:srgbClr val="FFFFFF"/>
          </a:solidFill>
          <a:ln w="6350">
            <a:solidFill>
              <a:srgbClr val="DDE2E8"/>
            </a:solidFill>
            <a:prstDash val="solid"/>
          </a:ln>
        </p:spPr>
      </p:sp>
      <p:pic>
        <p:nvPicPr>
          <p:cNvPr id="13" name="Image 2" descr="Chart"/>
          <p:cNvPicPr>
            <a:picLocks noChangeAspect="1"/>
          </p:cNvPicPr>
          <p:nvPr/>
        </p:nvPicPr>
        <p:blipFill>
          <a:blip r:embed="rId5"/>
          <a:srcRect/>
          <a:stretch/>
        </p:blipFill>
        <p:spPr>
          <a:xfrm>
            <a:off x="1073150" y="3810992"/>
            <a:ext cx="355600" cy="355600"/>
          </a:xfrm>
          <a:prstGeom prst="rect">
            <a:avLst/>
          </a:prstGeom>
        </p:spPr>
      </p:pic>
      <p:sp>
        <p:nvSpPr>
          <p:cNvPr id="14" name="Text 9"/>
          <p:cNvSpPr/>
          <p:nvPr/>
        </p:nvSpPr>
        <p:spPr>
          <a:xfrm>
            <a:off x="1606550" y="3810992"/>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Keandalan dihitung manual</a:t>
            </a:r>
            <a:endParaRPr lang="en-US" sz="2000" dirty="0"/>
          </a:p>
        </p:txBody>
      </p:sp>
      <p:sp>
        <p:nvSpPr>
          <p:cNvPr id="15" name="Text 10"/>
          <p:cNvSpPr/>
          <p:nvPr/>
        </p:nvSpPr>
        <p:spPr>
          <a:xfrm>
            <a:off x="1606550" y="4179292"/>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SAIDI, SAIFI, dan ENS direkap belakangan dan rawan selisih.</a:t>
            </a:r>
            <a:endParaRPr lang="en-US" sz="1400" dirty="0"/>
          </a:p>
        </p:txBody>
      </p:sp>
      <p:sp>
        <p:nvSpPr>
          <p:cNvPr id="16" name="Shape 11"/>
          <p:cNvSpPr/>
          <p:nvPr/>
        </p:nvSpPr>
        <p:spPr>
          <a:xfrm>
            <a:off x="6200775" y="3553817"/>
            <a:ext cx="5175250" cy="1380331"/>
          </a:xfrm>
          <a:prstGeom prst="roundRect">
            <a:avLst>
              <a:gd name="adj" fmla="val 8971"/>
            </a:avLst>
          </a:prstGeom>
          <a:solidFill>
            <a:srgbClr val="FFFFFF"/>
          </a:solidFill>
          <a:ln w="6350">
            <a:solidFill>
              <a:srgbClr val="DDE2E8"/>
            </a:solidFill>
            <a:prstDash val="solid"/>
          </a:ln>
        </p:spPr>
      </p:sp>
      <p:pic>
        <p:nvPicPr>
          <p:cNvPr id="17" name="Image 3" descr="Wrench"/>
          <p:cNvPicPr>
            <a:picLocks noChangeAspect="1"/>
          </p:cNvPicPr>
          <p:nvPr/>
        </p:nvPicPr>
        <p:blipFill>
          <a:blip r:embed="rId6"/>
          <a:srcRect/>
          <a:stretch/>
        </p:blipFill>
        <p:spPr>
          <a:xfrm>
            <a:off x="6457950" y="3810992"/>
            <a:ext cx="355600" cy="355600"/>
          </a:xfrm>
          <a:prstGeom prst="rect">
            <a:avLst/>
          </a:prstGeom>
        </p:spPr>
      </p:pic>
      <p:sp>
        <p:nvSpPr>
          <p:cNvPr id="18" name="Text 12"/>
          <p:cNvSpPr/>
          <p:nvPr/>
        </p:nvSpPr>
        <p:spPr>
          <a:xfrm>
            <a:off x="6991350" y="3810992"/>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Diagram cepat usang</a:t>
            </a:r>
            <a:endParaRPr lang="en-US" sz="2000" dirty="0"/>
          </a:p>
        </p:txBody>
      </p:sp>
      <p:sp>
        <p:nvSpPr>
          <p:cNvPr id="19" name="Text 13"/>
          <p:cNvSpPr/>
          <p:nvPr/>
        </p:nvSpPr>
        <p:spPr>
          <a:xfrm>
            <a:off x="6991350" y="4179292"/>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Single line diagram digambar ulang setiap kali jaringan berubah.</a:t>
            </a:r>
            <a:endParaRPr lang="en-US" sz="1400" dirty="0"/>
          </a:p>
        </p:txBody>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93B"/>
                </a:solidFill>
                <a:latin typeface="IBM Plex Sans" pitchFamily="34" charset="0"/>
                <a:ea typeface="IBM Plex Sans" pitchFamily="34" charset="-122"/>
                <a:cs typeface="IBM Plex Sans" pitchFamily="34" charset="-120"/>
              </a:rPr>
              <a:t>SOLUSI</a:t>
            </a:r>
            <a:endParaRPr lang="en-US" sz="1200" dirty="0"/>
          </a:p>
        </p:txBody>
      </p:sp>
      <p:sp>
        <p:nvSpPr>
          <p:cNvPr id="3" name="Text 1"/>
          <p:cNvSpPr/>
          <p:nvPr/>
        </p:nvSpPr>
        <p:spPr>
          <a:xfrm>
            <a:off x="812800" y="117852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5F6F2"/>
                </a:solidFill>
                <a:latin typeface="Space Grotesk" pitchFamily="34" charset="0"/>
                <a:ea typeface="Space Grotesk" pitchFamily="34" charset="-122"/>
                <a:cs typeface="Space Grotesk" pitchFamily="34" charset="-120"/>
              </a:rPr>
              <a:t>Satu sumber data. Semua keputusan jaringan.</a:t>
            </a:r>
            <a:endParaRPr lang="en-US" sz="6000" dirty="0"/>
          </a:p>
        </p:txBody>
      </p:sp>
      <p:sp>
        <p:nvSpPr>
          <p:cNvPr id="4" name="Shape 2"/>
          <p:cNvSpPr/>
          <p:nvPr/>
        </p:nvSpPr>
        <p:spPr>
          <a:xfrm>
            <a:off x="812800" y="4976019"/>
            <a:ext cx="2527300" cy="0"/>
          </a:xfrm>
          <a:prstGeom prst="line">
            <a:avLst/>
          </a:prstGeom>
          <a:noFill/>
          <a:ln w="25400">
            <a:solidFill>
              <a:srgbClr val="3B82F6"/>
            </a:solidFill>
            <a:prstDash val="solid"/>
          </a:ln>
        </p:spPr>
      </p:sp>
      <p:sp>
        <p:nvSpPr>
          <p:cNvPr id="5" name="Text 3"/>
          <p:cNvSpPr/>
          <p:nvPr/>
        </p:nvSpPr>
        <p:spPr>
          <a:xfrm>
            <a:off x="8128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Bangun aset</a:t>
            </a:r>
            <a:endParaRPr lang="en-US" sz="2000" dirty="0"/>
          </a:p>
        </p:txBody>
      </p:sp>
      <p:sp>
        <p:nvSpPr>
          <p:cNvPr id="6" name="Text 4"/>
          <p:cNvSpPr/>
          <p:nvPr/>
        </p:nvSpPr>
        <p:spPr>
          <a:xfrm>
            <a:off x="8128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Editor peta dengan topologi otomatis</a:t>
            </a:r>
            <a:endParaRPr lang="en-US" sz="1400" dirty="0"/>
          </a:p>
        </p:txBody>
      </p:sp>
      <p:sp>
        <p:nvSpPr>
          <p:cNvPr id="7" name="Shape 5"/>
          <p:cNvSpPr/>
          <p:nvPr/>
        </p:nvSpPr>
        <p:spPr>
          <a:xfrm>
            <a:off x="3492500" y="4976019"/>
            <a:ext cx="2527300" cy="0"/>
          </a:xfrm>
          <a:prstGeom prst="line">
            <a:avLst/>
          </a:prstGeom>
          <a:noFill/>
          <a:ln w="25400">
            <a:solidFill>
              <a:srgbClr val="3B82F6"/>
            </a:solidFill>
            <a:prstDash val="solid"/>
          </a:ln>
        </p:spPr>
      </p:sp>
      <p:sp>
        <p:nvSpPr>
          <p:cNvPr id="8" name="Text 6"/>
          <p:cNvSpPr/>
          <p:nvPr/>
        </p:nvSpPr>
        <p:spPr>
          <a:xfrm>
            <a:off x="34925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Pantau realtime</a:t>
            </a:r>
            <a:endParaRPr lang="en-US" sz="2000" dirty="0"/>
          </a:p>
        </p:txBody>
      </p:sp>
      <p:sp>
        <p:nvSpPr>
          <p:cNvPr id="9" name="Text 7"/>
          <p:cNvSpPr/>
          <p:nvPr/>
        </p:nvSpPr>
        <p:spPr>
          <a:xfrm>
            <a:off x="34925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Nyala/padam, SOE, dan rekap per level</a:t>
            </a:r>
            <a:endParaRPr lang="en-US" sz="1400" dirty="0"/>
          </a:p>
        </p:txBody>
      </p:sp>
      <p:sp>
        <p:nvSpPr>
          <p:cNvPr id="10" name="Shape 8"/>
          <p:cNvSpPr/>
          <p:nvPr/>
        </p:nvSpPr>
        <p:spPr>
          <a:xfrm>
            <a:off x="6172200" y="4976019"/>
            <a:ext cx="2527300" cy="0"/>
          </a:xfrm>
          <a:prstGeom prst="line">
            <a:avLst/>
          </a:prstGeom>
          <a:noFill/>
          <a:ln w="25400">
            <a:solidFill>
              <a:srgbClr val="F2A93B"/>
            </a:solidFill>
            <a:prstDash val="solid"/>
          </a:ln>
        </p:spPr>
      </p:sp>
      <p:sp>
        <p:nvSpPr>
          <p:cNvPr id="11" name="Text 9"/>
          <p:cNvSpPr/>
          <p:nvPr/>
        </p:nvSpPr>
        <p:spPr>
          <a:xfrm>
            <a:off x="61722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Operasikan aman</a:t>
            </a:r>
            <a:endParaRPr lang="en-US" sz="2000" dirty="0"/>
          </a:p>
        </p:txBody>
      </p:sp>
      <p:sp>
        <p:nvSpPr>
          <p:cNvPr id="12" name="Text 10"/>
          <p:cNvSpPr/>
          <p:nvPr/>
        </p:nvSpPr>
        <p:spPr>
          <a:xfrm>
            <a:off x="61722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Manuver dari peta atau SLD, sesuai izin</a:t>
            </a:r>
            <a:endParaRPr lang="en-US" sz="1400" dirty="0"/>
          </a:p>
        </p:txBody>
      </p:sp>
      <p:sp>
        <p:nvSpPr>
          <p:cNvPr id="13" name="Shape 11"/>
          <p:cNvSpPr/>
          <p:nvPr/>
        </p:nvSpPr>
        <p:spPr>
          <a:xfrm>
            <a:off x="8851900" y="4976019"/>
            <a:ext cx="2527300" cy="0"/>
          </a:xfrm>
          <a:prstGeom prst="line">
            <a:avLst/>
          </a:prstGeom>
          <a:noFill/>
          <a:ln w="25400">
            <a:solidFill>
              <a:srgbClr val="F2A93B"/>
            </a:solidFill>
            <a:prstDash val="solid"/>
          </a:ln>
        </p:spPr>
      </p:sp>
      <p:sp>
        <p:nvSpPr>
          <p:cNvPr id="14" name="Text 12"/>
          <p:cNvSpPr/>
          <p:nvPr/>
        </p:nvSpPr>
        <p:spPr>
          <a:xfrm>
            <a:off x="88519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Ukur keandalan</a:t>
            </a:r>
            <a:endParaRPr lang="en-US" sz="2000" dirty="0"/>
          </a:p>
        </p:txBody>
      </p:sp>
      <p:sp>
        <p:nvSpPr>
          <p:cNvPr id="15" name="Text 13"/>
          <p:cNvSpPr/>
          <p:nvPr/>
        </p:nvSpPr>
        <p:spPr>
          <a:xfrm>
            <a:off x="88519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SAIDI, SAIFI, ENS langsung dari kejadian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KINERJA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Cepat pada skala jaringan nyata</a:t>
            </a:r>
            <a:endParaRPr lang="en-US" sz="3600" dirty="0"/>
          </a:p>
        </p:txBody>
      </p:sp>
      <p:sp>
        <p:nvSpPr>
          <p:cNvPr id="4" name="Shape 2"/>
          <p:cNvSpPr/>
          <p:nvPr/>
        </p:nvSpPr>
        <p:spPr>
          <a:xfrm>
            <a:off x="815975" y="2723555"/>
            <a:ext cx="2482850" cy="1502370"/>
          </a:xfrm>
          <a:prstGeom prst="roundRect">
            <a:avLst>
              <a:gd name="adj" fmla="val 8242"/>
            </a:avLst>
          </a:prstGeom>
          <a:solidFill>
            <a:srgbClr val="FFFFFF"/>
          </a:solidFill>
          <a:ln w="6350">
            <a:solidFill>
              <a:srgbClr val="DDE2E8"/>
            </a:solidFill>
            <a:prstDash val="solid"/>
          </a:ln>
        </p:spPr>
      </p:sp>
      <p:sp>
        <p:nvSpPr>
          <p:cNvPr id="5" name="Text 3"/>
          <p:cNvSpPr/>
          <p:nvPr/>
        </p:nvSpPr>
        <p:spPr>
          <a:xfrm>
            <a:off x="10223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2,7 jt</a:t>
            </a:r>
            <a:endParaRPr lang="en-US" sz="3200" dirty="0"/>
          </a:p>
        </p:txBody>
      </p:sp>
      <p:sp>
        <p:nvSpPr>
          <p:cNvPr id="6" name="Text 4"/>
          <p:cNvSpPr/>
          <p:nvPr/>
        </p:nvSpPr>
        <p:spPr>
          <a:xfrm>
            <a:off x="10223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objek jaringan dalam graf topologi di memori</a:t>
            </a:r>
            <a:endParaRPr lang="en-US" sz="1400" dirty="0"/>
          </a:p>
        </p:txBody>
      </p:sp>
      <p:sp>
        <p:nvSpPr>
          <p:cNvPr id="7" name="Shape 5"/>
          <p:cNvSpPr/>
          <p:nvPr/>
        </p:nvSpPr>
        <p:spPr>
          <a:xfrm>
            <a:off x="3508375" y="2723555"/>
            <a:ext cx="2482850" cy="1502370"/>
          </a:xfrm>
          <a:prstGeom prst="roundRect">
            <a:avLst>
              <a:gd name="adj" fmla="val 8242"/>
            </a:avLst>
          </a:prstGeom>
          <a:solidFill>
            <a:srgbClr val="FFFFFF"/>
          </a:solidFill>
          <a:ln w="6350">
            <a:solidFill>
              <a:srgbClr val="DDE2E8"/>
            </a:solidFill>
            <a:prstDash val="solid"/>
          </a:ln>
        </p:spPr>
      </p:sp>
      <p:sp>
        <p:nvSpPr>
          <p:cNvPr id="8" name="Text 6"/>
          <p:cNvSpPr/>
          <p:nvPr/>
        </p:nvSpPr>
        <p:spPr>
          <a:xfrm>
            <a:off x="37147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&lt;50 ms</a:t>
            </a:r>
            <a:endParaRPr lang="en-US" sz="3200" dirty="0"/>
          </a:p>
        </p:txBody>
      </p:sp>
      <p:sp>
        <p:nvSpPr>
          <p:cNvPr id="9" name="Text 7"/>
          <p:cNvSpPr/>
          <p:nvPr/>
        </p:nvSpPr>
        <p:spPr>
          <a:xfrm>
            <a:off x="37147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menghitung wilayah padam setelah manuver</a:t>
            </a:r>
            <a:endParaRPr lang="en-US" sz="1400" dirty="0"/>
          </a:p>
        </p:txBody>
      </p:sp>
      <p:sp>
        <p:nvSpPr>
          <p:cNvPr id="10" name="Shape 8"/>
          <p:cNvSpPr/>
          <p:nvPr/>
        </p:nvSpPr>
        <p:spPr>
          <a:xfrm>
            <a:off x="6200775" y="2723555"/>
            <a:ext cx="2482850" cy="1502370"/>
          </a:xfrm>
          <a:prstGeom prst="roundRect">
            <a:avLst>
              <a:gd name="adj" fmla="val 8242"/>
            </a:avLst>
          </a:prstGeom>
          <a:solidFill>
            <a:srgbClr val="FFFFFF"/>
          </a:solidFill>
          <a:ln w="6350">
            <a:solidFill>
              <a:srgbClr val="DDE2E8"/>
            </a:solidFill>
            <a:prstDash val="solid"/>
          </a:ln>
        </p:spPr>
      </p:sp>
      <p:sp>
        <p:nvSpPr>
          <p:cNvPr id="11" name="Text 9"/>
          <p:cNvSpPr/>
          <p:nvPr/>
        </p:nvSpPr>
        <p:spPr>
          <a:xfrm>
            <a:off x="64071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20–60 ms</a:t>
            </a:r>
            <a:endParaRPr lang="en-US" sz="3200" dirty="0"/>
          </a:p>
        </p:txBody>
      </p:sp>
      <p:sp>
        <p:nvSpPr>
          <p:cNvPr id="12" name="Text 10"/>
          <p:cNvSpPr/>
          <p:nvPr/>
        </p:nvSpPr>
        <p:spPr>
          <a:xfrm>
            <a:off x="64071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menyusun SLD satu penyulang dari data GIS</a:t>
            </a:r>
            <a:endParaRPr lang="en-US" sz="1400" dirty="0"/>
          </a:p>
        </p:txBody>
      </p:sp>
      <p:sp>
        <p:nvSpPr>
          <p:cNvPr id="13" name="Shape 11"/>
          <p:cNvSpPr/>
          <p:nvPr/>
        </p:nvSpPr>
        <p:spPr>
          <a:xfrm>
            <a:off x="8893175" y="2723555"/>
            <a:ext cx="2482850" cy="1502370"/>
          </a:xfrm>
          <a:prstGeom prst="roundRect">
            <a:avLst>
              <a:gd name="adj" fmla="val 8242"/>
            </a:avLst>
          </a:prstGeom>
          <a:solidFill>
            <a:srgbClr val="FFFFFF"/>
          </a:solidFill>
          <a:ln w="6350">
            <a:solidFill>
              <a:srgbClr val="DDE2E8"/>
            </a:solidFill>
            <a:prstDash val="solid"/>
          </a:ln>
        </p:spPr>
      </p:sp>
      <p:sp>
        <p:nvSpPr>
          <p:cNvPr id="14" name="Text 12"/>
          <p:cNvSpPr/>
          <p:nvPr/>
        </p:nvSpPr>
        <p:spPr>
          <a:xfrm>
            <a:off x="90995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&lt;0,4 dtk</a:t>
            </a:r>
            <a:endParaRPr lang="en-US" sz="3200" dirty="0"/>
          </a:p>
        </p:txBody>
      </p:sp>
      <p:sp>
        <p:nvSpPr>
          <p:cNvPr id="15" name="Text 13"/>
          <p:cNvSpPr/>
          <p:nvPr/>
        </p:nvSpPr>
        <p:spPr>
          <a:xfrm>
            <a:off x="90995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mencari di antara 2 juta pelanggan</a:t>
            </a:r>
            <a:endParaRPr lang="en-US" sz="1400" dirty="0"/>
          </a:p>
        </p:txBody>
      </p:sp>
      <p:sp>
        <p:nvSpPr>
          <p:cNvPr id="16" name="Text 14"/>
          <p:cNvSpPr/>
          <p:nvPr/>
        </p:nvSpPr>
        <p:spPr>
          <a:xfrm>
            <a:off x="812800" y="5344319"/>
            <a:ext cx="915670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Semua perubahan tersebar ke seluruh pengguna secara realtime lewat WebSocket, tanpa memuat ulang halaman.</a:t>
            </a:r>
            <a:endParaRPr lang="en-US" sz="14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04 · Hasil uji pada data simulasi 102 GI, 1.005 penyulang, 2 juta pelanggan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EDITOR PETA JARINGAN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Gambar jaringan, topologi terbentuk sendiri</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otomatis</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Ujung garis tersambung, garis dipisah, junction dibuat saat menyimpan.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Simbol standar IEC</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Trafo, recloser, LBS, NH fuse, rak TR, dengan varian terbuka.</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Atribut SSOT</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SSOT, kapasitas, penghantar, posisi normal per tipe.</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Tukar data dengan QGIS</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Impor GeoJSON dengan pratinjau, ekspor File Geodatabase.</a:t>
            </a:r>
            <a:endParaRPr lang="en-US" sz="1200" dirty="0"/>
          </a:p>
        </p:txBody>
      </p:sp>
      <p:pic>
        <p:nvPicPr>
          <p:cNvPr id="12" name="Image 0" descr="Editor Peta Jaringan dengan simbol komponen dan panel Layer"/>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MENAMBAH</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Menambah objek jaringan baru</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alat &amp; tipe</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Ikon titik atau garis, lalu tipe: SKTM, SKUTR, SR, GD, trafo.</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Klik di peta</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Tiap klik satu vertex; Enter selesai, Backspace mundur, Esc batal.</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otomatis</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Ujung menempel ke node terdekat; garis dipisah, junction dibuat.</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Lengkapi atribut</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nama, dan atribut SSOT di panel Fitur, lalu Simpan.</a:t>
            </a:r>
            <a:endParaRPr lang="en-US" sz="1200" dirty="0"/>
          </a:p>
        </p:txBody>
      </p:sp>
      <p:pic>
        <p:nvPicPr>
          <p:cNvPr id="20" name="Image 0" descr="Menu gambar komponen garis dengan daftar tipe SKTM, SUTM, SKUTR, SKTR, SR"/>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06 · Hak akses: gis.edit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MENGEDIT</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Mengubah atribut dan geometri</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objek</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Klik di peta, atau cari kode, nama, id, atau kode SSOT.</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Ubah atribut</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nama, atribut SSOT, atribut tambahan, lalu Simpan.</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Ubah geometri</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Pindahkan, Edit vertex, Gambar ulang, atau Pisah garis.</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Tersinkron otomatis</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Garis terhubung ikut bergeser; riwayat perubahan tercatat.</a:t>
            </a:r>
            <a:endParaRPr lang="en-US" sz="1200" dirty="0"/>
          </a:p>
        </p:txBody>
      </p:sp>
      <p:pic>
        <p:nvPicPr>
          <p:cNvPr id="20" name="Image 0" descr="Mode edit vertex pada saluran SKUTR dengan panel atribut SSOT dan alat geometri"/>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07 · Hak akses: gis.edit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MENGHAPUS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Menghapus objek dengan aman</a:t>
            </a:r>
            <a:endParaRPr lang="en-US" sz="3600" dirty="0"/>
          </a:p>
        </p:txBody>
      </p:sp>
      <p:sp>
        <p:nvSpPr>
          <p:cNvPr id="4" name="Shape 2"/>
          <p:cNvSpPr/>
          <p:nvPr/>
        </p:nvSpPr>
        <p:spPr>
          <a:xfrm>
            <a:off x="812800" y="1909961"/>
            <a:ext cx="283567" cy="299641"/>
          </a:xfrm>
          <a:prstGeom prst="roundRect">
            <a:avLst>
              <a:gd name="adj" fmla="val 50000"/>
            </a:avLst>
          </a:prstGeom>
          <a:solidFill>
            <a:srgbClr val="B45309"/>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lalu Hapus</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Tombol Hapus ada di bagian bawah panel Fitur.</a:t>
            </a:r>
            <a:endParaRPr lang="en-US" sz="1200" dirty="0"/>
          </a:p>
        </p:txBody>
      </p:sp>
      <p:sp>
        <p:nvSpPr>
          <p:cNvPr id="8" name="Shape 6"/>
          <p:cNvSpPr/>
          <p:nvPr/>
        </p:nvSpPr>
        <p:spPr>
          <a:xfrm>
            <a:off x="812800" y="2770882"/>
            <a:ext cx="308868" cy="299641"/>
          </a:xfrm>
          <a:prstGeom prst="roundRect">
            <a:avLst>
              <a:gd name="adj" fmla="val 50000"/>
            </a:avLst>
          </a:prstGeom>
          <a:solidFill>
            <a:srgbClr val="B45309"/>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Konfirmasi dampak</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Menghapus titik ikut menghapus garis yang terhubung.</a:t>
            </a:r>
            <a:endParaRPr lang="en-US" sz="1200" dirty="0"/>
          </a:p>
        </p:txBody>
      </p:sp>
      <p:sp>
        <p:nvSpPr>
          <p:cNvPr id="12" name="Shape 10"/>
          <p:cNvSpPr/>
          <p:nvPr/>
        </p:nvSpPr>
        <p:spPr>
          <a:xfrm>
            <a:off x="812800" y="3631803"/>
            <a:ext cx="311348" cy="299641"/>
          </a:xfrm>
          <a:prstGeom prst="roundRect">
            <a:avLst>
              <a:gd name="adj" fmla="val 50000"/>
            </a:avLst>
          </a:prstGeom>
          <a:solidFill>
            <a:srgbClr val="B45309"/>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dibersihkan</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Junction yatim dihapus; nyala/padam dihitung ulang.</a:t>
            </a:r>
            <a:endParaRPr lang="en-US" sz="1200" dirty="0"/>
          </a:p>
        </p:txBody>
      </p:sp>
      <p:sp>
        <p:nvSpPr>
          <p:cNvPr id="16" name="Shape 14"/>
          <p:cNvSpPr/>
          <p:nvPr/>
        </p:nvSpPr>
        <p:spPr>
          <a:xfrm>
            <a:off x="812800" y="4492724"/>
            <a:ext cx="316309" cy="299641"/>
          </a:xfrm>
          <a:prstGeom prst="roundRect">
            <a:avLst>
              <a:gd name="adj" fmla="val 50000"/>
            </a:avLst>
          </a:prstGeom>
          <a:solidFill>
            <a:srgbClr val="B45309"/>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Tercatat di audit</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Siapa dan kapan menghapus tersimpan di audit log.</a:t>
            </a:r>
            <a:endParaRPr lang="en-US" sz="1200" dirty="0"/>
          </a:p>
        </p:txBody>
      </p:sp>
      <p:pic>
        <p:nvPicPr>
          <p:cNvPr id="20" name="Image 0" descr="Dialog konfirmasi hapus fitur yang menyebut garis terhubung ikut terhapus"/>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08 · Hak akses: gis.edit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EDIT MASSAL</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Edit massal lewat QGIS</a:t>
            </a:r>
            <a:endParaRPr lang="en-US" sz="3600" dirty="0"/>
          </a:p>
        </p:txBody>
      </p:sp>
      <p:sp>
        <p:nvSpPr>
          <p:cNvPr id="4" name="Shape 2"/>
          <p:cNvSpPr/>
          <p:nvPr/>
        </p:nvSpPr>
        <p:spPr>
          <a:xfrm>
            <a:off x="812800" y="1909961"/>
            <a:ext cx="283567" cy="299641"/>
          </a:xfrm>
          <a:prstGeom prst="roundRect">
            <a:avLst>
              <a:gd name="adj" fmla="val 50000"/>
            </a:avLst>
          </a:prstGeom>
          <a:solidFill>
            <a:srgbClr val="0F766E"/>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Ekspor GeoJSON</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Tampilan peta atau poligon, pilih tipe, maksimal 10 MB.</a:t>
            </a:r>
            <a:endParaRPr lang="en-US" sz="1200" dirty="0"/>
          </a:p>
        </p:txBody>
      </p:sp>
      <p:sp>
        <p:nvSpPr>
          <p:cNvPr id="8" name="Shape 6"/>
          <p:cNvSpPr/>
          <p:nvPr/>
        </p:nvSpPr>
        <p:spPr>
          <a:xfrm>
            <a:off x="812800" y="2770882"/>
            <a:ext cx="308868" cy="299641"/>
          </a:xfrm>
          <a:prstGeom prst="roundRect">
            <a:avLst>
              <a:gd name="adj" fmla="val 50000"/>
            </a:avLst>
          </a:prstGeom>
          <a:solidFill>
            <a:srgbClr val="0F766E"/>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Sunting di QGIS</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Ubah atribut dan geometri, atau tambah objek baru.</a:t>
            </a:r>
            <a:endParaRPr lang="en-US" sz="1200" dirty="0"/>
          </a:p>
        </p:txBody>
      </p:sp>
      <p:sp>
        <p:nvSpPr>
          <p:cNvPr id="12" name="Shape 10"/>
          <p:cNvSpPr/>
          <p:nvPr/>
        </p:nvSpPr>
        <p:spPr>
          <a:xfrm>
            <a:off x="812800" y="3631803"/>
            <a:ext cx="311348" cy="299641"/>
          </a:xfrm>
          <a:prstGeom prst="roundRect">
            <a:avLst>
              <a:gd name="adj" fmla="val 50000"/>
            </a:avLst>
          </a:prstGeom>
          <a:solidFill>
            <a:srgbClr val="0F766E"/>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Impor &amp; pratinjau</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Jumlah dibuat, diubah, dilewati tampil sebelum diterapkan.</a:t>
            </a:r>
            <a:endParaRPr lang="en-US" sz="1200" dirty="0"/>
          </a:p>
        </p:txBody>
      </p:sp>
      <p:sp>
        <p:nvSpPr>
          <p:cNvPr id="16" name="Shape 14"/>
          <p:cNvSpPr/>
          <p:nvPr/>
        </p:nvSpPr>
        <p:spPr>
          <a:xfrm>
            <a:off x="812800" y="4492724"/>
            <a:ext cx="316309" cy="299641"/>
          </a:xfrm>
          <a:prstGeom prst="roundRect">
            <a:avLst>
              <a:gd name="adj" fmla="val 50000"/>
            </a:avLst>
          </a:prstGeom>
          <a:solidFill>
            <a:srgbClr val="0F766E"/>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Terapkan</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Tanpa duplikasi; penghapusan tidak diterapkan dari impor.</a:t>
            </a:r>
            <a:endParaRPr lang="en-US" sz="1200" dirty="0"/>
          </a:p>
        </p:txBody>
      </p:sp>
      <p:pic>
        <p:nvPicPr>
          <p:cNvPr id="20" name="Image 0" descr="Tab Data untuk ekspor dan impor GeoJSO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09 · Ekspor: gis.view · Impor: gis.edit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MONITORING KELISTRIKAN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Kondisi jaringan terlihat seketika</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Rekap berlapis</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GI, trafo GI, penyulang, zona, gardu, trafo, pelanggan, beban.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Daftar per level</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Tab GI, penyulang, gardu, dan pelanggan dengan pencarian.</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Peta nyala/padam</a:t>
            </a:r>
            <a:endParaRPr lang="en-US" sz="1600" dirty="0"/>
          </a:p>
        </p:txBody>
      </p:sp>
      <p:sp>
        <p:nvSpPr>
          <p:cNvPr id="9" name="Text 7"/>
          <p:cNvSpPr/>
          <p:nvPr/>
        </p:nvSpPr>
        <p:spPr>
          <a:xfrm>
            <a:off x="812800" y="39644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Filter status, trace hulu/hilir, ukur panjang dan luas.</a:t>
            </a:r>
            <a:endParaRPr lang="en-US" sz="1200" dirty="0"/>
          </a:p>
        </p:txBody>
      </p:sp>
      <p:sp>
        <p:nvSpPr>
          <p:cNvPr id="10" name="Text 8"/>
          <p:cNvSpPr/>
          <p:nvPr/>
        </p:nvSpPr>
        <p:spPr>
          <a:xfrm>
            <a:off x="812800" y="43556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Realtime</a:t>
            </a:r>
            <a:endParaRPr lang="en-US" sz="1600" dirty="0"/>
          </a:p>
        </p:txBody>
      </p:sp>
      <p:sp>
        <p:nvSpPr>
          <p:cNvPr id="11" name="Text 9"/>
          <p:cNvSpPr/>
          <p:nvPr/>
        </p:nvSpPr>
        <p:spPr>
          <a:xfrm>
            <a:off x="812800" y="4637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Perubahan pengguna lain tampil tanpa memuat ulang.</a:t>
            </a:r>
            <a:endParaRPr lang="en-US" sz="1200" dirty="0"/>
          </a:p>
        </p:txBody>
      </p:sp>
      <p:pic>
        <p:nvPicPr>
          <p:cNvPr id="12" name="Image 0" descr="Monitoring Kelistrikan dengan pita rekap, indeks keandalan, dan peta nyala padam"/>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OPERASI JARINGAN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Manuver aman, sesuai hak akses</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Buka/tutup &amp; energize</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Switch TM/TR per arah; putus gardu, trafo, saluran, pelanggan.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Kategori wajib</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Gangguan, pemeliharaan, MLS, manuver, bencana alam.</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Izin per peran</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Switch dan energize dibedakan TM dan TR, dicek di server.</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Tercatat lengkap</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Kejadian padam, SOE, riwayat manuver, dan audit log.</a:t>
            </a:r>
            <a:endParaRPr lang="en-US" sz="1200" dirty="0"/>
          </a:p>
        </p:txBody>
      </p:sp>
      <p:pic>
        <p:nvPicPr>
          <p:cNvPr id="12" name="Image 0" descr="Popup recloser dengan rekap hilir dan kotak operasi buka tutup"/>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KEANDALAN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SAIDI, SAIFI, ENS langsung dari operasi</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SAIDI</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Σ(pelanggan padam × menit) ÷ pelanggan dilayani.</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SAIFI</a:t>
            </a:r>
            <a:endParaRPr lang="en-US" sz="1600" dirty="0"/>
          </a:p>
        </p:txBody>
      </p:sp>
      <p:sp>
        <p:nvSpPr>
          <p:cNvPr id="7" name="Text 5"/>
          <p:cNvSpPr/>
          <p:nvPr/>
        </p:nvSpPr>
        <p:spPr>
          <a:xfrm>
            <a:off x="812800" y="2864842"/>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Σ pelanggan padam ÷ pelanggan dilayani.</a:t>
            </a:r>
            <a:endParaRPr lang="en-US" sz="1200" dirty="0"/>
          </a:p>
        </p:txBody>
      </p:sp>
      <p:sp>
        <p:nvSpPr>
          <p:cNvPr id="8" name="Text 6"/>
          <p:cNvSpPr/>
          <p:nvPr/>
        </p:nvSpPr>
        <p:spPr>
          <a:xfrm>
            <a:off x="812800" y="3255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ENS kWh &amp; Rupiah</a:t>
            </a:r>
            <a:endParaRPr lang="en-US" sz="1600" dirty="0"/>
          </a:p>
        </p:txBody>
      </p:sp>
      <p:sp>
        <p:nvSpPr>
          <p:cNvPr id="9" name="Text 7"/>
          <p:cNvSpPr/>
          <p:nvPr/>
        </p:nvSpPr>
        <p:spPr>
          <a:xfrm>
            <a:off x="812800" y="353784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Daya padam × faktor beban × cos φ × durasi × tarif.</a:t>
            </a:r>
            <a:endParaRPr lang="en-US" sz="1200" dirty="0"/>
          </a:p>
        </p:txBody>
      </p:sp>
      <p:sp>
        <p:nvSpPr>
          <p:cNvPr id="10" name="Text 8"/>
          <p:cNvSpPr/>
          <p:nvPr/>
        </p:nvSpPr>
        <p:spPr>
          <a:xfrm>
            <a:off x="812800" y="3928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Per level kejadian</a:t>
            </a:r>
            <a:endParaRPr lang="en-US" sz="1600" dirty="0"/>
          </a:p>
        </p:txBody>
      </p:sp>
      <p:sp>
        <p:nvSpPr>
          <p:cNvPr id="11" name="Text 9"/>
          <p:cNvSpPr/>
          <p:nvPr/>
        </p:nvSpPr>
        <p:spPr>
          <a:xfrm>
            <a:off x="812800" y="421084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GI, trafo GI, penyulang, zona, gardu, trafo, jurusan, pelanggan.</a:t>
            </a:r>
            <a:endParaRPr lang="en-US" sz="1200" dirty="0"/>
          </a:p>
        </p:txBody>
      </p:sp>
      <p:pic>
        <p:nvPicPr>
          <p:cNvPr id="12" name="Image 0" descr="Indeks keandalan dan daftar kejadian padam per level"/>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SEQUENCE OF EVENTS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Setiap kejadian tercatat sampai milidetik</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Kronologis realtime</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Buka/tutup, pemutusan, padam mulai dan selesai.</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Tingkat keparahan</a:t>
            </a:r>
            <a:endParaRPr lang="en-US" sz="1600" dirty="0"/>
          </a:p>
        </p:txBody>
      </p:sp>
      <p:sp>
        <p:nvSpPr>
          <p:cNvPr id="7" name="Text 5"/>
          <p:cNvSpPr/>
          <p:nvPr/>
        </p:nvSpPr>
        <p:spPr>
          <a:xfrm>
            <a:off x="812800" y="2864842"/>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Normal, peringatan, serius, kritis, dengan ikon dan teks.</a:t>
            </a:r>
            <a:endParaRPr lang="en-US" sz="1200" dirty="0"/>
          </a:p>
        </p:txBody>
      </p:sp>
      <p:sp>
        <p:nvSpPr>
          <p:cNvPr id="8" name="Text 6"/>
          <p:cNvSpPr/>
          <p:nvPr/>
        </p:nvSpPr>
        <p:spPr>
          <a:xfrm>
            <a:off x="812800" y="34692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Kendali operator</a:t>
            </a:r>
            <a:endParaRPr lang="en-US" sz="1600" dirty="0"/>
          </a:p>
        </p:txBody>
      </p:sp>
      <p:sp>
        <p:nvSpPr>
          <p:cNvPr id="9" name="Text 7"/>
          <p:cNvSpPr/>
          <p:nvPr/>
        </p:nvSpPr>
        <p:spPr>
          <a:xfrm>
            <a:off x="812800" y="3751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Jeda/lanjut, filter, pencarian, alarm suara.</a:t>
            </a:r>
            <a:endParaRPr lang="en-US" sz="1200" dirty="0"/>
          </a:p>
        </p:txBody>
      </p:sp>
      <p:sp>
        <p:nvSpPr>
          <p:cNvPr id="10" name="Text 8"/>
          <p:cNvSpPr/>
          <p:nvPr/>
        </p:nvSpPr>
        <p:spPr>
          <a:xfrm>
            <a:off x="812800" y="414228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Siap audit</a:t>
            </a:r>
            <a:endParaRPr lang="en-US" sz="1600" dirty="0"/>
          </a:p>
        </p:txBody>
      </p:sp>
      <p:sp>
        <p:nvSpPr>
          <p:cNvPr id="11" name="Text 9"/>
          <p:cNvSpPr/>
          <p:nvPr/>
        </p:nvSpPr>
        <p:spPr>
          <a:xfrm>
            <a:off x="812800" y="442416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Ekspor CSV, retensi dapat diatur, sinkron ulang otomatis.</a:t>
            </a:r>
            <a:endParaRPr lang="en-US" sz="1200" dirty="0"/>
          </a:p>
        </p:txBody>
      </p:sp>
      <p:pic>
        <p:nvPicPr>
          <p:cNvPr id="12" name="Image 0" descr="Tab SOE dengan daftar event berwarna menurut keparah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93B"/>
                </a:solidFill>
                <a:latin typeface="IBM Plex Sans" pitchFamily="34" charset="0"/>
                <a:ea typeface="IBM Plex Sans" pitchFamily="34" charset="-122"/>
                <a:cs typeface="IBM Plex Sans" pitchFamily="34" charset="-120"/>
              </a:rPr>
              <a:t>ANALISIS · SINGLE LINE DIAGRAM</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F5F6F2"/>
                </a:solidFill>
                <a:latin typeface="Space Grotesk" pitchFamily="34" charset="0"/>
                <a:ea typeface="Space Grotesk" pitchFamily="34" charset="-122"/>
                <a:cs typeface="Space Grotesk" pitchFamily="34" charset="-120"/>
              </a:rPr>
              <a:t>SLD dari GIS, tanpa menggambar ulang</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Lima cakupan</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CBDA"/>
                </a:solidFill>
                <a:latin typeface="IBM Plex Sans" pitchFamily="34" charset="0"/>
                <a:ea typeface="IBM Plex Sans" pitchFamily="34" charset="-122"/>
                <a:cs typeface="IBM Plex Sans" pitchFamily="34" charset="-120"/>
              </a:rPr>
              <a:t>Penyulang, GI, gardu distribusi, objek, atau area poligon.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Empat tingkat detail</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CBDA"/>
                </a:solidFill>
                <a:latin typeface="IBM Plex Sans" pitchFamily="34" charset="0"/>
                <a:ea typeface="IBM Plex Sans" pitchFamily="34" charset="-122"/>
                <a:cs typeface="IBM Plex Sans" pitchFamily="34" charset="-120"/>
              </a:rPr>
              <a:t>Hanya TM sampai pelanggan; seksi disederhanakan otomatis.</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Manuver dari diagram</a:t>
            </a:r>
            <a:endParaRPr lang="en-US" sz="1600" dirty="0"/>
          </a:p>
        </p:txBody>
      </p:sp>
      <p:sp>
        <p:nvSpPr>
          <p:cNvPr id="9" name="Text 7"/>
          <p:cNvSpPr/>
          <p:nvPr/>
        </p:nvSpPr>
        <p:spPr>
          <a:xfrm>
            <a:off x="812800" y="39644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CBDA"/>
                </a:solidFill>
                <a:latin typeface="IBM Plex Sans" pitchFamily="34" charset="0"/>
                <a:ea typeface="IBM Plex Sans" pitchFamily="34" charset="-122"/>
                <a:cs typeface="IBM Plex Sans" pitchFamily="34" charset="-120"/>
              </a:rPr>
              <a:t>Warna berubah realtime, sinkron dengan peta.</a:t>
            </a:r>
            <a:endParaRPr lang="en-US" sz="1200" dirty="0"/>
          </a:p>
        </p:txBody>
      </p:sp>
      <p:sp>
        <p:nvSpPr>
          <p:cNvPr id="10" name="Text 8"/>
          <p:cNvSpPr/>
          <p:nvPr/>
        </p:nvSpPr>
        <p:spPr>
          <a:xfrm>
            <a:off x="812800" y="43556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Siap cetak</a:t>
            </a:r>
            <a:endParaRPr lang="en-US" sz="1600" dirty="0"/>
          </a:p>
        </p:txBody>
      </p:sp>
      <p:sp>
        <p:nvSpPr>
          <p:cNvPr id="11" name="Text 9"/>
          <p:cNvSpPr/>
          <p:nvPr/>
        </p:nvSpPr>
        <p:spPr>
          <a:xfrm>
            <a:off x="812800" y="4637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CBDA"/>
                </a:solidFill>
                <a:latin typeface="IBM Plex Sans" pitchFamily="34" charset="0"/>
                <a:ea typeface="IBM Plex Sans" pitchFamily="34" charset="-122"/>
                <a:cs typeface="IBM Plex Sans" pitchFamily="34" charset="-120"/>
              </a:rPr>
              <a:t>SVG, PNG, PDF A3 berkop; posisi manual tersimpan.</a:t>
            </a:r>
            <a:endParaRPr lang="en-US" sz="1200" dirty="0"/>
          </a:p>
        </p:txBody>
      </p:sp>
      <p:pic>
        <p:nvPicPr>
          <p:cNvPr id="12" name="Image 0" descr="Single Line Diagram penyulang dengan simbol IEC dan penanda kelanjut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508000" dist="190500" dir="5400000" algn="bl" rotWithShape="0">
              <a:srgbClr val="000000">
                <a:alpha val="45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2B4A7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A"/>
                </a:solidFill>
                <a:latin typeface="IBM Plex Sans" pitchFamily="34" charset="0"/>
                <a:ea typeface="IBM Plex Sans" pitchFamily="34" charset="-122"/>
                <a:cs typeface="IBM Plex Sans" pitchFamily="34" charset="-120"/>
              </a:rPr>
              <a:t>QuadranGIS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ANALISIS · ALIRAN DAYA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Tegangan dan pembebanan per penyulang</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Backward/forward sweep</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Tegangan tiap node (pu), arus, dan susut per penyulang.</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Skenario beban</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Faktor beban, cos φ, dan tegangan kirim dapat diubah.</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Penghantar &amp; trafo</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Peringkat penyulang kritis dan saluran paling terbebani.</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Overlay peta &amp; SLD</a:t>
            </a:r>
            <a:endParaRPr lang="en-US" sz="1600" dirty="0"/>
          </a:p>
        </p:txBody>
      </p:sp>
      <p:sp>
        <p:nvSpPr>
          <p:cNvPr id="11" name="Text 9"/>
          <p:cNvSpPr/>
          <p:nvPr/>
        </p:nvSpPr>
        <p:spPr>
          <a:xfrm>
            <a:off x="812800" y="4850805"/>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Warna pembebanan &lt;60, 60–80, 80–100, &gt;100 %.</a:t>
            </a:r>
            <a:endParaRPr lang="en-US" sz="1200" dirty="0"/>
          </a:p>
        </p:txBody>
      </p:sp>
      <p:pic>
        <p:nvPicPr>
          <p:cNvPr id="12" name="Image 0" descr="Halaman Aliran Daya dengan skenario beban dan peta penyulang"/>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5822"/>
          </a:xfrm>
          <a:prstGeom prst="rect">
            <a:avLst/>
          </a:prstGeom>
          <a:noFill/>
          <a:ln/>
        </p:spPr>
        <p:txBody>
          <a:bodyPr wrap="square" lIns="0" tIns="0" rIns="0" bIns="0" rtlCol="0" anchor="t">
            <a:normAutofit/>
          </a:bodyPr>
          <a:lstStyle/>
          <a:p>
            <a:pPr marL="0" indent="0" algn="l">
              <a:lnSpc>
                <a:spcPts val="1622"/>
              </a:lnSpc>
              <a:buNone/>
            </a:pPr>
            <a:r>
              <a:rPr lang="en-US" sz="1159" b="1" kern="0" spc="150" dirty="0">
                <a:solidFill>
                  <a:srgbClr val="2563EB"/>
                </a:solidFill>
                <a:latin typeface="IBM Plex Sans" pitchFamily="34" charset="0"/>
                <a:ea typeface="IBM Plex Sans" pitchFamily="34" charset="-122"/>
                <a:cs typeface="IBM Plex Sans" pitchFamily="34" charset="-120"/>
              </a:rPr>
              <a:t>ANALISIS · WILAYAH &amp; PELANGGAN</a:t>
            </a:r>
            <a:endParaRPr lang="en-US" sz="1159" dirty="0"/>
          </a:p>
        </p:txBody>
      </p:sp>
      <p:sp>
        <p:nvSpPr>
          <p:cNvPr id="3" name="Text 1"/>
          <p:cNvSpPr/>
          <p:nvPr/>
        </p:nvSpPr>
        <p:spPr>
          <a:xfrm>
            <a:off x="812800" y="1089422"/>
            <a:ext cx="10883392" cy="970161"/>
          </a:xfrm>
          <a:prstGeom prst="rect">
            <a:avLst/>
          </a:prstGeom>
          <a:noFill/>
          <a:ln/>
        </p:spPr>
        <p:txBody>
          <a:bodyPr wrap="square" lIns="0" tIns="0" rIns="0" bIns="0" rtlCol="0" anchor="t">
            <a:normAutofit/>
          </a:bodyPr>
          <a:lstStyle/>
          <a:p>
            <a:pPr marL="0" indent="0" algn="l">
              <a:lnSpc>
                <a:spcPts val="3824"/>
              </a:lnSpc>
              <a:buNone/>
            </a:pPr>
            <a:r>
              <a:rPr lang="en-US" sz="3476" b="1" dirty="0">
                <a:solidFill>
                  <a:srgbClr val="0E1A2B"/>
                </a:solidFill>
                <a:latin typeface="Space Grotesk" pitchFamily="34" charset="0"/>
                <a:ea typeface="Space Grotesk" pitchFamily="34" charset="-122"/>
                <a:cs typeface="Space Grotesk" pitchFamily="34" charset="-120"/>
              </a:rPr>
              <a:t>Wilayah kerja dan pelanggan dalam satu tampilan</a:t>
            </a:r>
            <a:endParaRPr lang="en-US" sz="3476" dirty="0"/>
          </a:p>
        </p:txBody>
      </p:sp>
      <p:sp>
        <p:nvSpPr>
          <p:cNvPr id="4" name="Text 2"/>
          <p:cNvSpPr/>
          <p:nvPr/>
        </p:nvSpPr>
        <p:spPr>
          <a:xfrm>
            <a:off x="812800" y="23389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Batas UP3 &amp; ULP</a:t>
            </a:r>
            <a:endParaRPr lang="en-US" sz="1600" dirty="0"/>
          </a:p>
        </p:txBody>
      </p:sp>
      <p:sp>
        <p:nvSpPr>
          <p:cNvPr id="5" name="Text 3"/>
          <p:cNvSpPr/>
          <p:nvPr/>
        </p:nvSpPr>
        <p:spPr>
          <a:xfrm>
            <a:off x="812800" y="26208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Dari shapefile; warna berbeda, transparansi per pengguna.</a:t>
            </a:r>
            <a:endParaRPr lang="en-US" sz="1200" dirty="0"/>
          </a:p>
        </p:txBody>
      </p:sp>
      <p:sp>
        <p:nvSpPr>
          <p:cNvPr id="6" name="Text 4"/>
          <p:cNvSpPr/>
          <p:nvPr/>
        </p:nvSpPr>
        <p:spPr>
          <a:xfrm>
            <a:off x="812800" y="32253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Daftar pelanggan</a:t>
            </a:r>
            <a:endParaRPr lang="en-US" sz="1600" dirty="0"/>
          </a:p>
        </p:txBody>
      </p:sp>
      <p:sp>
        <p:nvSpPr>
          <p:cNvPr id="7" name="Text 5"/>
          <p:cNvSpPr/>
          <p:nvPr/>
        </p:nvSpPr>
        <p:spPr>
          <a:xfrm>
            <a:off x="812800" y="35071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Nyala/padam, cari kode, nama, atau kode SSOT.</a:t>
            </a:r>
            <a:endParaRPr lang="en-US" sz="1200" dirty="0"/>
          </a:p>
        </p:txBody>
      </p:sp>
      <p:sp>
        <p:nvSpPr>
          <p:cNvPr id="8" name="Text 6"/>
          <p:cNvSpPr/>
          <p:nvPr/>
        </p:nvSpPr>
        <p:spPr>
          <a:xfrm>
            <a:off x="812800" y="3898305"/>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Padam per pelanggan</a:t>
            </a:r>
            <a:endParaRPr lang="en-US" sz="1600" dirty="0"/>
          </a:p>
        </p:txBody>
      </p:sp>
      <p:sp>
        <p:nvSpPr>
          <p:cNvPr id="9" name="Text 7"/>
          <p:cNvSpPr/>
          <p:nvPr/>
        </p:nvSpPr>
        <p:spPr>
          <a:xfrm>
            <a:off x="812800" y="4180185"/>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Waktu mulai, kategori, dan nomor kejadian aktif.</a:t>
            </a:r>
            <a:endParaRPr lang="en-US" sz="1200" dirty="0"/>
          </a:p>
        </p:txBody>
      </p:sp>
      <p:sp>
        <p:nvSpPr>
          <p:cNvPr id="10" name="Text 8"/>
          <p:cNvSpPr/>
          <p:nvPr/>
        </p:nvSpPr>
        <p:spPr>
          <a:xfrm>
            <a:off x="812800" y="4571305"/>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Trace hulu/hilir</a:t>
            </a:r>
            <a:endParaRPr lang="en-US" sz="1600" dirty="0"/>
          </a:p>
        </p:txBody>
      </p:sp>
      <p:sp>
        <p:nvSpPr>
          <p:cNvPr id="11" name="Text 9"/>
          <p:cNvSpPr/>
          <p:nvPr/>
        </p:nvSpPr>
        <p:spPr>
          <a:xfrm>
            <a:off x="812800" y="4853186"/>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Ringkasan node, panjang, dan pelanggan terdampak.</a:t>
            </a:r>
            <a:endParaRPr lang="en-US" sz="1200" dirty="0"/>
          </a:p>
        </p:txBody>
      </p:sp>
      <p:pic>
        <p:nvPicPr>
          <p:cNvPr id="12" name="Image 0" descr="Overlay batas wilayah UP3 di peta Monitoring"/>
          <p:cNvPicPr>
            <a:picLocks noChangeAspect="1"/>
          </p:cNvPicPr>
          <p:nvPr/>
        </p:nvPicPr>
        <p:blipFill>
          <a:blip r:embed="rId3"/>
          <a:srcRect t="75" b="75"/>
          <a:stretch/>
        </p:blipFill>
        <p:spPr>
          <a:xfrm>
            <a:off x="4781550" y="2345333"/>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2342158"/>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93B"/>
                </a:solidFill>
                <a:latin typeface="IBM Plex Sans" pitchFamily="34" charset="0"/>
                <a:ea typeface="IBM Plex Sans" pitchFamily="34" charset="-122"/>
                <a:cs typeface="IBM Plex Sans" pitchFamily="34" charset="-120"/>
              </a:rPr>
              <a:t>CARA KERJA · ARSITEKTUR</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F5F6F2"/>
                </a:solidFill>
                <a:latin typeface="Space Grotesk" pitchFamily="34" charset="0"/>
                <a:ea typeface="Space Grotesk" pitchFamily="34" charset="-122"/>
                <a:cs typeface="Space Grotesk" pitchFamily="34" charset="-120"/>
              </a:rPr>
              <a:t>Empat lapisan, satu graf topologi</a:t>
            </a:r>
            <a:endParaRPr lang="en-US" sz="3600" dirty="0"/>
          </a:p>
        </p:txBody>
      </p:sp>
      <p:sp>
        <p:nvSpPr>
          <p:cNvPr id="4" name="Text 2"/>
          <p:cNvSpPr/>
          <p:nvPr/>
        </p:nvSpPr>
        <p:spPr>
          <a:xfrm>
            <a:off x="812800" y="2268041"/>
            <a:ext cx="222377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FB0FF"/>
                </a:solidFill>
                <a:latin typeface="IBM Plex Sans" pitchFamily="34" charset="0"/>
                <a:ea typeface="IBM Plex Sans" pitchFamily="34" charset="-122"/>
                <a:cs typeface="IBM Plex Sans" pitchFamily="34" charset="-120"/>
              </a:rPr>
              <a:t>PENGGUNA</a:t>
            </a:r>
            <a:endParaRPr lang="en-US" sz="1200" dirty="0"/>
          </a:p>
        </p:txBody>
      </p:sp>
      <p:sp>
        <p:nvSpPr>
          <p:cNvPr id="5" name="Shape 3"/>
          <p:cNvSpPr/>
          <p:nvPr/>
        </p:nvSpPr>
        <p:spPr>
          <a:xfrm>
            <a:off x="815975" y="2586137"/>
            <a:ext cx="2152650" cy="760611"/>
          </a:xfrm>
          <a:prstGeom prst="roundRect">
            <a:avLst>
              <a:gd name="adj" fmla="val 11271"/>
            </a:avLst>
          </a:prstGeom>
          <a:solidFill>
            <a:srgbClr val="13233A"/>
          </a:solidFill>
          <a:ln w="6350">
            <a:solidFill>
              <a:srgbClr val="2B4A73"/>
            </a:solidFill>
            <a:prstDash val="solid"/>
          </a:ln>
        </p:spPr>
      </p:sp>
      <p:sp>
        <p:nvSpPr>
          <p:cNvPr id="6" name="Text 4"/>
          <p:cNvSpPr/>
          <p:nvPr/>
        </p:nvSpPr>
        <p:spPr>
          <a:xfrm>
            <a:off x="971550" y="2741712"/>
            <a:ext cx="189674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Browser</a:t>
            </a:r>
            <a:endParaRPr lang="en-US" sz="1600" dirty="0"/>
          </a:p>
        </p:txBody>
      </p:sp>
      <p:sp>
        <p:nvSpPr>
          <p:cNvPr id="7" name="Text 5"/>
          <p:cNvSpPr/>
          <p:nvPr/>
        </p:nvSpPr>
        <p:spPr>
          <a:xfrm>
            <a:off x="971550" y="2985492"/>
            <a:ext cx="189674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Peta, monitoring, SLD, AI</a:t>
            </a:r>
            <a:endParaRPr lang="en-US" sz="1200" dirty="0"/>
          </a:p>
        </p:txBody>
      </p:sp>
      <p:sp>
        <p:nvSpPr>
          <p:cNvPr id="8" name="Shape 6"/>
          <p:cNvSpPr/>
          <p:nvPr/>
        </p:nvSpPr>
        <p:spPr>
          <a:xfrm>
            <a:off x="815975" y="3454698"/>
            <a:ext cx="2152650" cy="760611"/>
          </a:xfrm>
          <a:prstGeom prst="roundRect">
            <a:avLst>
              <a:gd name="adj" fmla="val 11271"/>
            </a:avLst>
          </a:prstGeom>
          <a:solidFill>
            <a:srgbClr val="13233A"/>
          </a:solidFill>
          <a:ln w="6350">
            <a:solidFill>
              <a:srgbClr val="2B4A73"/>
            </a:solidFill>
            <a:prstDash val="solid"/>
          </a:ln>
        </p:spPr>
      </p:sp>
      <p:sp>
        <p:nvSpPr>
          <p:cNvPr id="9" name="Text 7"/>
          <p:cNvSpPr/>
          <p:nvPr/>
        </p:nvSpPr>
        <p:spPr>
          <a:xfrm>
            <a:off x="971550" y="3610273"/>
            <a:ext cx="189674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QGIS / ArcGIS</a:t>
            </a:r>
            <a:endParaRPr lang="en-US" sz="1600" dirty="0"/>
          </a:p>
        </p:txBody>
      </p:sp>
      <p:sp>
        <p:nvSpPr>
          <p:cNvPr id="10" name="Text 8"/>
          <p:cNvSpPr/>
          <p:nvPr/>
        </p:nvSpPr>
        <p:spPr>
          <a:xfrm>
            <a:off x="971550" y="3854053"/>
            <a:ext cx="189674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GeoJSON, GDB</a:t>
            </a:r>
            <a:endParaRPr lang="en-US" sz="1200" dirty="0"/>
          </a:p>
        </p:txBody>
      </p:sp>
      <p:pic>
        <p:nvPicPr>
          <p:cNvPr id="11" name="Image 0" descr="arrow-right"/>
          <p:cNvPicPr>
            <a:picLocks noChangeAspect="1"/>
          </p:cNvPicPr>
          <p:nvPr/>
        </p:nvPicPr>
        <p:blipFill>
          <a:blip r:embed="rId3"/>
          <a:srcRect/>
          <a:stretch/>
        </p:blipFill>
        <p:spPr>
          <a:xfrm>
            <a:off x="3031034" y="3154363"/>
            <a:ext cx="355600" cy="177800"/>
          </a:xfrm>
          <a:prstGeom prst="rect">
            <a:avLst/>
          </a:prstGeom>
        </p:spPr>
      </p:pic>
      <p:sp>
        <p:nvSpPr>
          <p:cNvPr id="12" name="Text 9"/>
          <p:cNvSpPr/>
          <p:nvPr/>
        </p:nvSpPr>
        <p:spPr>
          <a:xfrm>
            <a:off x="3445867" y="2599432"/>
            <a:ext cx="196215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4B2FF"/>
                </a:solidFill>
                <a:latin typeface="IBM Plex Sans" pitchFamily="34" charset="0"/>
                <a:ea typeface="IBM Plex Sans" pitchFamily="34" charset="-122"/>
                <a:cs typeface="IBM Plex Sans" pitchFamily="34" charset="-120"/>
              </a:rPr>
              <a:t>EDGE</a:t>
            </a:r>
            <a:endParaRPr lang="en-US" sz="1200" dirty="0"/>
          </a:p>
        </p:txBody>
      </p:sp>
      <p:sp>
        <p:nvSpPr>
          <p:cNvPr id="13" name="Shape 10"/>
          <p:cNvSpPr/>
          <p:nvPr/>
        </p:nvSpPr>
        <p:spPr>
          <a:xfrm>
            <a:off x="3449042" y="2917527"/>
            <a:ext cx="1898650" cy="966291"/>
          </a:xfrm>
          <a:prstGeom prst="roundRect">
            <a:avLst>
              <a:gd name="adj" fmla="val 8872"/>
            </a:avLst>
          </a:prstGeom>
          <a:solidFill>
            <a:srgbClr val="13233A"/>
          </a:solidFill>
          <a:ln w="6350">
            <a:solidFill>
              <a:srgbClr val="2B4A73"/>
            </a:solidFill>
            <a:prstDash val="solid"/>
          </a:ln>
        </p:spPr>
      </p:sp>
      <p:sp>
        <p:nvSpPr>
          <p:cNvPr id="14" name="Text 11"/>
          <p:cNvSpPr/>
          <p:nvPr/>
        </p:nvSpPr>
        <p:spPr>
          <a:xfrm>
            <a:off x="3604617" y="3073102"/>
            <a:ext cx="163830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nginx</a:t>
            </a:r>
            <a:endParaRPr lang="en-US" sz="1600" dirty="0"/>
          </a:p>
        </p:txBody>
      </p:sp>
      <p:sp>
        <p:nvSpPr>
          <p:cNvPr id="15" name="Text 12"/>
          <p:cNvSpPr/>
          <p:nvPr/>
        </p:nvSpPr>
        <p:spPr>
          <a:xfrm>
            <a:off x="3604617" y="3316883"/>
            <a:ext cx="163830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HTTPS TLS 1.3, HSTS, gzip, proxy</a:t>
            </a:r>
            <a:endParaRPr lang="en-US" sz="1200" dirty="0"/>
          </a:p>
        </p:txBody>
      </p:sp>
      <p:pic>
        <p:nvPicPr>
          <p:cNvPr id="16" name="Image 1" descr="arrow-right"/>
          <p:cNvPicPr>
            <a:picLocks noChangeAspect="1"/>
          </p:cNvPicPr>
          <p:nvPr/>
        </p:nvPicPr>
        <p:blipFill>
          <a:blip r:embed="rId3"/>
          <a:srcRect/>
          <a:stretch/>
        </p:blipFill>
        <p:spPr>
          <a:xfrm>
            <a:off x="5410101" y="3154363"/>
            <a:ext cx="355600" cy="177800"/>
          </a:xfrm>
          <a:prstGeom prst="rect">
            <a:avLst/>
          </a:prstGeom>
        </p:spPr>
      </p:pic>
      <p:sp>
        <p:nvSpPr>
          <p:cNvPr id="17" name="Text 13"/>
          <p:cNvSpPr/>
          <p:nvPr/>
        </p:nvSpPr>
        <p:spPr>
          <a:xfrm>
            <a:off x="5825034" y="2165152"/>
            <a:ext cx="274701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FE0CC"/>
                </a:solidFill>
                <a:latin typeface="IBM Plex Sans" pitchFamily="34" charset="0"/>
                <a:ea typeface="IBM Plex Sans" pitchFamily="34" charset="-122"/>
                <a:cs typeface="IBM Plex Sans" pitchFamily="34" charset="-120"/>
              </a:rPr>
              <a:t>APLIKASI</a:t>
            </a:r>
            <a:endParaRPr lang="en-US" sz="1200" dirty="0"/>
          </a:p>
        </p:txBody>
      </p:sp>
      <p:sp>
        <p:nvSpPr>
          <p:cNvPr id="18" name="Shape 14"/>
          <p:cNvSpPr/>
          <p:nvPr/>
        </p:nvSpPr>
        <p:spPr>
          <a:xfrm>
            <a:off x="5828209" y="2483247"/>
            <a:ext cx="2660650" cy="760611"/>
          </a:xfrm>
          <a:prstGeom prst="roundRect">
            <a:avLst>
              <a:gd name="adj" fmla="val 11271"/>
            </a:avLst>
          </a:prstGeom>
          <a:solidFill>
            <a:srgbClr val="13233A"/>
          </a:solidFill>
          <a:ln w="6350">
            <a:solidFill>
              <a:srgbClr val="2B4A73"/>
            </a:solidFill>
            <a:prstDash val="solid"/>
          </a:ln>
        </p:spPr>
      </p:sp>
      <p:sp>
        <p:nvSpPr>
          <p:cNvPr id="19" name="Text 15"/>
          <p:cNvSpPr/>
          <p:nvPr/>
        </p:nvSpPr>
        <p:spPr>
          <a:xfrm>
            <a:off x="5983784" y="2638822"/>
            <a:ext cx="241998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Next.js</a:t>
            </a:r>
            <a:endParaRPr lang="en-US" sz="1600" dirty="0"/>
          </a:p>
        </p:txBody>
      </p:sp>
      <p:sp>
        <p:nvSpPr>
          <p:cNvPr id="20" name="Text 16"/>
          <p:cNvSpPr/>
          <p:nvPr/>
        </p:nvSpPr>
        <p:spPr>
          <a:xfrm>
            <a:off x="5983784" y="2882602"/>
            <a:ext cx="241998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MapLibre, SLD SVG, tema, ID/EN</a:t>
            </a:r>
            <a:endParaRPr lang="en-US" sz="1200" dirty="0"/>
          </a:p>
        </p:txBody>
      </p:sp>
      <p:sp>
        <p:nvSpPr>
          <p:cNvPr id="21" name="Shape 17"/>
          <p:cNvSpPr/>
          <p:nvPr/>
        </p:nvSpPr>
        <p:spPr>
          <a:xfrm>
            <a:off x="5828209" y="3351808"/>
            <a:ext cx="2660650" cy="966291"/>
          </a:xfrm>
          <a:prstGeom prst="roundRect">
            <a:avLst>
              <a:gd name="adj" fmla="val 8872"/>
            </a:avLst>
          </a:prstGeom>
          <a:solidFill>
            <a:srgbClr val="13233A"/>
          </a:solidFill>
          <a:ln w="6350">
            <a:solidFill>
              <a:srgbClr val="2B4A73"/>
            </a:solidFill>
            <a:prstDash val="solid"/>
          </a:ln>
        </p:spPr>
      </p:sp>
      <p:sp>
        <p:nvSpPr>
          <p:cNvPr id="22" name="Text 18"/>
          <p:cNvSpPr/>
          <p:nvPr/>
        </p:nvSpPr>
        <p:spPr>
          <a:xfrm>
            <a:off x="5983784" y="3507383"/>
            <a:ext cx="241998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Go backend</a:t>
            </a:r>
            <a:endParaRPr lang="en-US" sz="1600" dirty="0"/>
          </a:p>
        </p:txBody>
      </p:sp>
      <p:sp>
        <p:nvSpPr>
          <p:cNvPr id="23" name="Text 19"/>
          <p:cNvSpPr/>
          <p:nvPr/>
        </p:nvSpPr>
        <p:spPr>
          <a:xfrm>
            <a:off x="5983784" y="3751163"/>
            <a:ext cx="2419985"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Graf memori, energisasi, keandalan, SLD, aliran daya</a:t>
            </a:r>
            <a:endParaRPr lang="en-US" sz="1200" dirty="0"/>
          </a:p>
        </p:txBody>
      </p:sp>
      <p:pic>
        <p:nvPicPr>
          <p:cNvPr id="24" name="Image 2" descr="arrow-right"/>
          <p:cNvPicPr>
            <a:picLocks noChangeAspect="1"/>
          </p:cNvPicPr>
          <p:nvPr/>
        </p:nvPicPr>
        <p:blipFill>
          <a:blip r:embed="rId3"/>
          <a:srcRect/>
          <a:stretch/>
        </p:blipFill>
        <p:spPr>
          <a:xfrm>
            <a:off x="8551267" y="3154363"/>
            <a:ext cx="355600" cy="177800"/>
          </a:xfrm>
          <a:prstGeom prst="rect">
            <a:avLst/>
          </a:prstGeom>
        </p:spPr>
      </p:pic>
      <p:sp>
        <p:nvSpPr>
          <p:cNvPr id="25" name="Text 20"/>
          <p:cNvSpPr/>
          <p:nvPr/>
        </p:nvSpPr>
        <p:spPr>
          <a:xfrm>
            <a:off x="8966200" y="1909961"/>
            <a:ext cx="248539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C074"/>
                </a:solidFill>
                <a:latin typeface="IBM Plex Sans" pitchFamily="34" charset="0"/>
                <a:ea typeface="IBM Plex Sans" pitchFamily="34" charset="-122"/>
                <a:cs typeface="IBM Plex Sans" pitchFamily="34" charset="-120"/>
              </a:rPr>
              <a:t>DATA &amp; LAYANAN</a:t>
            </a:r>
            <a:endParaRPr lang="en-US" sz="1200" dirty="0"/>
          </a:p>
        </p:txBody>
      </p:sp>
      <p:sp>
        <p:nvSpPr>
          <p:cNvPr id="26" name="Shape 21"/>
          <p:cNvSpPr/>
          <p:nvPr/>
        </p:nvSpPr>
        <p:spPr>
          <a:xfrm>
            <a:off x="8969375" y="2228056"/>
            <a:ext cx="2406650" cy="709811"/>
          </a:xfrm>
          <a:prstGeom prst="roundRect">
            <a:avLst>
              <a:gd name="adj" fmla="val 12077"/>
            </a:avLst>
          </a:prstGeom>
          <a:solidFill>
            <a:srgbClr val="13233A"/>
          </a:solidFill>
          <a:ln w="6350">
            <a:solidFill>
              <a:srgbClr val="2B4A73"/>
            </a:solidFill>
            <a:prstDash val="solid"/>
          </a:ln>
        </p:spPr>
      </p:sp>
      <p:sp>
        <p:nvSpPr>
          <p:cNvPr id="27" name="Text 22"/>
          <p:cNvSpPr/>
          <p:nvPr/>
        </p:nvSpPr>
        <p:spPr>
          <a:xfrm>
            <a:off x="9124950" y="2358231"/>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PostgreSQL</a:t>
            </a:r>
            <a:endParaRPr lang="en-US" sz="1600" dirty="0"/>
          </a:p>
        </p:txBody>
      </p:sp>
      <p:sp>
        <p:nvSpPr>
          <p:cNvPr id="28" name="Text 23"/>
          <p:cNvSpPr/>
          <p:nvPr/>
        </p:nvSpPr>
        <p:spPr>
          <a:xfrm>
            <a:off x="9124950" y="2602012"/>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PostGIS, TimescaleDB</a:t>
            </a:r>
            <a:endParaRPr lang="en-US" sz="1200" dirty="0"/>
          </a:p>
        </p:txBody>
      </p:sp>
      <p:sp>
        <p:nvSpPr>
          <p:cNvPr id="29" name="Shape 24"/>
          <p:cNvSpPr/>
          <p:nvPr/>
        </p:nvSpPr>
        <p:spPr>
          <a:xfrm>
            <a:off x="8969375" y="3045817"/>
            <a:ext cx="2406650" cy="709811"/>
          </a:xfrm>
          <a:prstGeom prst="roundRect">
            <a:avLst>
              <a:gd name="adj" fmla="val 12077"/>
            </a:avLst>
          </a:prstGeom>
          <a:solidFill>
            <a:srgbClr val="13233A"/>
          </a:solidFill>
          <a:ln w="6350">
            <a:solidFill>
              <a:srgbClr val="2B4A73"/>
            </a:solidFill>
            <a:prstDash val="solid"/>
          </a:ln>
        </p:spPr>
      </p:sp>
      <p:sp>
        <p:nvSpPr>
          <p:cNvPr id="30" name="Text 25"/>
          <p:cNvSpPr/>
          <p:nvPr/>
        </p:nvSpPr>
        <p:spPr>
          <a:xfrm>
            <a:off x="9124950" y="3175992"/>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Redis · Kafka</a:t>
            </a:r>
            <a:endParaRPr lang="en-US" sz="1600" dirty="0"/>
          </a:p>
        </p:txBody>
      </p:sp>
      <p:sp>
        <p:nvSpPr>
          <p:cNvPr id="31" name="Text 26"/>
          <p:cNvSpPr/>
          <p:nvPr/>
        </p:nvSpPr>
        <p:spPr>
          <a:xfrm>
            <a:off x="9124950" y="3419773"/>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Cache, realtime, event</a:t>
            </a:r>
            <a:endParaRPr lang="en-US" sz="1200" dirty="0"/>
          </a:p>
        </p:txBody>
      </p:sp>
      <p:sp>
        <p:nvSpPr>
          <p:cNvPr id="32" name="Shape 27"/>
          <p:cNvSpPr/>
          <p:nvPr/>
        </p:nvSpPr>
        <p:spPr>
          <a:xfrm>
            <a:off x="8969375" y="3863578"/>
            <a:ext cx="2406650" cy="709811"/>
          </a:xfrm>
          <a:prstGeom prst="roundRect">
            <a:avLst>
              <a:gd name="adj" fmla="val 12077"/>
            </a:avLst>
          </a:prstGeom>
          <a:solidFill>
            <a:srgbClr val="13233A"/>
          </a:solidFill>
          <a:ln w="6350">
            <a:solidFill>
              <a:srgbClr val="2B4A73"/>
            </a:solidFill>
            <a:prstDash val="solid"/>
          </a:ln>
        </p:spPr>
      </p:sp>
      <p:sp>
        <p:nvSpPr>
          <p:cNvPr id="33" name="Text 28"/>
          <p:cNvSpPr/>
          <p:nvPr/>
        </p:nvSpPr>
        <p:spPr>
          <a:xfrm>
            <a:off x="9124950" y="3993753"/>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Penyedia AI</a:t>
            </a:r>
            <a:endParaRPr lang="en-US" sz="1600" dirty="0"/>
          </a:p>
        </p:txBody>
      </p:sp>
      <p:sp>
        <p:nvSpPr>
          <p:cNvPr id="34" name="Text 29"/>
          <p:cNvSpPr/>
          <p:nvPr/>
        </p:nvSpPr>
        <p:spPr>
          <a:xfrm>
            <a:off x="9124950" y="4237534"/>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Claude, ChatGPT, Kimi</a:t>
            </a:r>
            <a:endParaRPr lang="en-US" sz="1200" dirty="0"/>
          </a:p>
        </p:txBody>
      </p:sp>
      <p:sp>
        <p:nvSpPr>
          <p:cNvPr id="35" name="Text 3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A"/>
                </a:solidFill>
                <a:latin typeface="IBM Plex Sans" pitchFamily="34" charset="0"/>
                <a:ea typeface="IBM Plex Sans" pitchFamily="34" charset="-122"/>
                <a:cs typeface="IBM Plex Sans" pitchFamily="34" charset="-120"/>
              </a:rPr>
              <a:t>QuadranGIS · 17 · Semua layanan berjalan sebagai container Docker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PROSES BISNIS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Dari gangguan sampai laporan keandalan</a:t>
            </a:r>
            <a:endParaRPr lang="en-US" sz="3600" dirty="0"/>
          </a:p>
        </p:txBody>
      </p:sp>
      <p:sp>
        <p:nvSpPr>
          <p:cNvPr id="4" name="Shape 2"/>
          <p:cNvSpPr/>
          <p:nvPr/>
        </p:nvSpPr>
        <p:spPr>
          <a:xfrm>
            <a:off x="815975" y="1963936"/>
            <a:ext cx="1648817" cy="1799431"/>
          </a:xfrm>
          <a:prstGeom prst="roundRect">
            <a:avLst>
              <a:gd name="adj" fmla="val 5969"/>
            </a:avLst>
          </a:prstGeom>
          <a:solidFill>
            <a:srgbClr val="FFFFFF"/>
          </a:solidFill>
          <a:ln w="6350">
            <a:solidFill>
              <a:srgbClr val="DDE2E8"/>
            </a:solidFill>
            <a:prstDash val="solid"/>
          </a:ln>
        </p:spPr>
      </p:sp>
      <p:sp>
        <p:nvSpPr>
          <p:cNvPr id="5" name="Text 3"/>
          <p:cNvSpPr/>
          <p:nvPr/>
        </p:nvSpPr>
        <p:spPr>
          <a:xfrm>
            <a:off x="971550"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563EB"/>
                </a:solidFill>
                <a:latin typeface="Space Grotesk" pitchFamily="34" charset="0"/>
                <a:ea typeface="Space Grotesk" pitchFamily="34" charset="-122"/>
                <a:cs typeface="Space Grotesk" pitchFamily="34" charset="-120"/>
              </a:rPr>
              <a:t>01</a:t>
            </a:r>
            <a:endParaRPr lang="en-US" sz="2200" dirty="0"/>
          </a:p>
        </p:txBody>
      </p:sp>
      <p:sp>
        <p:nvSpPr>
          <p:cNvPr id="6" name="Text 4"/>
          <p:cNvSpPr/>
          <p:nvPr/>
        </p:nvSpPr>
        <p:spPr>
          <a:xfrm>
            <a:off x="971550"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Kejadian</a:t>
            </a:r>
            <a:endParaRPr lang="en-US" sz="1500" dirty="0"/>
          </a:p>
        </p:txBody>
      </p:sp>
      <p:sp>
        <p:nvSpPr>
          <p:cNvPr id="7" name="Text 5"/>
          <p:cNvSpPr/>
          <p:nvPr/>
        </p:nvSpPr>
        <p:spPr>
          <a:xfrm>
            <a:off x="971550" y="2942431"/>
            <a:ext cx="1388467"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Gangguan, jadwal pemeliharaan, atau MLS</a:t>
            </a:r>
            <a:endParaRPr lang="en-US" sz="1200" dirty="0"/>
          </a:p>
        </p:txBody>
      </p:sp>
      <p:sp>
        <p:nvSpPr>
          <p:cNvPr id="8" name="Shape 6"/>
          <p:cNvSpPr/>
          <p:nvPr/>
        </p:nvSpPr>
        <p:spPr>
          <a:xfrm>
            <a:off x="2598142" y="1963936"/>
            <a:ext cx="1648916" cy="1799431"/>
          </a:xfrm>
          <a:prstGeom prst="roundRect">
            <a:avLst>
              <a:gd name="adj" fmla="val 5969"/>
            </a:avLst>
          </a:prstGeom>
          <a:solidFill>
            <a:srgbClr val="FFFFFF"/>
          </a:solidFill>
          <a:ln w="6350">
            <a:solidFill>
              <a:srgbClr val="DDE2E8"/>
            </a:solidFill>
            <a:prstDash val="solid"/>
          </a:ln>
        </p:spPr>
      </p:sp>
      <p:sp>
        <p:nvSpPr>
          <p:cNvPr id="9" name="Text 7"/>
          <p:cNvSpPr/>
          <p:nvPr/>
        </p:nvSpPr>
        <p:spPr>
          <a:xfrm>
            <a:off x="2753717"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563EB"/>
                </a:solidFill>
                <a:latin typeface="Space Grotesk" pitchFamily="34" charset="0"/>
                <a:ea typeface="Space Grotesk" pitchFamily="34" charset="-122"/>
                <a:cs typeface="Space Grotesk" pitchFamily="34" charset="-120"/>
              </a:rPr>
              <a:t>02</a:t>
            </a:r>
            <a:endParaRPr lang="en-US" sz="2200" dirty="0"/>
          </a:p>
        </p:txBody>
      </p:sp>
      <p:sp>
        <p:nvSpPr>
          <p:cNvPr id="10" name="Text 8"/>
          <p:cNvSpPr/>
          <p:nvPr/>
        </p:nvSpPr>
        <p:spPr>
          <a:xfrm>
            <a:off x="2753717"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Temukan</a:t>
            </a:r>
            <a:endParaRPr lang="en-US" sz="1500" dirty="0"/>
          </a:p>
        </p:txBody>
      </p:sp>
      <p:sp>
        <p:nvSpPr>
          <p:cNvPr id="11" name="Text 9"/>
          <p:cNvSpPr/>
          <p:nvPr/>
        </p:nvSpPr>
        <p:spPr>
          <a:xfrm>
            <a:off x="2753717" y="2942431"/>
            <a:ext cx="138856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Cari objek di peta, SLD, atau daftar</a:t>
            </a:r>
            <a:endParaRPr lang="en-US" sz="1200" dirty="0"/>
          </a:p>
        </p:txBody>
      </p:sp>
      <p:sp>
        <p:nvSpPr>
          <p:cNvPr id="12" name="Shape 10"/>
          <p:cNvSpPr/>
          <p:nvPr/>
        </p:nvSpPr>
        <p:spPr>
          <a:xfrm>
            <a:off x="4380409" y="1963936"/>
            <a:ext cx="1648817" cy="1799431"/>
          </a:xfrm>
          <a:prstGeom prst="roundRect">
            <a:avLst>
              <a:gd name="adj" fmla="val 5969"/>
            </a:avLst>
          </a:prstGeom>
          <a:solidFill>
            <a:srgbClr val="FFFFFF"/>
          </a:solidFill>
          <a:ln w="6350">
            <a:solidFill>
              <a:srgbClr val="DDE2E8"/>
            </a:solidFill>
            <a:prstDash val="solid"/>
          </a:ln>
        </p:spPr>
      </p:sp>
      <p:sp>
        <p:nvSpPr>
          <p:cNvPr id="13" name="Text 11"/>
          <p:cNvSpPr/>
          <p:nvPr/>
        </p:nvSpPr>
        <p:spPr>
          <a:xfrm>
            <a:off x="4535984"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09"/>
                </a:solidFill>
                <a:latin typeface="Space Grotesk" pitchFamily="34" charset="0"/>
                <a:ea typeface="Space Grotesk" pitchFamily="34" charset="-122"/>
                <a:cs typeface="Space Grotesk" pitchFamily="34" charset="-120"/>
              </a:rPr>
              <a:t>03</a:t>
            </a:r>
            <a:endParaRPr lang="en-US" sz="2200" dirty="0"/>
          </a:p>
        </p:txBody>
      </p:sp>
      <p:sp>
        <p:nvSpPr>
          <p:cNvPr id="14" name="Text 12"/>
          <p:cNvSpPr/>
          <p:nvPr/>
        </p:nvSpPr>
        <p:spPr>
          <a:xfrm>
            <a:off x="4535984"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Operasikan</a:t>
            </a:r>
            <a:endParaRPr lang="en-US" sz="1500" dirty="0"/>
          </a:p>
        </p:txBody>
      </p:sp>
      <p:sp>
        <p:nvSpPr>
          <p:cNvPr id="15" name="Text 13"/>
          <p:cNvSpPr/>
          <p:nvPr/>
        </p:nvSpPr>
        <p:spPr>
          <a:xfrm>
            <a:off x="4535984" y="2942431"/>
            <a:ext cx="1388467"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 atau deenergize dengan kategori</a:t>
            </a:r>
            <a:endParaRPr lang="en-US" sz="1200" dirty="0"/>
          </a:p>
        </p:txBody>
      </p:sp>
      <p:sp>
        <p:nvSpPr>
          <p:cNvPr id="16" name="Shape 14"/>
          <p:cNvSpPr/>
          <p:nvPr/>
        </p:nvSpPr>
        <p:spPr>
          <a:xfrm>
            <a:off x="6162576" y="1963936"/>
            <a:ext cx="1648916" cy="1799431"/>
          </a:xfrm>
          <a:prstGeom prst="roundRect">
            <a:avLst>
              <a:gd name="adj" fmla="val 5969"/>
            </a:avLst>
          </a:prstGeom>
          <a:solidFill>
            <a:srgbClr val="FFFFFF"/>
          </a:solidFill>
          <a:ln w="6350">
            <a:solidFill>
              <a:srgbClr val="DDE2E8"/>
            </a:solidFill>
            <a:prstDash val="solid"/>
          </a:ln>
        </p:spPr>
      </p:sp>
      <p:sp>
        <p:nvSpPr>
          <p:cNvPr id="17" name="Text 15"/>
          <p:cNvSpPr/>
          <p:nvPr/>
        </p:nvSpPr>
        <p:spPr>
          <a:xfrm>
            <a:off x="6318151"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09"/>
                </a:solidFill>
                <a:latin typeface="Space Grotesk" pitchFamily="34" charset="0"/>
                <a:ea typeface="Space Grotesk" pitchFamily="34" charset="-122"/>
                <a:cs typeface="Space Grotesk" pitchFamily="34" charset="-120"/>
              </a:rPr>
              <a:t>04</a:t>
            </a:r>
            <a:endParaRPr lang="en-US" sz="2200" dirty="0"/>
          </a:p>
        </p:txBody>
      </p:sp>
      <p:sp>
        <p:nvSpPr>
          <p:cNvPr id="18" name="Text 16"/>
          <p:cNvSpPr/>
          <p:nvPr/>
        </p:nvSpPr>
        <p:spPr>
          <a:xfrm>
            <a:off x="6318151"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Hitung</a:t>
            </a:r>
            <a:endParaRPr lang="en-US" sz="1500" dirty="0"/>
          </a:p>
        </p:txBody>
      </p:sp>
      <p:sp>
        <p:nvSpPr>
          <p:cNvPr id="19" name="Text 17"/>
          <p:cNvSpPr/>
          <p:nvPr/>
        </p:nvSpPr>
        <p:spPr>
          <a:xfrm>
            <a:off x="6318151" y="2942431"/>
            <a:ext cx="1388566"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Wilayah dan pelanggan padam dihitung otomatis</a:t>
            </a:r>
            <a:endParaRPr lang="en-US" sz="1200" dirty="0"/>
          </a:p>
        </p:txBody>
      </p:sp>
      <p:sp>
        <p:nvSpPr>
          <p:cNvPr id="20" name="Shape 18"/>
          <p:cNvSpPr/>
          <p:nvPr/>
        </p:nvSpPr>
        <p:spPr>
          <a:xfrm>
            <a:off x="7944842" y="1963936"/>
            <a:ext cx="1648916" cy="1799431"/>
          </a:xfrm>
          <a:prstGeom prst="roundRect">
            <a:avLst>
              <a:gd name="adj" fmla="val 5969"/>
            </a:avLst>
          </a:prstGeom>
          <a:solidFill>
            <a:srgbClr val="FFFFFF"/>
          </a:solidFill>
          <a:ln w="6350">
            <a:solidFill>
              <a:srgbClr val="DDE2E8"/>
            </a:solidFill>
            <a:prstDash val="solid"/>
          </a:ln>
        </p:spPr>
      </p:sp>
      <p:sp>
        <p:nvSpPr>
          <p:cNvPr id="21" name="Text 19"/>
          <p:cNvSpPr/>
          <p:nvPr/>
        </p:nvSpPr>
        <p:spPr>
          <a:xfrm>
            <a:off x="8100417"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F766E"/>
                </a:solidFill>
                <a:latin typeface="Space Grotesk" pitchFamily="34" charset="0"/>
                <a:ea typeface="Space Grotesk" pitchFamily="34" charset="-122"/>
                <a:cs typeface="Space Grotesk" pitchFamily="34" charset="-120"/>
              </a:rPr>
              <a:t>05</a:t>
            </a:r>
            <a:endParaRPr lang="en-US" sz="2200" dirty="0"/>
          </a:p>
        </p:txBody>
      </p:sp>
      <p:sp>
        <p:nvSpPr>
          <p:cNvPr id="22" name="Text 20"/>
          <p:cNvSpPr/>
          <p:nvPr/>
        </p:nvSpPr>
        <p:spPr>
          <a:xfrm>
            <a:off x="8100417"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Pulihkan</a:t>
            </a:r>
            <a:endParaRPr lang="en-US" sz="1500" dirty="0"/>
          </a:p>
        </p:txBody>
      </p:sp>
      <p:sp>
        <p:nvSpPr>
          <p:cNvPr id="23" name="Text 21"/>
          <p:cNvSpPr/>
          <p:nvPr/>
        </p:nvSpPr>
        <p:spPr>
          <a:xfrm>
            <a:off x="8100417" y="2942431"/>
            <a:ext cx="1388566"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Tutup atau energize; durasi tercatat</a:t>
            </a:r>
            <a:endParaRPr lang="en-US" sz="1200" dirty="0"/>
          </a:p>
        </p:txBody>
      </p:sp>
      <p:sp>
        <p:nvSpPr>
          <p:cNvPr id="24" name="Shape 22"/>
          <p:cNvSpPr/>
          <p:nvPr/>
        </p:nvSpPr>
        <p:spPr>
          <a:xfrm>
            <a:off x="9727109" y="1963936"/>
            <a:ext cx="1648817" cy="1799431"/>
          </a:xfrm>
          <a:prstGeom prst="roundRect">
            <a:avLst>
              <a:gd name="adj" fmla="val 5969"/>
            </a:avLst>
          </a:prstGeom>
          <a:solidFill>
            <a:srgbClr val="FFFFFF"/>
          </a:solidFill>
          <a:ln w="6350">
            <a:solidFill>
              <a:srgbClr val="DDE2E8"/>
            </a:solidFill>
            <a:prstDash val="solid"/>
          </a:ln>
        </p:spPr>
      </p:sp>
      <p:sp>
        <p:nvSpPr>
          <p:cNvPr id="25" name="Text 23"/>
          <p:cNvSpPr/>
          <p:nvPr/>
        </p:nvSpPr>
        <p:spPr>
          <a:xfrm>
            <a:off x="9882684"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F766E"/>
                </a:solidFill>
                <a:latin typeface="Space Grotesk" pitchFamily="34" charset="0"/>
                <a:ea typeface="Space Grotesk" pitchFamily="34" charset="-122"/>
                <a:cs typeface="Space Grotesk" pitchFamily="34" charset="-120"/>
              </a:rPr>
              <a:t>06</a:t>
            </a:r>
            <a:endParaRPr lang="en-US" sz="2200" dirty="0"/>
          </a:p>
        </p:txBody>
      </p:sp>
      <p:sp>
        <p:nvSpPr>
          <p:cNvPr id="26" name="Text 24"/>
          <p:cNvSpPr/>
          <p:nvPr/>
        </p:nvSpPr>
        <p:spPr>
          <a:xfrm>
            <a:off x="9882684"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Laporkan</a:t>
            </a:r>
            <a:endParaRPr lang="en-US" sz="1500" dirty="0"/>
          </a:p>
        </p:txBody>
      </p:sp>
      <p:sp>
        <p:nvSpPr>
          <p:cNvPr id="27" name="Text 25"/>
          <p:cNvSpPr/>
          <p:nvPr/>
        </p:nvSpPr>
        <p:spPr>
          <a:xfrm>
            <a:off x="9882684" y="2942431"/>
            <a:ext cx="1388467"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SAIDI, SAIFI, ENS per periode</a:t>
            </a:r>
            <a:endParaRPr lang="en-US" sz="1200" dirty="0"/>
          </a:p>
        </p:txBody>
      </p:sp>
      <p:sp>
        <p:nvSpPr>
          <p:cNvPr id="28" name="Text 26"/>
          <p:cNvSpPr/>
          <p:nvPr/>
        </p:nvSpPr>
        <p:spPr>
          <a:xfrm>
            <a:off x="812800" y="4122142"/>
            <a:ext cx="981075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Setiap langkah terekam di SOE dan audit log, dan tampil realtime di layar semua dispatcher.</a:t>
            </a:r>
            <a:endParaRPr lang="en-US" sz="1400" dirty="0"/>
          </a:p>
        </p:txBody>
      </p:sp>
      <p:sp>
        <p:nvSpPr>
          <p:cNvPr id="29" name="Text 2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KEAMANAN &amp; TATA KELOLA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Aman dari login sampai manuver</a:t>
            </a:r>
            <a:endParaRPr lang="en-US" sz="3600" dirty="0"/>
          </a:p>
        </p:txBody>
      </p:sp>
      <p:sp>
        <p:nvSpPr>
          <p:cNvPr id="4" name="Shape 2"/>
          <p:cNvSpPr/>
          <p:nvPr/>
        </p:nvSpPr>
        <p:spPr>
          <a:xfrm>
            <a:off x="815975" y="1963936"/>
            <a:ext cx="3397250" cy="1591171"/>
          </a:xfrm>
          <a:prstGeom prst="roundRect">
            <a:avLst>
              <a:gd name="adj" fmla="val 6984"/>
            </a:avLst>
          </a:prstGeom>
          <a:solidFill>
            <a:srgbClr val="FFFFFF"/>
          </a:solidFill>
          <a:ln w="6350">
            <a:solidFill>
              <a:srgbClr val="DDE2E8"/>
            </a:solidFill>
            <a:prstDash val="solid"/>
          </a:ln>
        </p:spPr>
      </p:sp>
      <p:pic>
        <p:nvPicPr>
          <p:cNvPr id="5" name="Image 0" descr="Lock"/>
          <p:cNvPicPr>
            <a:picLocks noChangeAspect="1"/>
          </p:cNvPicPr>
          <p:nvPr/>
        </p:nvPicPr>
        <p:blipFill>
          <a:blip r:embed="rId3"/>
          <a:srcRect/>
          <a:stretch/>
        </p:blipFill>
        <p:spPr>
          <a:xfrm>
            <a:off x="1047750" y="2195711"/>
            <a:ext cx="304800" cy="304800"/>
          </a:xfrm>
          <a:prstGeom prst="rect">
            <a:avLst/>
          </a:prstGeom>
        </p:spPr>
      </p:pic>
      <p:sp>
        <p:nvSpPr>
          <p:cNvPr id="6" name="Text 3"/>
          <p:cNvSpPr/>
          <p:nvPr/>
        </p:nvSpPr>
        <p:spPr>
          <a:xfrm>
            <a:off x="10477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Sesi aman</a:t>
            </a:r>
            <a:endParaRPr lang="en-US" sz="1600" dirty="0"/>
          </a:p>
        </p:txBody>
      </p:sp>
      <p:sp>
        <p:nvSpPr>
          <p:cNvPr id="7" name="Text 4"/>
          <p:cNvSpPr/>
          <p:nvPr/>
        </p:nvSpPr>
        <p:spPr>
          <a:xfrm>
            <a:off x="10477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HTTPS wajib, JWT HttpOnly, bcrypt, captcha login.</a:t>
            </a:r>
            <a:endParaRPr lang="en-US" sz="1200" dirty="0"/>
          </a:p>
        </p:txBody>
      </p:sp>
      <p:sp>
        <p:nvSpPr>
          <p:cNvPr id="8" name="Shape 5"/>
          <p:cNvSpPr/>
          <p:nvPr/>
        </p:nvSpPr>
        <p:spPr>
          <a:xfrm>
            <a:off x="4397375" y="1963936"/>
            <a:ext cx="3397250" cy="1591171"/>
          </a:xfrm>
          <a:prstGeom prst="roundRect">
            <a:avLst>
              <a:gd name="adj" fmla="val 6984"/>
            </a:avLst>
          </a:prstGeom>
          <a:solidFill>
            <a:srgbClr val="FFFFFF"/>
          </a:solidFill>
          <a:ln w="6350">
            <a:solidFill>
              <a:srgbClr val="DDE2E8"/>
            </a:solidFill>
            <a:prstDash val="solid"/>
          </a:ln>
        </p:spPr>
      </p:sp>
      <p:pic>
        <p:nvPicPr>
          <p:cNvPr id="9" name="Image 1" descr="Users"/>
          <p:cNvPicPr>
            <a:picLocks noChangeAspect="1"/>
          </p:cNvPicPr>
          <p:nvPr/>
        </p:nvPicPr>
        <p:blipFill>
          <a:blip r:embed="rId4"/>
          <a:srcRect/>
          <a:stretch/>
        </p:blipFill>
        <p:spPr>
          <a:xfrm>
            <a:off x="4629150" y="2195711"/>
            <a:ext cx="304800" cy="304800"/>
          </a:xfrm>
          <a:prstGeom prst="rect">
            <a:avLst/>
          </a:prstGeom>
        </p:spPr>
      </p:pic>
      <p:sp>
        <p:nvSpPr>
          <p:cNvPr id="10" name="Text 6"/>
          <p:cNvSpPr/>
          <p:nvPr/>
        </p:nvSpPr>
        <p:spPr>
          <a:xfrm>
            <a:off x="46291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Izin granular</a:t>
            </a:r>
            <a:endParaRPr lang="en-US" sz="1600" dirty="0"/>
          </a:p>
        </p:txBody>
      </p:sp>
      <p:sp>
        <p:nvSpPr>
          <p:cNvPr id="11" name="Text 7"/>
          <p:cNvSpPr/>
          <p:nvPr/>
        </p:nvSpPr>
        <p:spPr>
          <a:xfrm>
            <a:off x="46291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Peran admin, editor, operator, operator TR, viewer.</a:t>
            </a:r>
            <a:endParaRPr lang="en-US" sz="1200" dirty="0"/>
          </a:p>
        </p:txBody>
      </p:sp>
      <p:sp>
        <p:nvSpPr>
          <p:cNvPr id="12" name="Shape 8"/>
          <p:cNvSpPr/>
          <p:nvPr/>
        </p:nvSpPr>
        <p:spPr>
          <a:xfrm>
            <a:off x="7978775" y="1963936"/>
            <a:ext cx="3397250" cy="1591171"/>
          </a:xfrm>
          <a:prstGeom prst="roundRect">
            <a:avLst>
              <a:gd name="adj" fmla="val 6984"/>
            </a:avLst>
          </a:prstGeom>
          <a:solidFill>
            <a:srgbClr val="FFFFFF"/>
          </a:solidFill>
          <a:ln w="6350">
            <a:solidFill>
              <a:srgbClr val="DDE2E8"/>
            </a:solidFill>
            <a:prstDash val="solid"/>
          </a:ln>
        </p:spPr>
      </p:sp>
      <p:pic>
        <p:nvPicPr>
          <p:cNvPr id="13" name="Image 2" descr="Verified"/>
          <p:cNvPicPr>
            <a:picLocks noChangeAspect="1"/>
          </p:cNvPicPr>
          <p:nvPr/>
        </p:nvPicPr>
        <p:blipFill>
          <a:blip r:embed="rId5"/>
          <a:srcRect/>
          <a:stretch/>
        </p:blipFill>
        <p:spPr>
          <a:xfrm>
            <a:off x="8210550" y="2195711"/>
            <a:ext cx="304800" cy="304800"/>
          </a:xfrm>
          <a:prstGeom prst="rect">
            <a:avLst/>
          </a:prstGeom>
        </p:spPr>
      </p:pic>
      <p:sp>
        <p:nvSpPr>
          <p:cNvPr id="14" name="Text 9"/>
          <p:cNvSpPr/>
          <p:nvPr/>
        </p:nvSpPr>
        <p:spPr>
          <a:xfrm>
            <a:off x="82105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Dicek di server</a:t>
            </a:r>
            <a:endParaRPr lang="en-US" sz="1600" dirty="0"/>
          </a:p>
        </p:txBody>
      </p:sp>
      <p:sp>
        <p:nvSpPr>
          <p:cNvPr id="15" name="Text 10"/>
          <p:cNvSpPr/>
          <p:nvPr/>
        </p:nvSpPr>
        <p:spPr>
          <a:xfrm>
            <a:off x="82105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Operasi diperiksa per izin dan domain tegangan.</a:t>
            </a:r>
            <a:endParaRPr lang="en-US" sz="1200" dirty="0"/>
          </a:p>
        </p:txBody>
      </p:sp>
      <p:sp>
        <p:nvSpPr>
          <p:cNvPr id="16" name="Shape 11"/>
          <p:cNvSpPr/>
          <p:nvPr/>
        </p:nvSpPr>
        <p:spPr>
          <a:xfrm>
            <a:off x="815975" y="3739257"/>
            <a:ext cx="3397250" cy="1591171"/>
          </a:xfrm>
          <a:prstGeom prst="roundRect">
            <a:avLst>
              <a:gd name="adj" fmla="val 6984"/>
            </a:avLst>
          </a:prstGeom>
          <a:solidFill>
            <a:srgbClr val="FFFFFF"/>
          </a:solidFill>
          <a:ln w="6350">
            <a:solidFill>
              <a:srgbClr val="DDE2E8"/>
            </a:solidFill>
            <a:prstDash val="solid"/>
          </a:ln>
        </p:spPr>
      </p:sp>
      <p:pic>
        <p:nvPicPr>
          <p:cNvPr id="17" name="Image 3" descr="Book"/>
          <p:cNvPicPr>
            <a:picLocks noChangeAspect="1"/>
          </p:cNvPicPr>
          <p:nvPr/>
        </p:nvPicPr>
        <p:blipFill>
          <a:blip r:embed="rId6"/>
          <a:srcRect/>
          <a:stretch/>
        </p:blipFill>
        <p:spPr>
          <a:xfrm>
            <a:off x="1047750" y="3971032"/>
            <a:ext cx="304800" cy="304800"/>
          </a:xfrm>
          <a:prstGeom prst="rect">
            <a:avLst/>
          </a:prstGeom>
        </p:spPr>
      </p:pic>
      <p:sp>
        <p:nvSpPr>
          <p:cNvPr id="18" name="Text 12"/>
          <p:cNvSpPr/>
          <p:nvPr/>
        </p:nvSpPr>
        <p:spPr>
          <a:xfrm>
            <a:off x="10477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Jejak audit</a:t>
            </a:r>
            <a:endParaRPr lang="en-US" sz="1600" dirty="0"/>
          </a:p>
        </p:txBody>
      </p:sp>
      <p:sp>
        <p:nvSpPr>
          <p:cNvPr id="19" name="Text 13"/>
          <p:cNvSpPr/>
          <p:nvPr/>
        </p:nvSpPr>
        <p:spPr>
          <a:xfrm>
            <a:off x="1047750" y="4672013"/>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Audit log, SOE, dan riwayat manuver per pengguna.</a:t>
            </a:r>
            <a:endParaRPr lang="en-US" sz="1200" dirty="0"/>
          </a:p>
        </p:txBody>
      </p:sp>
      <p:sp>
        <p:nvSpPr>
          <p:cNvPr id="20" name="Shape 14"/>
          <p:cNvSpPr/>
          <p:nvPr/>
        </p:nvSpPr>
        <p:spPr>
          <a:xfrm>
            <a:off x="4397375" y="3739257"/>
            <a:ext cx="3397250" cy="1591171"/>
          </a:xfrm>
          <a:prstGeom prst="roundRect">
            <a:avLst>
              <a:gd name="adj" fmla="val 6984"/>
            </a:avLst>
          </a:prstGeom>
          <a:solidFill>
            <a:srgbClr val="FFFFFF"/>
          </a:solidFill>
          <a:ln w="6350">
            <a:solidFill>
              <a:srgbClr val="DDE2E8"/>
            </a:solidFill>
            <a:prstDash val="solid"/>
          </a:ln>
        </p:spPr>
      </p:sp>
      <p:pic>
        <p:nvPicPr>
          <p:cNvPr id="21" name="Image 4" descr="Key"/>
          <p:cNvPicPr>
            <a:picLocks noChangeAspect="1"/>
          </p:cNvPicPr>
          <p:nvPr/>
        </p:nvPicPr>
        <p:blipFill>
          <a:blip r:embed="rId7"/>
          <a:srcRect/>
          <a:stretch/>
        </p:blipFill>
        <p:spPr>
          <a:xfrm>
            <a:off x="4629150" y="3971032"/>
            <a:ext cx="304800" cy="304800"/>
          </a:xfrm>
          <a:prstGeom prst="rect">
            <a:avLst/>
          </a:prstGeom>
        </p:spPr>
      </p:pic>
      <p:sp>
        <p:nvSpPr>
          <p:cNvPr id="22" name="Text 15"/>
          <p:cNvSpPr/>
          <p:nvPr/>
        </p:nvSpPr>
        <p:spPr>
          <a:xfrm>
            <a:off x="46291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Rahasia terlindungi</a:t>
            </a:r>
            <a:endParaRPr lang="en-US" sz="1600" dirty="0"/>
          </a:p>
        </p:txBody>
      </p:sp>
      <p:sp>
        <p:nvSpPr>
          <p:cNvPr id="23" name="Text 16"/>
          <p:cNvSpPr/>
          <p:nvPr/>
        </p:nvSpPr>
        <p:spPr>
          <a:xfrm>
            <a:off x="4629150" y="4672013"/>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Kunci API tersimpan, tidak dikirim ke browser.</a:t>
            </a:r>
            <a:endParaRPr lang="en-US" sz="1200" dirty="0"/>
          </a:p>
        </p:txBody>
      </p:sp>
      <p:sp>
        <p:nvSpPr>
          <p:cNvPr id="24" name="Shape 17"/>
          <p:cNvSpPr/>
          <p:nvPr/>
        </p:nvSpPr>
        <p:spPr>
          <a:xfrm>
            <a:off x="7978775" y="3739257"/>
            <a:ext cx="3397250" cy="1591171"/>
          </a:xfrm>
          <a:prstGeom prst="roundRect">
            <a:avLst>
              <a:gd name="adj" fmla="val 6984"/>
            </a:avLst>
          </a:prstGeom>
          <a:solidFill>
            <a:srgbClr val="FFFFFF"/>
          </a:solidFill>
          <a:ln w="6350">
            <a:solidFill>
              <a:srgbClr val="DDE2E8"/>
            </a:solidFill>
            <a:prstDash val="solid"/>
          </a:ln>
        </p:spPr>
      </p:sp>
      <p:pic>
        <p:nvPicPr>
          <p:cNvPr id="25" name="Image 5" descr="Activity"/>
          <p:cNvPicPr>
            <a:picLocks noChangeAspect="1"/>
          </p:cNvPicPr>
          <p:nvPr/>
        </p:nvPicPr>
        <p:blipFill>
          <a:blip r:embed="rId8"/>
          <a:srcRect/>
          <a:stretch/>
        </p:blipFill>
        <p:spPr>
          <a:xfrm>
            <a:off x="8210550" y="3971032"/>
            <a:ext cx="304800" cy="304800"/>
          </a:xfrm>
          <a:prstGeom prst="rect">
            <a:avLst/>
          </a:prstGeom>
        </p:spPr>
      </p:pic>
      <p:sp>
        <p:nvSpPr>
          <p:cNvPr id="26" name="Text 18"/>
          <p:cNvSpPr/>
          <p:nvPr/>
        </p:nvSpPr>
        <p:spPr>
          <a:xfrm>
            <a:off x="82105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Monitoring sistem</a:t>
            </a:r>
            <a:endParaRPr lang="en-US" sz="1600" dirty="0"/>
          </a:p>
        </p:txBody>
      </p:sp>
      <p:sp>
        <p:nvSpPr>
          <p:cNvPr id="27" name="Text 19"/>
          <p:cNvSpPr/>
          <p:nvPr/>
        </p:nvSpPr>
        <p:spPr>
          <a:xfrm>
            <a:off x="8210550" y="4672013"/>
            <a:ext cx="302171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CPU, memori, database, Redis, Kafka, API.</a:t>
            </a:r>
            <a:endParaRPr lang="en-US" sz="1200" dirty="0"/>
          </a:p>
        </p:txBody>
      </p:sp>
      <p:sp>
        <p:nvSpPr>
          <p:cNvPr id="28" name="Text 2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INTEGRASI &amp; AI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Terbuka untuk sistem lain</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AI Assistant</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Claude, ChatGPT, Kimi, OpenRouter membaca data jaringan terkini.</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Event stream Kafka</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Setiap perubahan dan SOE tersedia untuk SCADA atau pelaporan.</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Format GIS standar</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GeoJSON dua arah dengan QGIS, ekspor File Geodatabase.</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REST API &amp; WebSocket</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Akses terprogram ke peta, monitoring, SLD, keandalan.</a:t>
            </a:r>
            <a:endParaRPr lang="en-US" sz="1200" dirty="0"/>
          </a:p>
        </p:txBody>
      </p:sp>
      <p:pic>
        <p:nvPicPr>
          <p:cNvPr id="12" name="Image 0" descr="Halaman AI Assistant dengan contoh pertanyaan tentang jaring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IMPLEMENTASI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Empat tahap menuju go-live</a:t>
            </a:r>
            <a:endParaRPr lang="en-US" sz="3600" dirty="0"/>
          </a:p>
        </p:txBody>
      </p:sp>
      <p:sp>
        <p:nvSpPr>
          <p:cNvPr id="4" name="Shape 2"/>
          <p:cNvSpPr/>
          <p:nvPr/>
        </p:nvSpPr>
        <p:spPr>
          <a:xfrm>
            <a:off x="815975" y="1963936"/>
            <a:ext cx="2501900" cy="1875631"/>
          </a:xfrm>
          <a:prstGeom prst="roundRect">
            <a:avLst>
              <a:gd name="adj" fmla="val 5925"/>
            </a:avLst>
          </a:prstGeom>
          <a:solidFill>
            <a:srgbClr val="FFFFFF"/>
          </a:solidFill>
          <a:ln w="6350">
            <a:solidFill>
              <a:srgbClr val="DDE2E8"/>
            </a:solidFill>
            <a:prstDash val="solid"/>
          </a:ln>
        </p:spPr>
      </p:sp>
      <p:sp>
        <p:nvSpPr>
          <p:cNvPr id="5" name="Shape 3"/>
          <p:cNvSpPr/>
          <p:nvPr/>
        </p:nvSpPr>
        <p:spPr>
          <a:xfrm>
            <a:off x="1022350" y="2195711"/>
            <a:ext cx="1714401" cy="289520"/>
          </a:xfrm>
          <a:prstGeom prst="roundRect">
            <a:avLst>
              <a:gd name="adj" fmla="val 50000"/>
            </a:avLst>
          </a:prstGeom>
          <a:solidFill>
            <a:srgbClr val="E7EEFD"/>
          </a:solidFill>
          <a:ln/>
        </p:spPr>
      </p:sp>
      <p:sp>
        <p:nvSpPr>
          <p:cNvPr id="6" name="Text 4"/>
          <p:cNvSpPr/>
          <p:nvPr/>
        </p:nvSpPr>
        <p:spPr>
          <a:xfrm>
            <a:off x="112395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Tahap 1 · [__ minggu]</a:t>
            </a:r>
            <a:endParaRPr lang="en-US" sz="1200" dirty="0"/>
          </a:p>
        </p:txBody>
      </p:sp>
      <p:sp>
        <p:nvSpPr>
          <p:cNvPr id="7" name="Text 5"/>
          <p:cNvSpPr/>
          <p:nvPr/>
        </p:nvSpPr>
        <p:spPr>
          <a:xfrm>
            <a:off x="102235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Instalasi</a:t>
            </a:r>
            <a:endParaRPr lang="en-US" sz="2000" dirty="0"/>
          </a:p>
        </p:txBody>
      </p:sp>
      <p:sp>
        <p:nvSpPr>
          <p:cNvPr id="8" name="Text 6"/>
          <p:cNvSpPr/>
          <p:nvPr/>
        </p:nvSpPr>
        <p:spPr>
          <a:xfrm>
            <a:off x="1022350" y="2967831"/>
            <a:ext cx="215182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Server, Docker Compose, sertifikat HTTPS, konfigurasi awal.</a:t>
            </a:r>
            <a:endParaRPr lang="en-US" sz="1200" dirty="0"/>
          </a:p>
        </p:txBody>
      </p:sp>
      <p:sp>
        <p:nvSpPr>
          <p:cNvPr id="9" name="Shape 7"/>
          <p:cNvSpPr/>
          <p:nvPr/>
        </p:nvSpPr>
        <p:spPr>
          <a:xfrm>
            <a:off x="3502025" y="1963936"/>
            <a:ext cx="2501900" cy="1875631"/>
          </a:xfrm>
          <a:prstGeom prst="roundRect">
            <a:avLst>
              <a:gd name="adj" fmla="val 5925"/>
            </a:avLst>
          </a:prstGeom>
          <a:solidFill>
            <a:srgbClr val="FFFFFF"/>
          </a:solidFill>
          <a:ln w="6350">
            <a:solidFill>
              <a:srgbClr val="DDE2E8"/>
            </a:solidFill>
            <a:prstDash val="solid"/>
          </a:ln>
        </p:spPr>
      </p:sp>
      <p:sp>
        <p:nvSpPr>
          <p:cNvPr id="10" name="Shape 8"/>
          <p:cNvSpPr/>
          <p:nvPr/>
        </p:nvSpPr>
        <p:spPr>
          <a:xfrm>
            <a:off x="3708400" y="2195711"/>
            <a:ext cx="1714401" cy="289520"/>
          </a:xfrm>
          <a:prstGeom prst="roundRect">
            <a:avLst>
              <a:gd name="adj" fmla="val 50000"/>
            </a:avLst>
          </a:prstGeom>
          <a:solidFill>
            <a:srgbClr val="E7EEFD"/>
          </a:solidFill>
          <a:ln/>
        </p:spPr>
      </p:sp>
      <p:sp>
        <p:nvSpPr>
          <p:cNvPr id="11" name="Text 9"/>
          <p:cNvSpPr/>
          <p:nvPr/>
        </p:nvSpPr>
        <p:spPr>
          <a:xfrm>
            <a:off x="381000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Tahap 2 · [__ minggu]</a:t>
            </a:r>
            <a:endParaRPr lang="en-US" sz="1200" dirty="0"/>
          </a:p>
        </p:txBody>
      </p:sp>
      <p:sp>
        <p:nvSpPr>
          <p:cNvPr id="12" name="Text 10"/>
          <p:cNvSpPr/>
          <p:nvPr/>
        </p:nvSpPr>
        <p:spPr>
          <a:xfrm>
            <a:off x="370840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Migrasi data</a:t>
            </a:r>
            <a:endParaRPr lang="en-US" sz="2000" dirty="0"/>
          </a:p>
        </p:txBody>
      </p:sp>
      <p:sp>
        <p:nvSpPr>
          <p:cNvPr id="13" name="Text 11"/>
          <p:cNvSpPr/>
          <p:nvPr/>
        </p:nvSpPr>
        <p:spPr>
          <a:xfrm>
            <a:off x="3708400" y="2967831"/>
            <a:ext cx="215182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Impor aset GIS, atribut SSOT, batas UP3, validasi topologi.</a:t>
            </a:r>
            <a:endParaRPr lang="en-US" sz="1200" dirty="0"/>
          </a:p>
        </p:txBody>
      </p:sp>
      <p:sp>
        <p:nvSpPr>
          <p:cNvPr id="14" name="Shape 12"/>
          <p:cNvSpPr/>
          <p:nvPr/>
        </p:nvSpPr>
        <p:spPr>
          <a:xfrm>
            <a:off x="6188075" y="1963936"/>
            <a:ext cx="2501900" cy="1875631"/>
          </a:xfrm>
          <a:prstGeom prst="roundRect">
            <a:avLst>
              <a:gd name="adj" fmla="val 5925"/>
            </a:avLst>
          </a:prstGeom>
          <a:solidFill>
            <a:srgbClr val="FFFFFF"/>
          </a:solidFill>
          <a:ln w="6350">
            <a:solidFill>
              <a:srgbClr val="DDE2E8"/>
            </a:solidFill>
            <a:prstDash val="solid"/>
          </a:ln>
        </p:spPr>
      </p:sp>
      <p:sp>
        <p:nvSpPr>
          <p:cNvPr id="15" name="Shape 13"/>
          <p:cNvSpPr/>
          <p:nvPr/>
        </p:nvSpPr>
        <p:spPr>
          <a:xfrm>
            <a:off x="6394450" y="2195711"/>
            <a:ext cx="1714401" cy="289520"/>
          </a:xfrm>
          <a:prstGeom prst="roundRect">
            <a:avLst>
              <a:gd name="adj" fmla="val 50000"/>
            </a:avLst>
          </a:prstGeom>
          <a:solidFill>
            <a:srgbClr val="FDF1DD"/>
          </a:solidFill>
          <a:ln/>
        </p:spPr>
      </p:sp>
      <p:sp>
        <p:nvSpPr>
          <p:cNvPr id="16" name="Text 14"/>
          <p:cNvSpPr/>
          <p:nvPr/>
        </p:nvSpPr>
        <p:spPr>
          <a:xfrm>
            <a:off x="649605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309"/>
                </a:solidFill>
                <a:latin typeface="IBM Plex Sans" pitchFamily="34" charset="0"/>
                <a:ea typeface="IBM Plex Sans" pitchFamily="34" charset="-122"/>
                <a:cs typeface="IBM Plex Sans" pitchFamily="34" charset="-120"/>
              </a:rPr>
              <a:t>Tahap 3 · [__ minggu]</a:t>
            </a:r>
            <a:endParaRPr lang="en-US" sz="1200" dirty="0"/>
          </a:p>
        </p:txBody>
      </p:sp>
      <p:sp>
        <p:nvSpPr>
          <p:cNvPr id="17" name="Text 15"/>
          <p:cNvSpPr/>
          <p:nvPr/>
        </p:nvSpPr>
        <p:spPr>
          <a:xfrm>
            <a:off x="639445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Pelatihan</a:t>
            </a:r>
            <a:endParaRPr lang="en-US" sz="2000" dirty="0"/>
          </a:p>
        </p:txBody>
      </p:sp>
      <p:sp>
        <p:nvSpPr>
          <p:cNvPr id="18" name="Text 16"/>
          <p:cNvSpPr/>
          <p:nvPr/>
        </p:nvSpPr>
        <p:spPr>
          <a:xfrm>
            <a:off x="6394450" y="2967831"/>
            <a:ext cx="215182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Editor GIS, operator, admin; buku panduan di menu Dokumentasi.</a:t>
            </a:r>
            <a:endParaRPr lang="en-US" sz="1200" dirty="0"/>
          </a:p>
        </p:txBody>
      </p:sp>
      <p:sp>
        <p:nvSpPr>
          <p:cNvPr id="19" name="Shape 17"/>
          <p:cNvSpPr/>
          <p:nvPr/>
        </p:nvSpPr>
        <p:spPr>
          <a:xfrm>
            <a:off x="8874125" y="1963936"/>
            <a:ext cx="2501900" cy="1875631"/>
          </a:xfrm>
          <a:prstGeom prst="roundRect">
            <a:avLst>
              <a:gd name="adj" fmla="val 5925"/>
            </a:avLst>
          </a:prstGeom>
          <a:solidFill>
            <a:srgbClr val="FFFFFF"/>
          </a:solidFill>
          <a:ln w="6350">
            <a:solidFill>
              <a:srgbClr val="DDE2E8"/>
            </a:solidFill>
            <a:prstDash val="solid"/>
          </a:ln>
        </p:spPr>
      </p:sp>
      <p:sp>
        <p:nvSpPr>
          <p:cNvPr id="20" name="Shape 18"/>
          <p:cNvSpPr/>
          <p:nvPr/>
        </p:nvSpPr>
        <p:spPr>
          <a:xfrm>
            <a:off x="9080500" y="2195711"/>
            <a:ext cx="1714401" cy="289520"/>
          </a:xfrm>
          <a:prstGeom prst="roundRect">
            <a:avLst>
              <a:gd name="adj" fmla="val 50000"/>
            </a:avLst>
          </a:prstGeom>
          <a:solidFill>
            <a:srgbClr val="FDF1DD"/>
          </a:solidFill>
          <a:ln/>
        </p:spPr>
      </p:sp>
      <p:sp>
        <p:nvSpPr>
          <p:cNvPr id="21" name="Text 19"/>
          <p:cNvSpPr/>
          <p:nvPr/>
        </p:nvSpPr>
        <p:spPr>
          <a:xfrm>
            <a:off x="918210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309"/>
                </a:solidFill>
                <a:latin typeface="IBM Plex Sans" pitchFamily="34" charset="0"/>
                <a:ea typeface="IBM Plex Sans" pitchFamily="34" charset="-122"/>
                <a:cs typeface="IBM Plex Sans" pitchFamily="34" charset="-120"/>
              </a:rPr>
              <a:t>Tahap 4 · [__ minggu]</a:t>
            </a:r>
            <a:endParaRPr lang="en-US" sz="1200" dirty="0"/>
          </a:p>
        </p:txBody>
      </p:sp>
      <p:sp>
        <p:nvSpPr>
          <p:cNvPr id="22" name="Text 20"/>
          <p:cNvSpPr/>
          <p:nvPr/>
        </p:nvSpPr>
        <p:spPr>
          <a:xfrm>
            <a:off x="908050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Go-live</a:t>
            </a:r>
            <a:endParaRPr lang="en-US" sz="2000" dirty="0"/>
          </a:p>
        </p:txBody>
      </p:sp>
      <p:sp>
        <p:nvSpPr>
          <p:cNvPr id="23" name="Text 21"/>
          <p:cNvSpPr/>
          <p:nvPr/>
        </p:nvSpPr>
        <p:spPr>
          <a:xfrm>
            <a:off x="9080500" y="2967831"/>
            <a:ext cx="215182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Operasi paralel, pendampingan, evaluasi keandalan.</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B3A63"/>
              </a:gs>
              <a:gs pos="60000">
                <a:srgbClr val="0E1A2B"/>
              </a:gs>
            </a:gsLst>
            <a:path path="circle">
              <a:fillToRect l="80000" t="70000" r="20000" b="30000"/>
            </a:path>
          </a:gradFill>
          <a:ln/>
        </p:spPr>
      </p:sp>
      <p:sp>
        <p:nvSpPr>
          <p:cNvPr id="3" name="Text 1"/>
          <p:cNvSpPr/>
          <p:nvPr/>
        </p:nvSpPr>
        <p:spPr>
          <a:xfrm>
            <a:off x="812800" y="1809849"/>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2A93B"/>
                </a:solidFill>
                <a:latin typeface="IBM Plex Sans" pitchFamily="34" charset="0"/>
                <a:ea typeface="IBM Plex Sans" pitchFamily="34" charset="-122"/>
                <a:cs typeface="IBM Plex Sans" pitchFamily="34" charset="-120"/>
              </a:rPr>
              <a:t>QUADRANGIS</a:t>
            </a:r>
            <a:endParaRPr lang="en-US" sz="1200" dirty="0"/>
          </a:p>
        </p:txBody>
      </p:sp>
      <p:sp>
        <p:nvSpPr>
          <p:cNvPr id="4" name="Text 2"/>
          <p:cNvSpPr/>
          <p:nvPr/>
        </p:nvSpPr>
        <p:spPr>
          <a:xfrm>
            <a:off x="812800" y="2277170"/>
            <a:ext cx="9156700" cy="914400"/>
          </a:xfrm>
          <a:prstGeom prst="rect">
            <a:avLst/>
          </a:prstGeom>
          <a:noFill/>
          <a:ln/>
        </p:spPr>
        <p:txBody>
          <a:bodyPr wrap="square" lIns="0" tIns="0" rIns="0" bIns="0" rtlCol="0" anchor="t">
            <a:normAutofit/>
          </a:bodyPr>
          <a:lstStyle/>
          <a:p>
            <a:pPr marL="0" indent="0" algn="l">
              <a:lnSpc>
                <a:spcPts val="7000"/>
              </a:lnSpc>
              <a:buNone/>
            </a:pPr>
            <a:r>
              <a:rPr lang="en-US" sz="7000" b="1" dirty="0">
                <a:solidFill>
                  <a:srgbClr val="F5F6F2"/>
                </a:solidFill>
                <a:latin typeface="Space Grotesk" pitchFamily="34" charset="0"/>
                <a:ea typeface="Space Grotesk" pitchFamily="34" charset="-122"/>
                <a:cs typeface="Space Grotesk" pitchFamily="34" charset="-120"/>
              </a:rPr>
              <a:t>Terima kasih</a:t>
            </a:r>
            <a:endParaRPr lang="en-US" sz="7000" dirty="0"/>
          </a:p>
        </p:txBody>
      </p:sp>
      <p:sp>
        <p:nvSpPr>
          <p:cNvPr id="5" name="Text 3"/>
          <p:cNvSpPr/>
          <p:nvPr/>
        </p:nvSpPr>
        <p:spPr>
          <a:xfrm>
            <a:off x="812800" y="3420170"/>
            <a:ext cx="8502650" cy="75168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BFCBDA"/>
                </a:solidFill>
                <a:latin typeface="IBM Plex Sans" pitchFamily="34" charset="0"/>
                <a:ea typeface="IBM Plex Sans" pitchFamily="34" charset="-122"/>
                <a:cs typeface="IBM Plex Sans" pitchFamily="34" charset="-120"/>
              </a:rPr>
              <a:t>Mari lanjutkan dengan demo langsung dan diskusi kebutuhan unit Anda.</a:t>
            </a:r>
            <a:endParaRPr lang="en-US" sz="2200" dirty="0"/>
          </a:p>
        </p:txBody>
      </p:sp>
      <p:sp>
        <p:nvSpPr>
          <p:cNvPr id="6" name="Shape 4"/>
          <p:cNvSpPr/>
          <p:nvPr/>
        </p:nvSpPr>
        <p:spPr>
          <a:xfrm>
            <a:off x="825500" y="4400451"/>
            <a:ext cx="0" cy="647601"/>
          </a:xfrm>
          <a:prstGeom prst="line">
            <a:avLst/>
          </a:prstGeom>
          <a:noFill/>
          <a:ln w="25400">
            <a:solidFill>
              <a:srgbClr val="3B82F6"/>
            </a:solidFill>
            <a:prstDash val="solid"/>
          </a:ln>
        </p:spPr>
      </p:sp>
      <p:sp>
        <p:nvSpPr>
          <p:cNvPr id="7" name="Text 5"/>
          <p:cNvSpPr/>
          <p:nvPr/>
        </p:nvSpPr>
        <p:spPr>
          <a:xfrm>
            <a:off x="1016000" y="4425851"/>
            <a:ext cx="10674096"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6F2"/>
                </a:solidFill>
                <a:latin typeface="IBM Plex Sans" pitchFamily="34" charset="0"/>
                <a:ea typeface="IBM Plex Sans" pitchFamily="34" charset="-122"/>
                <a:cs typeface="IBM Plex Sans" pitchFamily="34" charset="-120"/>
              </a:rPr>
              <a:t>[Nama kontak]</a:t>
            </a:r>
            <a:endParaRPr lang="en-US" sz="1600" dirty="0"/>
          </a:p>
        </p:txBody>
      </p:sp>
      <p:sp>
        <p:nvSpPr>
          <p:cNvPr id="8" name="Text 6"/>
          <p:cNvSpPr/>
          <p:nvPr/>
        </p:nvSpPr>
        <p:spPr>
          <a:xfrm>
            <a:off x="1016000" y="4773811"/>
            <a:ext cx="1067409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[email] · [telepon] · [alamat aplikasi]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2275</Words>
  <Application>Microsoft Office PowerPoint</Application>
  <PresentationFormat>Widescreen</PresentationFormat>
  <Paragraphs>322</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QuadranGIS</dc:title>
  <dc:subject>PptxGenJS Presentation</dc:subject>
  <dc:creator>PptxGenJS</dc:creator>
  <cp:lastModifiedBy>hendrapoernama hendrapoernama</cp:lastModifiedBy>
  <cp:revision>2</cp:revision>
  <dcterms:created xsi:type="dcterms:W3CDTF">2026-09-26T08:37:21Z</dcterms:created>
  <dcterms:modified xsi:type="dcterms:W3CDTF">2026-09-26T08:37:45Z</dcterms:modified>
</cp:coreProperties>
</file>