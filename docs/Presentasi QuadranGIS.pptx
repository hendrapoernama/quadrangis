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466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QuadranGIS adalah aplikasi GIS jaringan distribusi listrik berbasis web: satu sumber data untuk membangun aset, memantau nyala/padam secara realtime, mengoperasikan jaringan, mengukur keandalan, serta menganalisis beban, energi, dan susut dari data SCADA/AMR.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masalah yang sering ditemui unit distribusi: data aset tidak terhubung, informasi padam terlambat, rekap keandalan manual, dan SLD yang cepat usang.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utama: Peta Jaringan, Pusat Operasi, SLD, aliran daya, data aset, dan analisa beban membaca data dan graf topologi yang sama, sehingga selalu sinkron.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Angka-angka ini hasil pengujian pada basis data simulasi (2,7 juta node, 2 juta pelanggan). Kinerja di lingkungan produksi bergantung pada spesifikasi server.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pembaruan sejak deck versi 27 September 2026. Setiap fitur dijelaskan di slide masing-masing yang berlabel Baru. Menu Map Editor kini bernama Peta Kelistrikan, dan submenu Editor Peta Jaringan kini bernama Peta Jaringan.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Perbaikan penting periode ini. LBS 3 arah: posisi normal tiap arah kini atribut "normal_open_ways", sehingga keanggotaan penyulang normal tidak berubah walau server dimulai ulang saat ada arah yang sedang dimanuver. Impor GDB: dulu impor ulang menghapus lalu memasukkan ulang semua objek sehingga id berubah dan rujukan putus; kini hanya perbedaannya yang diterapkan. Status operasi: gardu rencana, pelanggan tanpa SR (tidak operasi), gardu non aktif dan bongkar dari data GDB tidak lagi muncul sebagai padam.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Peta Kelistrikan (dulu Map Editor) berisi dua submenu: Peta Jaringan (dulu Editor Peta Jaringan) dan Persetujuan Perubahan. Di bilah atas ada filter penyulang dan tombol warna peta Tipe | Status | Penyulang. Buka/tutup switch tidak lagi ada di editor; operasi jaringan hanya dilakukan di Pusat Operasi dan SLD agar selalu tercatat sebagai kejadian dan SOE.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Objek baru tampil oranye di peta sebagai usulan dan belum mengubah jaringan aktif. Setelah paket disetujui supervisor dan dirilis manajer, graf topologi dan status nyala/padam diperbarui dan objek tampil di layar semua pengguna.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pemilik kosong berarti ditetapkan otomatis dari lokasi. Status nyala/padam tidak diubah lewat formulir, tetapi lewat operasi buka/tutup di Pusat Operasi atau SLD agar tercatat sebagai kejadian dan SOE.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Penghapusan selalu melalui dialog konfirmasi dan menjadi usulan di paket perubahan. Saat dirilis, junction yang tidak lagi terhubung dibersihkan otomatis dan pelanggan di hilir dihitung ulang. Siapa yang mengusulkan, menyetujui, dan merilis tercatat di jejak audit.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Penyusun tidak boleh menyetujui paketnya sendiri. Satu objek hanya boleh diusulkan di satu paket terbuka; bila objek berubah setelah diusulkan, rilis ditolak sampai item disinkronkan. Setiap langkah beserta pelaku dan waktunya tercatat di jejak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Dipakai tim data setelah pelimpahan penyulang yang permanen, misalnya titik buka dipindah. Contoh di layar: seluruh KBK-GMB-03 disuplai KBK-GMB-05 setelah tie LBS3-GMB-03-07 ditutup dan kubikel GMB-03 dibuka. Bila alur persetujuan aktif, tombol menjadi Usulkan dan perubahan masuk paket perubahan seperti editan lain. Alat yang dibuka sementara untuk gangguan atau pemeliharaan sebaiknya tidak dicentang.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diterapkan, setiap fitur divalidasi: geometri, type_code, kode ganda, atribut SSOT yang bentrok, dan titik yang menumpuk objek lain. Lokasi fitur bisa dilihat di peta (hijau baru, biru ubah, merah galat). Penghapusan sengaja tidak diambil dari berkas impor.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data ULP Kramat Jati (ZIP 85 MB, sekitar 476 ribu objek); perbandingan selesai sekitar 7 menit. Editan lokal di QuadranGIS dipertahankan bila objek yang sama tidak berubah di GDB; bila keduanya berubah, objek ditandai konflik untuk ditinjau. Hasil manuver, unit pemilik, dan atribut di luar GDB tidak pernah diubah oleh impor. Setiap batch tercatat di riwayat impor.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baris menampilkan status, jumlah isi, pelanggan (padam), beban tersambung, dan unit pemilik. Panel rincian menampilkan rantai hulu serta tautan ke peta Pusat Operasi dan SLD. Aset yang tidak tersambung ke GI dikelompokkan tersendiri agar mudah diperbaiki.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UP2B setara UID, UP2D setara UP3. GI, trafo GI, dan penyulang dimiliki UP3; gardu, trafo distribusi, dan tiang dimiliki ULP. Kepemilikan per aset juga bisa diubah di Peta Jaringan melalui persetujuan.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Master Data › Titik SCADA (sebelumnya tab di Analisa Beban &amp; Energi). Setiap titik menampilkan objek GIS, GI / trafo / penyulang, unit, rating, dan data terakhir. Kode dari SCADA yang belum dipetakan ditampilkan tersendiri agar mudah ditautkan.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Klik widget rekap untuk langsung membuka daftar terkait. Panel kanan terbagi Monitoring (kejadian, SOE, trace, daftar) dan Operasi (FLISR, rencana manuver, laporan gangguan, AI operasi).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di layar: tie LBS3-GMB-03-07 ditutup sehingga KBK-GMB-03 dan KBK-GMB-05 beroperasi paralel; penanda kuning tua muncul di tie dan spanduk "Paralel" di bawah toolbar. Mode Aktual menunjukkan penyulang yang menyuplai saat ini, dihitung ulang hanya di wilayah terdampak manuver. Fitur yang sama ada di Peta Jaringan (tombol Tipe | Status | Penyulang) dan SLD. Filter penyulang disimpan per browser dan terpisah antara Pusat Operasi dan Peta Jaringan.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peran: Operator bisa semua operasi TM dan TR; Operator TR (ULP) hanya switch jurusan dan jaringan TR. Membuka tanpa kategori ditolak. Setiap operasi mencatat siapa yang melakukannya, dari kanal mana, sehingga siap diaudit.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FLISR memeriksa kapasitas penyulang penerima sebelum menyarankan pemulihan lewat tie. Rencana manuver disimulasikan (pelanggan dan beban padam, pembebanan penyulang) sebelum disetujui. Jawaban AI perlu diverifikasi sebelum dipakai untuk keputusan operasional.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Klik nama operator untuk menampilkan semua event oleh operator tersebut. SOE juga dikirim ke Kafka sehingga dapat diteruskan ke sistem lain (misalnya SCADA atau pelaporan).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Periode hari ini, bulan ini, 30 hari, atau tahun ini. Tarif per kWh, faktor beban, cos φ, dan batas padam momentary diatur di Konfigurasi. Padam momentary tidak masuk SAIDI/SAIFI tetapi tetap masuk ENS.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Opsi baru di samping perhitungan lama yang memakai daya kontrak × faktor beban. Beban penyulang diambil sebelum padam dimulai; bila belum ada data SCADA penyulang, dipakai profil beban lalu estimasi dari kontrak. Faktor dibatasi 0,05–3 seperti kalibrasi FLISR. Pusat Operasi menampilkan KPI Beban (alok.) dan kartu kejadian menampilkan beban teralokasi. Kejadian lama tanpa data alokasi tetap memakai perhitungan kontrak. Contoh angka di slide berasal dari data simulasi penyulang GMB-02.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Dashboard › Keandalan &amp; Operasi (sebelumnya Dasbor Eksekutif). Dasbor membandingkan periode berjalan dengan periode sebelumnya dan target tahunan. Laporan berkala dibuat otomatis setiap periode selesai, atau manual.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masuk lewat Kafka dari SCADA/AMR setiap 30 menit; titik ukurnya dikelola di Master Data › Titik SCADA. Pembebanan % = MW ÷ (rating MVA × faktor daya kapasitas). Tersedia juga analisa lanjutan: prakiraan beban, kontingensi N-1, kesehatan aset, dan AI pembebanan.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tidak semua gardu bermeter, energi gardu diperkirakan dari cakupan kapasitas; hari dengan cakupan rendah tidak dihitung. Susut negatif menandakan kesalahan meter atau gardu yang tercatat di penyulang lain. Mode Gardu → pelanggan memerlukan atribut IDPEL pada pelanggan GIS dan meter AMR di gardu; gardu dihitung bila data AMR dan tagihan pelanggannya cukup lengkap.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SLD disusun dari topologi normal (posisi normal switch), jadi bentuknya stabil; warna dan posisi switch mengikuti kondisi saat ini. Tie normally-open ke penyulang lain digambar putus-putus.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Aliran daya membantu perencanaan: menemukan tegangan jatuh dan beban lebih, lalu menyusun rencana manuver, uprating, atau gardu sisip. Hasil dapat ditampilkan sebagai overlay warna pembebanan di peta dan SLD.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Overlay UP3 memakai pewarnaan peta 5 warna: UP3 yang bersebelahan selalu berbeda warna. Warna tidak mewakili nilai apa pun.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ponsel memakai akun dan izin yang sama dengan versi web. Area peta dapat disimpan untuk dipakai tanpa sinyal. Notifikasi push di iOS memerlukan iOS 16.4 atau lebih baru dan aplikasi yang sudah dipasang ke layar utama.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Inti kecepatan: graf topologi di memori backend. Manuver hanya menghitung ulang wilayah terdampak. Trace, rekap Pusat Operasi, SLD, aliran daya, dan hirarki Data Aset membaca graf yang sama. Load profile SCADA/AMR masuk lewat Kafka ke TimescaleDB.</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operasi harian: biru = temukan, amber = tindakan operator, hijau toska = pemulihan dan laporan. Proses bisnis lain (pemeliharaan data, perencanaan, tata kelola akses) ada di menu Dokumentasi.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Perubahan peran berlaku paling lambat 30 detik tanpa login ulang. Operator TR hanya bisa mengoperasikan jaringan tegangan rendah. Perubahan data jaringan melewati pemisahan tugas: editor menyusun, supervisor menyetujui, manajer merilis.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Assistant bersifat opsional; kunci API diisi admin. Jawaban AI perlu diverifikasi sebelum dipakai untuk keputusan operasional. Titik SCADA/AMR yang kodenya cocok dengan kode GIS didaftarkan otomatis.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Topik scada.switch.events. Waktu dari pesan dipakai sebagai waktu manuver, mulai dan selesai padam, serta SOE (kanal kafka). Halaman Administrasi › Integrasi Kafka menampilkan status, format pesan, daftar kode tipe objek, tombol uji kirim (lewat Kafka atau proses langsung), dan log hasil: diterapkan, dilewati, duplikat, galat. Pesan Kafka tidak memakai izin peran, sehingga akses ke broker Kafka harus dibatasi ke sistem SCADA/DMS yang dipercaya.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Durasi tiap tahap diisi sesuai ruang lingkup (jumlah UP3, volume data aset, jumlah pengguna). Aplikasi sudah menyediakan menu Dokumentasi berisi buku panduan dengan tangkapan layar setiap fitur.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Tawarkan demo langsung: manuver recloser dari SLD dan lihat peta, SOE, serta SAIDI berubah bersamaan.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5F6F2"/>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F5F6F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5F6F2"/>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F5F6F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ampilan Pusat Operasi QuadranGIS"/>
          <p:cNvPicPr>
            <a:picLocks noChangeAspect="1"/>
          </p:cNvPicPr>
          <p:nvPr/>
        </p:nvPicPr>
        <p:blipFill>
          <a:blip r:embed="rId3"/>
          <a:srcRect t="130" b="130"/>
          <a:stretch/>
        </p:blipFill>
        <p:spPr>
          <a:xfrm>
            <a:off x="6362700" y="1714500"/>
            <a:ext cx="5410200" cy="3035300"/>
          </a:xfrm>
          <a:prstGeom prst="roundRect">
            <a:avLst>
              <a:gd name="adj" fmla="val 3766"/>
            </a:avLst>
          </a:prstGeom>
          <a:effectLst>
            <a:outerShdw blurRad="762000" dist="254000" dir="5400000" algn="bl" rotWithShape="0">
              <a:srgbClr val="000000">
                <a:alpha val="55000"/>
              </a:srgbClr>
            </a:outerShdw>
          </a:effectLst>
        </p:spPr>
      </p:pic>
      <p:sp>
        <p:nvSpPr>
          <p:cNvPr id="3" name="Shape 0"/>
          <p:cNvSpPr/>
          <p:nvPr/>
        </p:nvSpPr>
        <p:spPr>
          <a:xfrm>
            <a:off x="6356350" y="1708150"/>
            <a:ext cx="5422900" cy="3048000"/>
          </a:xfrm>
          <a:prstGeom prst="roundRect">
            <a:avLst>
              <a:gd name="adj" fmla="val 3958"/>
            </a:avLst>
          </a:prstGeom>
          <a:noFill/>
          <a:ln w="12700">
            <a:solidFill>
              <a:srgbClr val="2B4A73"/>
            </a:solidFill>
            <a:prstDash val="solid"/>
          </a:ln>
        </p:spPr>
      </p:sp>
      <p:sp>
        <p:nvSpPr>
          <p:cNvPr id="4" name="Text 1"/>
          <p:cNvSpPr/>
          <p:nvPr/>
        </p:nvSpPr>
        <p:spPr>
          <a:xfrm>
            <a:off x="812800" y="884138"/>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93B"/>
                </a:solidFill>
                <a:latin typeface="IBM Plex Sans" pitchFamily="34" charset="0"/>
                <a:ea typeface="IBM Plex Sans" pitchFamily="34" charset="-122"/>
                <a:cs typeface="IBM Plex Sans" pitchFamily="34" charset="-120"/>
              </a:rPr>
              <a:t>GIS JARINGAN DISTRIBUSI LISTRIK</a:t>
            </a:r>
            <a:endParaRPr lang="en-US" sz="1200" dirty="0"/>
          </a:p>
        </p:txBody>
      </p:sp>
      <p:sp>
        <p:nvSpPr>
          <p:cNvPr id="5" name="Text 2"/>
          <p:cNvSpPr>
            <a:spLocks noGrp="1"/>
          </p:cNvSpPr>
          <p:nvPr>
            <p:ph type="title"/>
          </p:nvPr>
        </p:nvSpPr>
        <p:spPr>
          <a:xfrm>
            <a:off x="812800" y="1300659"/>
            <a:ext cx="5363210" cy="2057400"/>
          </a:xfrm>
          <a:prstGeom prst="rect">
            <a:avLst/>
          </a:prstGeom>
          <a:noFill/>
          <a:ln/>
        </p:spPr>
        <p:txBody>
          <a:bodyPr wrap="square" lIns="0" tIns="0" rIns="0" bIns="0" rtlCol="0" anchor="t">
            <a:normAutofit/>
          </a:bodyPr>
          <a:lstStyle/>
          <a:p>
            <a:pPr marL="0" indent="0" algn="l">
              <a:lnSpc>
                <a:spcPts val="8000"/>
              </a:lnSpc>
              <a:buNone/>
            </a:pPr>
            <a:r>
              <a:rPr lang="en-US" sz="8000" b="1" i="0" dirty="0">
                <a:solidFill>
                  <a:srgbClr val="F5F6F2"/>
                </a:solidFill>
                <a:latin typeface="Space Grotesk" pitchFamily="34" charset="0"/>
                <a:ea typeface="Space Grotesk" pitchFamily="34" charset="-122"/>
                <a:cs typeface="Space Grotesk" pitchFamily="34" charset="-120"/>
              </a:rPr>
              <a:t>QuadranGIS</a:t>
            </a:r>
            <a:endParaRPr lang="en-US" sz="8000" dirty="0"/>
          </a:p>
        </p:txBody>
      </p:sp>
      <p:sp>
        <p:nvSpPr>
          <p:cNvPr id="6" name="Text 3"/>
          <p:cNvSpPr/>
          <p:nvPr/>
        </p:nvSpPr>
        <p:spPr>
          <a:xfrm>
            <a:off x="812800" y="3535859"/>
            <a:ext cx="4970780" cy="1477963"/>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BDA"/>
                </a:solidFill>
                <a:latin typeface="IBM Plex Sans" pitchFamily="34" charset="0"/>
                <a:ea typeface="IBM Plex Sans" pitchFamily="34" charset="-122"/>
                <a:cs typeface="IBM Plex Sans" pitchFamily="34" charset="-120"/>
              </a:rPr>
              <a:t>Satu platform untuk aset, operasi, keandalan, serta beban dan energi jaringan, dari gardu induk sampai pelanggan.</a:t>
            </a:r>
            <a:endParaRPr lang="en-US" sz="2200" dirty="0"/>
          </a:p>
        </p:txBody>
      </p:sp>
      <p:sp>
        <p:nvSpPr>
          <p:cNvPr id="7" name="Text 4"/>
          <p:cNvSpPr/>
          <p:nvPr/>
        </p:nvSpPr>
        <p:spPr>
          <a:xfrm>
            <a:off x="812800" y="5191621"/>
            <a:ext cx="888702" cy="340320"/>
          </a:xfrm>
          <a:prstGeom prst="roundRect">
            <a:avLst>
              <a:gd name="adj" fmla="val 50000"/>
            </a:avLst>
          </a:prstGeom>
          <a:solidFill>
            <a:srgbClr val="1B3A63"/>
          </a:solidFill>
          <a:ln/>
        </p:spPr>
        <p:txBody>
          <a:bodyPr wrap="none" lIns="0" tIns="0" rIns="0" bIns="0" rtlCol="0" anchor="ctr">
            <a:normAutofit/>
          </a:bodyPr>
          <a:lstStyle/>
          <a:p>
            <a:pPr marL="0" indent="0" algn="ctr">
              <a:lnSpc>
                <a:spcPts val="1680"/>
              </a:lnSpc>
              <a:buNone/>
            </a:pPr>
            <a:r>
              <a:rPr lang="en-US" sz="1200" dirty="0">
                <a:solidFill>
                  <a:srgbClr val="DCE7F5"/>
                </a:solidFill>
                <a:latin typeface="IBM Plex Sans" pitchFamily="34" charset="0"/>
                <a:ea typeface="IBM Plex Sans" pitchFamily="34" charset="-122"/>
                <a:cs typeface="IBM Plex Sans" pitchFamily="34" charset="-120"/>
              </a:rPr>
              <a:t>Realtime</a:t>
            </a:r>
            <a:endParaRPr lang="en-US" sz="1200" dirty="0"/>
          </a:p>
        </p:txBody>
      </p:sp>
      <p:sp>
        <p:nvSpPr>
          <p:cNvPr id="8" name="Text 5"/>
          <p:cNvSpPr/>
          <p:nvPr/>
        </p:nvSpPr>
        <p:spPr>
          <a:xfrm>
            <a:off x="1803102" y="5191621"/>
            <a:ext cx="1186359" cy="340320"/>
          </a:xfrm>
          <a:prstGeom prst="roundRect">
            <a:avLst>
              <a:gd name="adj" fmla="val 50000"/>
            </a:avLst>
          </a:prstGeom>
          <a:solidFill>
            <a:srgbClr val="1B3A63"/>
          </a:solidFill>
          <a:ln/>
        </p:spPr>
        <p:txBody>
          <a:bodyPr wrap="none" lIns="0" tIns="0" rIns="0" bIns="0" rtlCol="0" anchor="ctr">
            <a:normAutofit/>
          </a:bodyPr>
          <a:lstStyle/>
          <a:p>
            <a:pPr marL="0" indent="0" algn="ctr">
              <a:lnSpc>
                <a:spcPts val="1680"/>
              </a:lnSpc>
              <a:buNone/>
            </a:pPr>
            <a:r>
              <a:rPr lang="en-US" sz="1200" dirty="0">
                <a:solidFill>
                  <a:srgbClr val="DCE7F5"/>
                </a:solidFill>
                <a:latin typeface="IBM Plex Sans" pitchFamily="34" charset="0"/>
                <a:ea typeface="IBM Plex Sans" pitchFamily="34" charset="-122"/>
                <a:cs typeface="IBM Plex Sans" pitchFamily="34" charset="-120"/>
              </a:rPr>
              <a:t>SLD otomatis</a:t>
            </a:r>
            <a:endParaRPr lang="en-US" sz="1200" dirty="0"/>
          </a:p>
        </p:txBody>
      </p:sp>
      <p:sp>
        <p:nvSpPr>
          <p:cNvPr id="9" name="Text 6"/>
          <p:cNvSpPr/>
          <p:nvPr/>
        </p:nvSpPr>
        <p:spPr>
          <a:xfrm>
            <a:off x="3091061" y="5191621"/>
            <a:ext cx="1611610" cy="340320"/>
          </a:xfrm>
          <a:prstGeom prst="roundRect">
            <a:avLst>
              <a:gd name="adj" fmla="val 50000"/>
            </a:avLst>
          </a:prstGeom>
          <a:solidFill>
            <a:srgbClr val="1B3A63"/>
          </a:solidFill>
          <a:ln/>
        </p:spPr>
        <p:txBody>
          <a:bodyPr wrap="none" lIns="0" tIns="0" rIns="0" bIns="0" rtlCol="0" anchor="ctr">
            <a:normAutofit/>
          </a:bodyPr>
          <a:lstStyle/>
          <a:p>
            <a:pPr marL="0" indent="0" algn="ctr">
              <a:lnSpc>
                <a:spcPts val="1680"/>
              </a:lnSpc>
              <a:buNone/>
            </a:pPr>
            <a:r>
              <a:rPr lang="en-US" sz="1200" dirty="0">
                <a:solidFill>
                  <a:srgbClr val="DCE7F5"/>
                </a:solidFill>
                <a:latin typeface="IBM Plex Sans" pitchFamily="34" charset="0"/>
                <a:ea typeface="IBM Plex Sans" pitchFamily="34" charset="-122"/>
                <a:cs typeface="IBM Plex Sans" pitchFamily="34" charset="-120"/>
              </a:rPr>
              <a:t>SAIDI · SAIFI · ENS</a:t>
            </a:r>
            <a:endParaRPr lang="en-US" sz="1200" dirty="0"/>
          </a:p>
        </p:txBody>
      </p:sp>
      <p:sp>
        <p:nvSpPr>
          <p:cNvPr id="10" name="Text 7"/>
          <p:cNvSpPr/>
          <p:nvPr/>
        </p:nvSpPr>
        <p:spPr>
          <a:xfrm>
            <a:off x="812800" y="5633541"/>
            <a:ext cx="1774031" cy="340320"/>
          </a:xfrm>
          <a:prstGeom prst="roundRect">
            <a:avLst>
              <a:gd name="adj" fmla="val 50000"/>
            </a:avLst>
          </a:prstGeom>
          <a:solidFill>
            <a:srgbClr val="1B3A63"/>
          </a:solidFill>
          <a:ln/>
        </p:spPr>
        <p:txBody>
          <a:bodyPr wrap="none" lIns="0" tIns="0" rIns="0" bIns="0" rtlCol="0" anchor="ctr">
            <a:normAutofit/>
          </a:bodyPr>
          <a:lstStyle/>
          <a:p>
            <a:pPr marL="0" indent="0" algn="ctr">
              <a:lnSpc>
                <a:spcPts val="1680"/>
              </a:lnSpc>
              <a:buNone/>
            </a:pPr>
            <a:r>
              <a:rPr lang="en-US" sz="1200" dirty="0">
                <a:solidFill>
                  <a:srgbClr val="DCE7F5"/>
                </a:solidFill>
                <a:latin typeface="IBM Plex Sans" pitchFamily="34" charset="0"/>
                <a:ea typeface="IBM Plex Sans" pitchFamily="34" charset="-122"/>
                <a:cs typeface="IBM Plex Sans" pitchFamily="34" charset="-120"/>
              </a:rPr>
              <a:t>Beban, energi &amp; susut</a:t>
            </a:r>
            <a:endParaRPr lang="en-US" sz="1200" dirty="0"/>
          </a:p>
        </p:txBody>
      </p:sp>
      <p:sp>
        <p:nvSpPr>
          <p:cNvPr id="11" name="Text 8"/>
          <p:cNvSpPr/>
          <p:nvPr/>
        </p:nvSpPr>
        <p:spPr>
          <a:xfrm>
            <a:off x="2688431" y="5633541"/>
            <a:ext cx="1115219" cy="340320"/>
          </a:xfrm>
          <a:prstGeom prst="roundRect">
            <a:avLst>
              <a:gd name="adj" fmla="val 50000"/>
            </a:avLst>
          </a:prstGeom>
          <a:solidFill>
            <a:srgbClr val="1B3A63"/>
          </a:solidFill>
          <a:ln/>
        </p:spPr>
        <p:txBody>
          <a:bodyPr wrap="none" lIns="0" tIns="0" rIns="0" bIns="0" rtlCol="0" anchor="ctr">
            <a:normAutofit/>
          </a:bodyPr>
          <a:lstStyle/>
          <a:p>
            <a:pPr marL="0" indent="0" algn="ctr">
              <a:lnSpc>
                <a:spcPts val="1680"/>
              </a:lnSpc>
              <a:buNone/>
            </a:pPr>
            <a:r>
              <a:rPr lang="en-US" sz="1200" dirty="0">
                <a:solidFill>
                  <a:srgbClr val="DCE7F5"/>
                </a:solidFill>
                <a:latin typeface="IBM Plex Sans" pitchFamily="34" charset="0"/>
                <a:ea typeface="IBM Plex Sans" pitchFamily="34" charset="-122"/>
                <a:cs typeface="IBM Plex Sans" pitchFamily="34" charset="-120"/>
              </a:rPr>
              <a:t>Versi ponsel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LATAR BELAKANG</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Tantangan pengelolaan jaringan distribusi</a:t>
            </a:r>
            <a:endParaRPr lang="en-US" sz="3600" dirty="0"/>
          </a:p>
        </p:txBody>
      </p:sp>
      <p:sp>
        <p:nvSpPr>
          <p:cNvPr id="4" name="Shape 2"/>
          <p:cNvSpPr/>
          <p:nvPr/>
        </p:nvSpPr>
        <p:spPr>
          <a:xfrm>
            <a:off x="815975" y="1963936"/>
            <a:ext cx="5175250" cy="1380331"/>
          </a:xfrm>
          <a:prstGeom prst="roundRect">
            <a:avLst>
              <a:gd name="adj" fmla="val 8971"/>
            </a:avLst>
          </a:prstGeom>
          <a:solidFill>
            <a:srgbClr val="FFFFFF"/>
          </a:solidFill>
          <a:ln w="6350">
            <a:solidFill>
              <a:srgbClr val="DDE2E8"/>
            </a:solidFill>
            <a:prstDash val="solid"/>
          </a:ln>
        </p:spPr>
      </p:sp>
      <p:pic>
        <p:nvPicPr>
          <p:cNvPr id="5" name="Image 0" descr="Database"/>
          <p:cNvPicPr>
            <a:picLocks noChangeAspect="1"/>
          </p:cNvPicPr>
          <p:nvPr/>
        </p:nvPicPr>
        <p:blipFill>
          <a:blip r:embed="rId3"/>
          <a:srcRect/>
          <a:stretch/>
        </p:blipFill>
        <p:spPr>
          <a:xfrm>
            <a:off x="1073150" y="2221111"/>
            <a:ext cx="355600" cy="355600"/>
          </a:xfrm>
          <a:prstGeom prst="rect">
            <a:avLst/>
          </a:prstGeom>
        </p:spPr>
      </p:pic>
      <p:sp>
        <p:nvSpPr>
          <p:cNvPr id="6" name="Text 3"/>
          <p:cNvSpPr/>
          <p:nvPr/>
        </p:nvSpPr>
        <p:spPr>
          <a:xfrm>
            <a:off x="1606550" y="2221111"/>
            <a:ext cx="42513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Data aset tersebar</a:t>
            </a:r>
            <a:endParaRPr lang="en-US" sz="2000" dirty="0"/>
          </a:p>
        </p:txBody>
      </p:sp>
      <p:sp>
        <p:nvSpPr>
          <p:cNvPr id="7" name="Text 4"/>
          <p:cNvSpPr/>
          <p:nvPr/>
        </p:nvSpPr>
        <p:spPr>
          <a:xfrm>
            <a:off x="1606550" y="2589411"/>
            <a:ext cx="425132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Peta, spreadsheet, dan gambar kerja tidak saling terhubung; topologi sulit dipercaya.</a:t>
            </a:r>
            <a:endParaRPr lang="en-US" sz="1400" dirty="0"/>
          </a:p>
        </p:txBody>
      </p:sp>
      <p:sp>
        <p:nvSpPr>
          <p:cNvPr id="8" name="Shape 5"/>
          <p:cNvSpPr/>
          <p:nvPr/>
        </p:nvSpPr>
        <p:spPr>
          <a:xfrm>
            <a:off x="6200775" y="1963936"/>
            <a:ext cx="5175250" cy="1380331"/>
          </a:xfrm>
          <a:prstGeom prst="roundRect">
            <a:avLst>
              <a:gd name="adj" fmla="val 8971"/>
            </a:avLst>
          </a:prstGeom>
          <a:solidFill>
            <a:srgbClr val="FFFFFF"/>
          </a:solidFill>
          <a:ln w="6350">
            <a:solidFill>
              <a:srgbClr val="DDE2E8"/>
            </a:solidFill>
            <a:prstDash val="solid"/>
          </a:ln>
        </p:spPr>
      </p:sp>
      <p:pic>
        <p:nvPicPr>
          <p:cNvPr id="9" name="Image 1" descr="Warning"/>
          <p:cNvPicPr>
            <a:picLocks noChangeAspect="1"/>
          </p:cNvPicPr>
          <p:nvPr/>
        </p:nvPicPr>
        <p:blipFill>
          <a:blip r:embed="rId4"/>
          <a:srcRect/>
          <a:stretch/>
        </p:blipFill>
        <p:spPr>
          <a:xfrm>
            <a:off x="6457950" y="2221111"/>
            <a:ext cx="355600" cy="355600"/>
          </a:xfrm>
          <a:prstGeom prst="rect">
            <a:avLst/>
          </a:prstGeom>
        </p:spPr>
      </p:pic>
      <p:sp>
        <p:nvSpPr>
          <p:cNvPr id="10" name="Text 6"/>
          <p:cNvSpPr/>
          <p:nvPr/>
        </p:nvSpPr>
        <p:spPr>
          <a:xfrm>
            <a:off x="6991350" y="2221111"/>
            <a:ext cx="42513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Padam lambat diketahui</a:t>
            </a:r>
            <a:endParaRPr lang="en-US" sz="2000" dirty="0"/>
          </a:p>
        </p:txBody>
      </p:sp>
      <p:sp>
        <p:nvSpPr>
          <p:cNvPr id="11" name="Text 7"/>
          <p:cNvSpPr/>
          <p:nvPr/>
        </p:nvSpPr>
        <p:spPr>
          <a:xfrm>
            <a:off x="6991350" y="2589411"/>
            <a:ext cx="425132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Lokasi dan jumlah pelanggan terdampak baru jelas setelah laporan masuk.</a:t>
            </a:r>
            <a:endParaRPr lang="en-US" sz="1400" dirty="0"/>
          </a:p>
        </p:txBody>
      </p:sp>
      <p:sp>
        <p:nvSpPr>
          <p:cNvPr id="12" name="Shape 8"/>
          <p:cNvSpPr/>
          <p:nvPr/>
        </p:nvSpPr>
        <p:spPr>
          <a:xfrm>
            <a:off x="815975" y="3553817"/>
            <a:ext cx="5175250" cy="1380331"/>
          </a:xfrm>
          <a:prstGeom prst="roundRect">
            <a:avLst>
              <a:gd name="adj" fmla="val 8971"/>
            </a:avLst>
          </a:prstGeom>
          <a:solidFill>
            <a:srgbClr val="FFFFFF"/>
          </a:solidFill>
          <a:ln w="6350">
            <a:solidFill>
              <a:srgbClr val="DDE2E8"/>
            </a:solidFill>
            <a:prstDash val="solid"/>
          </a:ln>
        </p:spPr>
      </p:sp>
      <p:pic>
        <p:nvPicPr>
          <p:cNvPr id="13" name="Image 2" descr="Chart"/>
          <p:cNvPicPr>
            <a:picLocks noChangeAspect="1"/>
          </p:cNvPicPr>
          <p:nvPr/>
        </p:nvPicPr>
        <p:blipFill>
          <a:blip r:embed="rId5"/>
          <a:srcRect/>
          <a:stretch/>
        </p:blipFill>
        <p:spPr>
          <a:xfrm>
            <a:off x="1073150" y="3810992"/>
            <a:ext cx="355600" cy="355600"/>
          </a:xfrm>
          <a:prstGeom prst="rect">
            <a:avLst/>
          </a:prstGeom>
        </p:spPr>
      </p:pic>
      <p:sp>
        <p:nvSpPr>
          <p:cNvPr id="14" name="Text 9"/>
          <p:cNvSpPr/>
          <p:nvPr/>
        </p:nvSpPr>
        <p:spPr>
          <a:xfrm>
            <a:off x="1606550" y="3810992"/>
            <a:ext cx="42513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Keandalan dihitung manual</a:t>
            </a:r>
            <a:endParaRPr lang="en-US" sz="2000" dirty="0"/>
          </a:p>
        </p:txBody>
      </p:sp>
      <p:sp>
        <p:nvSpPr>
          <p:cNvPr id="15" name="Text 10"/>
          <p:cNvSpPr/>
          <p:nvPr/>
        </p:nvSpPr>
        <p:spPr>
          <a:xfrm>
            <a:off x="1606550" y="4179292"/>
            <a:ext cx="425132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SAIDI, SAIFI, dan ENS direkap belakangan dan rawan selisih.</a:t>
            </a:r>
            <a:endParaRPr lang="en-US" sz="1400" dirty="0"/>
          </a:p>
        </p:txBody>
      </p:sp>
      <p:sp>
        <p:nvSpPr>
          <p:cNvPr id="16" name="Shape 11"/>
          <p:cNvSpPr/>
          <p:nvPr/>
        </p:nvSpPr>
        <p:spPr>
          <a:xfrm>
            <a:off x="6200775" y="3553817"/>
            <a:ext cx="5175250" cy="1380331"/>
          </a:xfrm>
          <a:prstGeom prst="roundRect">
            <a:avLst>
              <a:gd name="adj" fmla="val 8971"/>
            </a:avLst>
          </a:prstGeom>
          <a:solidFill>
            <a:srgbClr val="FFFFFF"/>
          </a:solidFill>
          <a:ln w="6350">
            <a:solidFill>
              <a:srgbClr val="DDE2E8"/>
            </a:solidFill>
            <a:prstDash val="solid"/>
          </a:ln>
        </p:spPr>
      </p:sp>
      <p:pic>
        <p:nvPicPr>
          <p:cNvPr id="17" name="Image 3" descr="Wrench"/>
          <p:cNvPicPr>
            <a:picLocks noChangeAspect="1"/>
          </p:cNvPicPr>
          <p:nvPr/>
        </p:nvPicPr>
        <p:blipFill>
          <a:blip r:embed="rId6"/>
          <a:srcRect/>
          <a:stretch/>
        </p:blipFill>
        <p:spPr>
          <a:xfrm>
            <a:off x="6457950" y="3810992"/>
            <a:ext cx="355600" cy="355600"/>
          </a:xfrm>
          <a:prstGeom prst="rect">
            <a:avLst/>
          </a:prstGeom>
        </p:spPr>
      </p:pic>
      <p:sp>
        <p:nvSpPr>
          <p:cNvPr id="18" name="Text 12"/>
          <p:cNvSpPr/>
          <p:nvPr/>
        </p:nvSpPr>
        <p:spPr>
          <a:xfrm>
            <a:off x="6991350" y="3810992"/>
            <a:ext cx="42513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Diagram cepat usang</a:t>
            </a:r>
            <a:endParaRPr lang="en-US" sz="2000" dirty="0"/>
          </a:p>
        </p:txBody>
      </p:sp>
      <p:sp>
        <p:nvSpPr>
          <p:cNvPr id="19" name="Text 13"/>
          <p:cNvSpPr/>
          <p:nvPr/>
        </p:nvSpPr>
        <p:spPr>
          <a:xfrm>
            <a:off x="6991350" y="4179292"/>
            <a:ext cx="425132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Single line diagram digambar ulang setiap kali jaringan berubah.</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93B"/>
                </a:solidFill>
                <a:latin typeface="IBM Plex Sans" pitchFamily="34" charset="0"/>
                <a:ea typeface="IBM Plex Sans" pitchFamily="34" charset="-122"/>
                <a:cs typeface="IBM Plex Sans" pitchFamily="34" charset="-120"/>
              </a:rPr>
              <a:t>SOLUSI</a:t>
            </a:r>
            <a:endParaRPr lang="en-US" sz="1200" dirty="0"/>
          </a:p>
        </p:txBody>
      </p:sp>
      <p:sp>
        <p:nvSpPr>
          <p:cNvPr id="3" name="Text 1"/>
          <p:cNvSpPr>
            <a:spLocks noGrp="1"/>
          </p:cNvSpPr>
          <p:nvPr>
            <p:ph type="title"/>
          </p:nvPr>
        </p:nvSpPr>
        <p:spPr>
          <a:xfrm>
            <a:off x="812800" y="117852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6F2"/>
                </a:solidFill>
                <a:latin typeface="Space Grotesk" pitchFamily="34" charset="0"/>
                <a:ea typeface="Space Grotesk" pitchFamily="34" charset="-122"/>
                <a:cs typeface="Space Grotesk" pitchFamily="34" charset="-120"/>
              </a:rPr>
              <a:t>Satu sumber data. Semua keputusan jaringan.</a:t>
            </a:r>
            <a:endParaRPr lang="en-US" sz="6000" dirty="0"/>
          </a:p>
        </p:txBody>
      </p:sp>
      <p:sp>
        <p:nvSpPr>
          <p:cNvPr id="4" name="Shape 2"/>
          <p:cNvSpPr/>
          <p:nvPr/>
        </p:nvSpPr>
        <p:spPr>
          <a:xfrm>
            <a:off x="812800" y="4976019"/>
            <a:ext cx="2527300" cy="0"/>
          </a:xfrm>
          <a:prstGeom prst="line">
            <a:avLst/>
          </a:prstGeom>
          <a:noFill/>
          <a:ln w="25400">
            <a:solidFill>
              <a:srgbClr val="3B82F6"/>
            </a:solidFill>
            <a:prstDash val="solid"/>
          </a:ln>
        </p:spPr>
      </p:sp>
      <p:sp>
        <p:nvSpPr>
          <p:cNvPr id="5" name="Text 3"/>
          <p:cNvSpPr/>
          <p:nvPr/>
        </p:nvSpPr>
        <p:spPr>
          <a:xfrm>
            <a:off x="812800" y="5166519"/>
            <a:ext cx="26031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6F2"/>
                </a:solidFill>
                <a:latin typeface="Space Grotesk" pitchFamily="34" charset="0"/>
                <a:ea typeface="Space Grotesk" pitchFamily="34" charset="-122"/>
                <a:cs typeface="Space Grotesk" pitchFamily="34" charset="-120"/>
              </a:rPr>
              <a:t>Bangun aset</a:t>
            </a:r>
            <a:endParaRPr lang="en-US" sz="2000" dirty="0"/>
          </a:p>
        </p:txBody>
      </p:sp>
      <p:sp>
        <p:nvSpPr>
          <p:cNvPr id="6" name="Text 4"/>
          <p:cNvSpPr/>
          <p:nvPr/>
        </p:nvSpPr>
        <p:spPr>
          <a:xfrm>
            <a:off x="812800" y="5547519"/>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DA"/>
                </a:solidFill>
                <a:latin typeface="IBM Plex Sans" pitchFamily="34" charset="0"/>
                <a:ea typeface="IBM Plex Sans" pitchFamily="34" charset="-122"/>
                <a:cs typeface="IBM Plex Sans" pitchFamily="34" charset="-120"/>
              </a:rPr>
              <a:t>Peta Jaringan bertopologi, dengan persetujuan berjenjang</a:t>
            </a:r>
            <a:endParaRPr lang="en-US" sz="1400" dirty="0"/>
          </a:p>
        </p:txBody>
      </p:sp>
      <p:sp>
        <p:nvSpPr>
          <p:cNvPr id="7" name="Shape 5"/>
          <p:cNvSpPr/>
          <p:nvPr/>
        </p:nvSpPr>
        <p:spPr>
          <a:xfrm>
            <a:off x="3492500" y="4976019"/>
            <a:ext cx="2527300" cy="0"/>
          </a:xfrm>
          <a:prstGeom prst="line">
            <a:avLst/>
          </a:prstGeom>
          <a:noFill/>
          <a:ln w="25400">
            <a:solidFill>
              <a:srgbClr val="3B82F6"/>
            </a:solidFill>
            <a:prstDash val="solid"/>
          </a:ln>
        </p:spPr>
      </p:sp>
      <p:sp>
        <p:nvSpPr>
          <p:cNvPr id="8" name="Text 6"/>
          <p:cNvSpPr/>
          <p:nvPr/>
        </p:nvSpPr>
        <p:spPr>
          <a:xfrm>
            <a:off x="3492500" y="5166519"/>
            <a:ext cx="26031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6F2"/>
                </a:solidFill>
                <a:latin typeface="Space Grotesk" pitchFamily="34" charset="0"/>
                <a:ea typeface="Space Grotesk" pitchFamily="34" charset="-122"/>
                <a:cs typeface="Space Grotesk" pitchFamily="34" charset="-120"/>
              </a:rPr>
              <a:t>Pantau realtime</a:t>
            </a:r>
            <a:endParaRPr lang="en-US" sz="2000" dirty="0"/>
          </a:p>
        </p:txBody>
      </p:sp>
      <p:sp>
        <p:nvSpPr>
          <p:cNvPr id="9" name="Text 7"/>
          <p:cNvSpPr/>
          <p:nvPr/>
        </p:nvSpPr>
        <p:spPr>
          <a:xfrm>
            <a:off x="3492500" y="5547519"/>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DA"/>
                </a:solidFill>
                <a:latin typeface="IBM Plex Sans" pitchFamily="34" charset="0"/>
                <a:ea typeface="IBM Plex Sans" pitchFamily="34" charset="-122"/>
                <a:cs typeface="IBM Plex Sans" pitchFamily="34" charset="-120"/>
              </a:rPr>
              <a:t>Pusat Operasi, SOE, dan dasbor eksekutif</a:t>
            </a:r>
            <a:endParaRPr lang="en-US" sz="1400" dirty="0"/>
          </a:p>
        </p:txBody>
      </p:sp>
      <p:sp>
        <p:nvSpPr>
          <p:cNvPr id="10" name="Shape 8"/>
          <p:cNvSpPr/>
          <p:nvPr/>
        </p:nvSpPr>
        <p:spPr>
          <a:xfrm>
            <a:off x="6172200" y="4976019"/>
            <a:ext cx="2527300" cy="0"/>
          </a:xfrm>
          <a:prstGeom prst="line">
            <a:avLst/>
          </a:prstGeom>
          <a:noFill/>
          <a:ln w="25400">
            <a:solidFill>
              <a:srgbClr val="F2A93B"/>
            </a:solidFill>
            <a:prstDash val="solid"/>
          </a:ln>
        </p:spPr>
      </p:sp>
      <p:sp>
        <p:nvSpPr>
          <p:cNvPr id="11" name="Text 9"/>
          <p:cNvSpPr/>
          <p:nvPr/>
        </p:nvSpPr>
        <p:spPr>
          <a:xfrm>
            <a:off x="6172200" y="5166519"/>
            <a:ext cx="26031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6F2"/>
                </a:solidFill>
                <a:latin typeface="Space Grotesk" pitchFamily="34" charset="0"/>
                <a:ea typeface="Space Grotesk" pitchFamily="34" charset="-122"/>
                <a:cs typeface="Space Grotesk" pitchFamily="34" charset="-120"/>
              </a:rPr>
              <a:t>Operasikan aman</a:t>
            </a:r>
            <a:endParaRPr lang="en-US" sz="2000" dirty="0"/>
          </a:p>
        </p:txBody>
      </p:sp>
      <p:sp>
        <p:nvSpPr>
          <p:cNvPr id="12" name="Text 10"/>
          <p:cNvSpPr/>
          <p:nvPr/>
        </p:nvSpPr>
        <p:spPr>
          <a:xfrm>
            <a:off x="6172200" y="5547519"/>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DA"/>
                </a:solidFill>
                <a:latin typeface="IBM Plex Sans" pitchFamily="34" charset="0"/>
                <a:ea typeface="IBM Plex Sans" pitchFamily="34" charset="-122"/>
                <a:cs typeface="IBM Plex Sans" pitchFamily="34" charset="-120"/>
              </a:rPr>
              <a:t>Manuver, FLISR, dan rencana manuver sesuai izin</a:t>
            </a:r>
            <a:endParaRPr lang="en-US" sz="1400" dirty="0"/>
          </a:p>
        </p:txBody>
      </p:sp>
      <p:sp>
        <p:nvSpPr>
          <p:cNvPr id="13" name="Shape 11"/>
          <p:cNvSpPr/>
          <p:nvPr/>
        </p:nvSpPr>
        <p:spPr>
          <a:xfrm>
            <a:off x="8851900" y="4976019"/>
            <a:ext cx="2527300" cy="0"/>
          </a:xfrm>
          <a:prstGeom prst="line">
            <a:avLst/>
          </a:prstGeom>
          <a:noFill/>
          <a:ln w="25400">
            <a:solidFill>
              <a:srgbClr val="F2A93B"/>
            </a:solidFill>
            <a:prstDash val="solid"/>
          </a:ln>
        </p:spPr>
      </p:sp>
      <p:sp>
        <p:nvSpPr>
          <p:cNvPr id="14" name="Text 12"/>
          <p:cNvSpPr/>
          <p:nvPr/>
        </p:nvSpPr>
        <p:spPr>
          <a:xfrm>
            <a:off x="8851900" y="5166519"/>
            <a:ext cx="260311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6F2"/>
                </a:solidFill>
                <a:latin typeface="Space Grotesk" pitchFamily="34" charset="0"/>
                <a:ea typeface="Space Grotesk" pitchFamily="34" charset="-122"/>
                <a:cs typeface="Space Grotesk" pitchFamily="34" charset="-120"/>
              </a:rPr>
              <a:t>Ukur &amp; analisa</a:t>
            </a:r>
            <a:endParaRPr lang="en-US" sz="2000" dirty="0"/>
          </a:p>
        </p:txBody>
      </p:sp>
      <p:sp>
        <p:nvSpPr>
          <p:cNvPr id="15" name="Text 13"/>
          <p:cNvSpPr/>
          <p:nvPr/>
        </p:nvSpPr>
        <p:spPr>
          <a:xfrm>
            <a:off x="8851900" y="5547519"/>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DA"/>
                </a:solidFill>
                <a:latin typeface="IBM Plex Sans" pitchFamily="34" charset="0"/>
                <a:ea typeface="IBM Plex Sans" pitchFamily="34" charset="-122"/>
                <a:cs typeface="IBM Plex Sans" pitchFamily="34" charset="-120"/>
              </a:rPr>
              <a:t>Keandalan, beban, energi, dan susut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KINERJA</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Cepat pada skala jaringan nyata</a:t>
            </a:r>
            <a:endParaRPr lang="en-US" sz="3600" dirty="0"/>
          </a:p>
        </p:txBody>
      </p:sp>
      <p:sp>
        <p:nvSpPr>
          <p:cNvPr id="4" name="Shape 2"/>
          <p:cNvSpPr/>
          <p:nvPr/>
        </p:nvSpPr>
        <p:spPr>
          <a:xfrm>
            <a:off x="815975" y="2723555"/>
            <a:ext cx="2482850" cy="1502370"/>
          </a:xfrm>
          <a:prstGeom prst="roundRect">
            <a:avLst>
              <a:gd name="adj" fmla="val 8242"/>
            </a:avLst>
          </a:prstGeom>
          <a:solidFill>
            <a:srgbClr val="FFFFFF"/>
          </a:solidFill>
          <a:ln w="6350">
            <a:solidFill>
              <a:srgbClr val="DDE2E8"/>
            </a:solidFill>
            <a:prstDash val="solid"/>
          </a:ln>
        </p:spPr>
      </p:sp>
      <p:sp>
        <p:nvSpPr>
          <p:cNvPr id="5" name="Text 3"/>
          <p:cNvSpPr/>
          <p:nvPr/>
        </p:nvSpPr>
        <p:spPr>
          <a:xfrm>
            <a:off x="1022350" y="2980730"/>
            <a:ext cx="213220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D4ED8"/>
                </a:solidFill>
                <a:latin typeface="Space Grotesk" pitchFamily="34" charset="0"/>
                <a:ea typeface="Space Grotesk" pitchFamily="34" charset="-122"/>
                <a:cs typeface="Space Grotesk" pitchFamily="34" charset="-120"/>
              </a:rPr>
              <a:t>2,7 jt</a:t>
            </a:r>
            <a:endParaRPr lang="en-US" sz="3200" dirty="0"/>
          </a:p>
        </p:txBody>
      </p:sp>
      <p:sp>
        <p:nvSpPr>
          <p:cNvPr id="6" name="Text 4"/>
          <p:cNvSpPr/>
          <p:nvPr/>
        </p:nvSpPr>
        <p:spPr>
          <a:xfrm>
            <a:off x="1022350" y="3488730"/>
            <a:ext cx="213220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objek jaringan dalam graf topologi di memori</a:t>
            </a:r>
            <a:endParaRPr lang="en-US" sz="1400" dirty="0"/>
          </a:p>
        </p:txBody>
      </p:sp>
      <p:sp>
        <p:nvSpPr>
          <p:cNvPr id="7" name="Shape 5"/>
          <p:cNvSpPr/>
          <p:nvPr/>
        </p:nvSpPr>
        <p:spPr>
          <a:xfrm>
            <a:off x="3508375" y="2723555"/>
            <a:ext cx="2482850" cy="1502370"/>
          </a:xfrm>
          <a:prstGeom prst="roundRect">
            <a:avLst>
              <a:gd name="adj" fmla="val 8242"/>
            </a:avLst>
          </a:prstGeom>
          <a:solidFill>
            <a:srgbClr val="FFFFFF"/>
          </a:solidFill>
          <a:ln w="6350">
            <a:solidFill>
              <a:srgbClr val="DDE2E8"/>
            </a:solidFill>
            <a:prstDash val="solid"/>
          </a:ln>
        </p:spPr>
      </p:sp>
      <p:sp>
        <p:nvSpPr>
          <p:cNvPr id="8" name="Text 6"/>
          <p:cNvSpPr/>
          <p:nvPr/>
        </p:nvSpPr>
        <p:spPr>
          <a:xfrm>
            <a:off x="3714750" y="2980730"/>
            <a:ext cx="213220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D4ED8"/>
                </a:solidFill>
                <a:latin typeface="Space Grotesk" pitchFamily="34" charset="0"/>
                <a:ea typeface="Space Grotesk" pitchFamily="34" charset="-122"/>
                <a:cs typeface="Space Grotesk" pitchFamily="34" charset="-120"/>
              </a:rPr>
              <a:t>&lt;50 ms</a:t>
            </a:r>
            <a:endParaRPr lang="en-US" sz="3200" dirty="0"/>
          </a:p>
        </p:txBody>
      </p:sp>
      <p:sp>
        <p:nvSpPr>
          <p:cNvPr id="9" name="Text 7"/>
          <p:cNvSpPr/>
          <p:nvPr/>
        </p:nvSpPr>
        <p:spPr>
          <a:xfrm>
            <a:off x="3714750" y="3488730"/>
            <a:ext cx="213220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menghitung wilayah padam setelah manuver</a:t>
            </a:r>
            <a:endParaRPr lang="en-US" sz="1400" dirty="0"/>
          </a:p>
        </p:txBody>
      </p:sp>
      <p:sp>
        <p:nvSpPr>
          <p:cNvPr id="10" name="Shape 8"/>
          <p:cNvSpPr/>
          <p:nvPr/>
        </p:nvSpPr>
        <p:spPr>
          <a:xfrm>
            <a:off x="6200775" y="2723555"/>
            <a:ext cx="2482850" cy="1502370"/>
          </a:xfrm>
          <a:prstGeom prst="roundRect">
            <a:avLst>
              <a:gd name="adj" fmla="val 8242"/>
            </a:avLst>
          </a:prstGeom>
          <a:solidFill>
            <a:srgbClr val="FFFFFF"/>
          </a:solidFill>
          <a:ln w="6350">
            <a:solidFill>
              <a:srgbClr val="DDE2E8"/>
            </a:solidFill>
            <a:prstDash val="solid"/>
          </a:ln>
        </p:spPr>
      </p:sp>
      <p:sp>
        <p:nvSpPr>
          <p:cNvPr id="11" name="Text 9"/>
          <p:cNvSpPr/>
          <p:nvPr/>
        </p:nvSpPr>
        <p:spPr>
          <a:xfrm>
            <a:off x="6407150" y="2980730"/>
            <a:ext cx="213220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D4ED8"/>
                </a:solidFill>
                <a:latin typeface="Space Grotesk" pitchFamily="34" charset="0"/>
                <a:ea typeface="Space Grotesk" pitchFamily="34" charset="-122"/>
                <a:cs typeface="Space Grotesk" pitchFamily="34" charset="-120"/>
              </a:rPr>
              <a:t>20–60 ms</a:t>
            </a:r>
            <a:endParaRPr lang="en-US" sz="3200" dirty="0"/>
          </a:p>
        </p:txBody>
      </p:sp>
      <p:sp>
        <p:nvSpPr>
          <p:cNvPr id="12" name="Text 10"/>
          <p:cNvSpPr/>
          <p:nvPr/>
        </p:nvSpPr>
        <p:spPr>
          <a:xfrm>
            <a:off x="6407150" y="3488730"/>
            <a:ext cx="213220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menyusun SLD satu penyulang dari data GIS</a:t>
            </a:r>
            <a:endParaRPr lang="en-US" sz="1400" dirty="0"/>
          </a:p>
        </p:txBody>
      </p:sp>
      <p:sp>
        <p:nvSpPr>
          <p:cNvPr id="13" name="Shape 11"/>
          <p:cNvSpPr/>
          <p:nvPr/>
        </p:nvSpPr>
        <p:spPr>
          <a:xfrm>
            <a:off x="8893175" y="2723555"/>
            <a:ext cx="2482850" cy="1502370"/>
          </a:xfrm>
          <a:prstGeom prst="roundRect">
            <a:avLst>
              <a:gd name="adj" fmla="val 8242"/>
            </a:avLst>
          </a:prstGeom>
          <a:solidFill>
            <a:srgbClr val="FFFFFF"/>
          </a:solidFill>
          <a:ln w="6350">
            <a:solidFill>
              <a:srgbClr val="DDE2E8"/>
            </a:solidFill>
            <a:prstDash val="solid"/>
          </a:ln>
        </p:spPr>
      </p:sp>
      <p:sp>
        <p:nvSpPr>
          <p:cNvPr id="14" name="Text 12"/>
          <p:cNvSpPr/>
          <p:nvPr/>
        </p:nvSpPr>
        <p:spPr>
          <a:xfrm>
            <a:off x="9099550" y="2980730"/>
            <a:ext cx="213220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D4ED8"/>
                </a:solidFill>
                <a:latin typeface="Space Grotesk" pitchFamily="34" charset="0"/>
                <a:ea typeface="Space Grotesk" pitchFamily="34" charset="-122"/>
                <a:cs typeface="Space Grotesk" pitchFamily="34" charset="-120"/>
              </a:rPr>
              <a:t>&lt;0,4 dtk</a:t>
            </a:r>
            <a:endParaRPr lang="en-US" sz="3200" dirty="0"/>
          </a:p>
        </p:txBody>
      </p:sp>
      <p:sp>
        <p:nvSpPr>
          <p:cNvPr id="15" name="Text 13"/>
          <p:cNvSpPr/>
          <p:nvPr/>
        </p:nvSpPr>
        <p:spPr>
          <a:xfrm>
            <a:off x="9099550" y="3488730"/>
            <a:ext cx="213220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mencari di antara 2 juta pelanggan</a:t>
            </a:r>
            <a:endParaRPr lang="en-US" sz="1400" dirty="0"/>
          </a:p>
        </p:txBody>
      </p:sp>
      <p:sp>
        <p:nvSpPr>
          <p:cNvPr id="16" name="Text 14"/>
          <p:cNvSpPr/>
          <p:nvPr/>
        </p:nvSpPr>
        <p:spPr>
          <a:xfrm>
            <a:off x="812800" y="5344319"/>
            <a:ext cx="915670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Semua perubahan tersebar ke seluruh pengguna secara realtime lewat WebSocket, tanpa memuat ulang halaman.</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04 · Hasil uji pada data simulasi 102 GI, 1.005 penyulang, 2 juta pelanggan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PEMBARUAN · OKTOBER 2026</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Sepuluh fitur baru sejak versi September</a:t>
            </a:r>
            <a:endParaRPr lang="en-US" sz="3600" dirty="0"/>
          </a:p>
        </p:txBody>
      </p:sp>
      <p:sp>
        <p:nvSpPr>
          <p:cNvPr id="4" name="Shape 2"/>
          <p:cNvSpPr/>
          <p:nvPr/>
        </p:nvSpPr>
        <p:spPr>
          <a:xfrm>
            <a:off x="812800" y="1859161"/>
            <a:ext cx="10566400" cy="3902273"/>
          </a:xfrm>
          <a:custGeom>
            <a:avLst/>
            <a:gdLst/>
            <a:ahLst/>
            <a:cxnLst/>
            <a:rect l="l" t="t" r="r" b="b"/>
            <a:pathLst>
              <a:path w="10566400" h="3902273">
                <a:moveTo>
                  <a:pt x="10464800" y="0"/>
                </a:moveTo>
                <a:lnTo>
                  <a:pt x="10464800" y="0"/>
                </a:lnTo>
                <a:arcTo wR="101600" hR="101600" stAng="16200000" swAng="5400000"/>
                <a:lnTo>
                  <a:pt x="10566400" y="3800673"/>
                </a:lnTo>
                <a:arcTo wR="101600" hR="101600" stAng="0" swAng="5400000"/>
                <a:lnTo>
                  <a:pt x="101600" y="3902273"/>
                </a:lnTo>
                <a:arcTo wR="101600" hR="101600" stAng="5400000" swAng="5400000"/>
                <a:lnTo>
                  <a:pt x="0" y="3800673"/>
                </a:lnTo>
                <a:arcTo wR="101600" hR="95250" stAng="10800000" swAng="-5400000"/>
                <a:lnTo>
                  <a:pt x="10464800" y="3895923"/>
                </a:lnTo>
                <a:arcTo wR="95250" hR="95250" stAng="5400000" swAng="-5400000"/>
                <a:lnTo>
                  <a:pt x="10560050" y="101600"/>
                </a:lnTo>
                <a:arcTo wR="95250" hR="101600" stAng="0" swAng="-5400000"/>
                <a:close/>
              </a:path>
            </a:pathLst>
          </a:custGeom>
          <a:solidFill>
            <a:srgbClr val="DDE2E8"/>
          </a:solidFill>
          <a:ln/>
        </p:spPr>
      </p:sp>
      <p:sp>
        <p:nvSpPr>
          <p:cNvPr id="5" name="Shape 3"/>
          <p:cNvSpPr/>
          <p:nvPr/>
        </p:nvSpPr>
        <p:spPr>
          <a:xfrm>
            <a:off x="812800" y="1859161"/>
            <a:ext cx="10566400" cy="3902273"/>
          </a:xfrm>
          <a:custGeom>
            <a:avLst/>
            <a:gdLst/>
            <a:ahLst/>
            <a:cxnLst/>
            <a:rect l="l" t="t" r="r" b="b"/>
            <a:pathLst>
              <a:path w="10566400" h="3902273">
                <a:moveTo>
                  <a:pt x="101600" y="3902273"/>
                </a:moveTo>
                <a:lnTo>
                  <a:pt x="101600" y="3902273"/>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3800673"/>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71861"/>
          <a:ext cx="10547350" cy="3883220"/>
        </p:xfrm>
        <a:graphic>
          <a:graphicData uri="http://schemas.openxmlformats.org/drawingml/2006/table">
            <a:tbl>
              <a:tblPr/>
              <a:tblGrid>
                <a:gridCol w="3164205">
                  <a:extLst>
                    <a:ext uri="{9D8B030D-6E8A-4147-A177-3AD203B41FA5}">
                      <a16:colId xmlns:a16="http://schemas.microsoft.com/office/drawing/2014/main" val="20000"/>
                    </a:ext>
                  </a:extLst>
                </a:gridCol>
                <a:gridCol w="3586099">
                  <a:extLst>
                    <a:ext uri="{9D8B030D-6E8A-4147-A177-3AD203B41FA5}">
                      <a16:colId xmlns:a16="http://schemas.microsoft.com/office/drawing/2014/main" val="20001"/>
                    </a:ext>
                  </a:extLst>
                </a:gridCol>
                <a:gridCol w="3797046">
                  <a:extLst>
                    <a:ext uri="{9D8B030D-6E8A-4147-A177-3AD203B41FA5}">
                      <a16:colId xmlns:a16="http://schemas.microsoft.com/office/drawing/2014/main" val="20002"/>
                    </a:ext>
                  </a:extLst>
                </a:gridCol>
              </a:tblGrid>
              <a:tr h="353020">
                <a:tc>
                  <a:txBody>
                    <a:bodyPr/>
                    <a:lstStyle/>
                    <a:p>
                      <a:pPr marL="0" indent="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Fitur baru</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B5B9BF"/>
                      </a:solidFill>
                      <a:prstDash val="solid"/>
                      <a:round/>
                      <a:headEnd type="none" w="med" len="med"/>
                      <a:tailEnd type="none" w="med" len="med"/>
                    </a:lnR>
                    <a:lnT w="0" cap="flat" cmpd="sng" algn="ctr">
                      <a:noFill/>
                    </a:lnT>
                    <a:lnB w="12700" cap="flat" cmpd="sng" algn="ctr">
                      <a:solidFill>
                        <a:srgbClr val="B5B9BF"/>
                      </a:solidFill>
                      <a:prstDash val="solid"/>
                      <a:round/>
                      <a:headEnd type="none" w="med" len="med"/>
                      <a:tailEnd type="none" w="med" len="med"/>
                    </a:lnB>
                    <a:solidFill>
                      <a:srgbClr val="E3E8EF"/>
                    </a:solidFill>
                  </a:tcPr>
                </a:tc>
                <a:tc>
                  <a:txBody>
                    <a:bodyPr/>
                    <a:lstStyle/>
                    <a:p>
                      <a:pPr marL="0" indent="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Di mana</a:t>
                      </a:r>
                      <a:endParaRPr lang="en-US" sz="1200" dirty="0">
                        <a:latin typeface="IBM Plex Sans" charset="0"/>
                        <a:ea typeface="IBM Plex Sans" charset="0"/>
                        <a:cs typeface="IBM Plex Sans" charset="0"/>
                      </a:endParaRPr>
                    </a:p>
                  </a:txBody>
                  <a:tcPr marL="114300" marR="114300" marT="63500" marB="63500">
                    <a:lnL w="12700" cap="flat" cmpd="sng" algn="ctr">
                      <a:solidFill>
                        <a:srgbClr val="B5B9BF"/>
                      </a:solidFill>
                      <a:prstDash val="solid"/>
                      <a:round/>
                      <a:headEnd type="none" w="med" len="med"/>
                      <a:tailEnd type="none" w="med" len="med"/>
                    </a:lnL>
                    <a:lnR w="12700" cap="flat" cmpd="sng" algn="ctr">
                      <a:solidFill>
                        <a:srgbClr val="B5B9BF"/>
                      </a:solidFill>
                      <a:prstDash val="solid"/>
                      <a:round/>
                      <a:headEnd type="none" w="med" len="med"/>
                      <a:tailEnd type="none" w="med" len="med"/>
                    </a:lnR>
                    <a:lnT w="0" cap="flat" cmpd="sng" algn="ctr">
                      <a:noFill/>
                    </a:lnT>
                    <a:lnB w="12700" cap="flat" cmpd="sng" algn="ctr">
                      <a:solidFill>
                        <a:srgbClr val="B5B9BF"/>
                      </a:solidFill>
                      <a:prstDash val="solid"/>
                      <a:round/>
                      <a:headEnd type="none" w="med" len="med"/>
                      <a:tailEnd type="none" w="med" len="med"/>
                    </a:lnB>
                    <a:solidFill>
                      <a:srgbClr val="E3E8EF"/>
                    </a:solidFill>
                  </a:tcPr>
                </a:tc>
                <a:tc>
                  <a:txBody>
                    <a:bodyPr/>
                    <a:lstStyle/>
                    <a:p>
                      <a:pPr marL="0" indent="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Manfaat</a:t>
                      </a:r>
                      <a:endParaRPr lang="en-US" sz="1200" dirty="0">
                        <a:latin typeface="IBM Plex Sans" charset="0"/>
                        <a:ea typeface="IBM Plex Sans" charset="0"/>
                        <a:cs typeface="IBM Plex Sans" charset="0"/>
                      </a:endParaRPr>
                    </a:p>
                  </a:txBody>
                  <a:tcPr marL="114300" marR="114300" marT="63500" marB="63500">
                    <a:lnL w="12700" cap="flat" cmpd="sng" algn="ctr">
                      <a:solidFill>
                        <a:srgbClr val="B5B9BF"/>
                      </a:solidFill>
                      <a:prstDash val="solid"/>
                      <a:round/>
                      <a:headEnd type="none" w="med" len="med"/>
                      <a:tailEnd type="none" w="med" len="med"/>
                    </a:lnL>
                    <a:lnR w="12700" cap="flat" cmpd="sng" algn="ctr">
                      <a:solidFill>
                        <a:srgbClr val="B5B9BF"/>
                      </a:solidFill>
                      <a:prstDash val="solid"/>
                      <a:round/>
                      <a:headEnd type="none" w="med" len="med"/>
                      <a:tailEnd type="none" w="med" len="med"/>
                    </a:lnR>
                    <a:lnT w="0" cap="flat" cmpd="sng" algn="ctr">
                      <a:noFill/>
                    </a:lnT>
                    <a:lnB w="12700" cap="flat" cmpd="sng" algn="ctr">
                      <a:solidFill>
                        <a:srgbClr val="B5B9BF"/>
                      </a:solidFill>
                      <a:prstDash val="solid"/>
                      <a:round/>
                      <a:headEnd type="none" w="med" len="med"/>
                      <a:tailEnd type="none" w="med" len="med"/>
                    </a:lnB>
                    <a:solidFill>
                      <a:srgbClr val="E3E8EF"/>
                    </a:solidFill>
                  </a:tcPr>
                </a:tc>
                <a:extLst>
                  <a:ext uri="{0D108BD9-81ED-4DB2-BD59-A6C34878D82A}">
                    <a16:rowId xmlns:a16="http://schemas.microsoft.com/office/drawing/2014/main" val="10000"/>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Warna per penyulang</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BCBCB"/>
                      </a:solidFill>
                      <a:prstDash val="solid"/>
                      <a:round/>
                      <a:headEnd type="none" w="med" len="med"/>
                      <a:tailEnd type="none" w="med" len="med"/>
                    </a:lnR>
                    <a:lnT w="12700" cap="flat" cmpd="sng" algn="ctr">
                      <a:solidFill>
                        <a:srgbClr val="B5B9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Operasi · Peta Jaringan · SLD</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Normal / Aktual, pelimpahan terlihat</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Penanda penyulang paralel</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Operasi · Peta Jaringan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Tie tertutup langsung ditandai</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extLst>
                  <a:ext uri="{0D108BD9-81ED-4DB2-BD59-A6C34878D82A}">
                    <a16:rowId xmlns:a16="http://schemas.microsoft.com/office/drawing/2014/main" val="10002"/>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Filter penyulang</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Operasi · Peta Jaringan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Tampilkan penyulang pilihan saja</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Posisi aktual → normal</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Peta Jaringan › tab Normal</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Pelimpahan permanen jadi normal</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extLst>
                  <a:ext uri="{0D108BD9-81ED-4DB2-BD59-A6C34878D82A}">
                    <a16:rowId xmlns:a16="http://schemas.microsoft.com/office/drawing/2014/main" val="10004"/>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Penanda padam berkedip</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Operasi · Peta Jaringan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GD &amp; trafo GI padam cepat terlihat</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Beban padam teralokasi</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Operasi · Keandalan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Beban &amp; ENS dari beban penyulang</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extLst>
                  <a:ext uri="{0D108BD9-81ED-4DB2-BD59-A6C34878D82A}">
                    <a16:rowId xmlns:a16="http://schemas.microsoft.com/office/drawing/2014/main" val="10006"/>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Impor GDB bertahap</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Administrasi › Impor GDB</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Dibandingkan dulu, id objek tetap</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Buka/tutup via Kafka</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Administrasi › Integrasi Kafka</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SCADA/DMS mengoperasikan jaringan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extLst>
                  <a:ext uri="{0D108BD9-81ED-4DB2-BD59-A6C34878D82A}">
                    <a16:rowId xmlns:a16="http://schemas.microsoft.com/office/drawing/2014/main" val="10008"/>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Susut gardu → pelanggan</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Analisa Beban &amp; Energi › Susut</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kWh tagihan vs energi AMR gardu</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3020">
                <a:tc>
                  <a:txBody>
                    <a:bodyPr/>
                    <a:lstStyle/>
                    <a:p>
                      <a:pPr marL="0" indent="0">
                        <a:lnSpc>
                          <a:spcPts val="1680"/>
                        </a:lnSpc>
                        <a:buNone/>
                      </a:pPr>
                      <a:r>
                        <a:rPr lang="en-US" sz="1200" dirty="0">
                          <a:solidFill>
                            <a:srgbClr val="0E1A2B"/>
                          </a:solidFill>
                          <a:latin typeface="IBM Plex Sans" pitchFamily="34" charset="0"/>
                          <a:ea typeface="IBM Plex Sans" pitchFamily="34" charset="-122"/>
                          <a:cs typeface="IBM Plex Sans" pitchFamily="34" charset="-120"/>
                        </a:rPr>
                        <a:t>AI fokus kelistrikan</a:t>
                      </a:r>
                      <a:endParaRPr lang="en-US" sz="1200" dirty="0">
                        <a:latin typeface="IBM Plex Sans" charset="0"/>
                        <a:ea typeface="IBM Plex Sans" charset="0"/>
                        <a:cs typeface="IBM Plex Sans" charset="0"/>
                      </a:endParaRPr>
                    </a:p>
                  </a:txBody>
                  <a:tcPr marL="114300" marR="114300" marT="63500" marB="63500">
                    <a:lnL w="0" cap="flat" cmpd="sng" algn="ctr">
                      <a:noFill/>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 Assistant</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tc>
                  <a:txBody>
                    <a:bodyPr/>
                    <a:lstStyle/>
                    <a:p>
                      <a:pPr marL="0" indent="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Dibatasi pada topik jaringan</a:t>
                      </a:r>
                      <a:endParaRPr lang="en-US" sz="1200" dirty="0">
                        <a:latin typeface="IBM Plex Sans" charset="0"/>
                        <a:ea typeface="IBM Plex Sans" charset="0"/>
                        <a:cs typeface="IBM Plex Sans" charset="0"/>
                      </a:endParaRPr>
                    </a:p>
                  </a:txBody>
                  <a:tcPr marL="114300" marR="114300" marT="63500" marB="63500">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1"/>
                      </a:solidFill>
                      <a:prstDash val="solid"/>
                      <a:round/>
                      <a:headEnd type="none" w="med" len="med"/>
                      <a:tailEnd type="none" w="med" len="med"/>
                    </a:lnB>
                    <a:solidFill>
                      <a:srgbClr val="F5F6F2"/>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05 · Rincian tiap fitur ada di slide berlabel Baru</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PEMBARUAN · OKTOBER 2026</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Perbaikan yang membuat data lebih tepat</a:t>
            </a:r>
            <a:endParaRPr lang="en-US" sz="3600" dirty="0"/>
          </a:p>
        </p:txBody>
      </p:sp>
      <p:sp>
        <p:nvSpPr>
          <p:cNvPr id="4" name="Shape 2"/>
          <p:cNvSpPr/>
          <p:nvPr/>
        </p:nvSpPr>
        <p:spPr>
          <a:xfrm>
            <a:off x="815975" y="1963936"/>
            <a:ext cx="3397250" cy="1591171"/>
          </a:xfrm>
          <a:prstGeom prst="roundRect">
            <a:avLst>
              <a:gd name="adj" fmla="val 6984"/>
            </a:avLst>
          </a:prstGeom>
          <a:solidFill>
            <a:srgbClr val="FFFFFF"/>
          </a:solidFill>
          <a:ln w="6350">
            <a:solidFill>
              <a:srgbClr val="DDE2E8"/>
            </a:solidFill>
            <a:prstDash val="solid"/>
          </a:ln>
        </p:spPr>
      </p:sp>
      <p:pic>
        <p:nvPicPr>
          <p:cNvPr id="5" name="Image 0" descr="Wrench"/>
          <p:cNvPicPr>
            <a:picLocks noChangeAspect="1"/>
          </p:cNvPicPr>
          <p:nvPr/>
        </p:nvPicPr>
        <p:blipFill>
          <a:blip r:embed="rId3"/>
          <a:srcRect/>
          <a:stretch/>
        </p:blipFill>
        <p:spPr>
          <a:xfrm>
            <a:off x="1047750" y="2195711"/>
            <a:ext cx="304800" cy="304800"/>
          </a:xfrm>
          <a:prstGeom prst="rect">
            <a:avLst/>
          </a:prstGeom>
        </p:spPr>
      </p:pic>
      <p:sp>
        <p:nvSpPr>
          <p:cNvPr id="6" name="Text 3"/>
          <p:cNvSpPr/>
          <p:nvPr/>
        </p:nvSpPr>
        <p:spPr>
          <a:xfrm>
            <a:off x="10477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Arah normal LBS 3 arah</a:t>
            </a:r>
            <a:endParaRPr lang="en-US" sz="1600" dirty="0"/>
          </a:p>
        </p:txBody>
      </p:sp>
      <p:sp>
        <p:nvSpPr>
          <p:cNvPr id="7" name="Text 4"/>
          <p:cNvSpPr/>
          <p:nvPr/>
        </p:nvSpPr>
        <p:spPr>
          <a:xfrm>
            <a:off x="10477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Disimpan sebagai atribut, tidak lagi diambil dari kondisi saat server dimulai.</a:t>
            </a:r>
            <a:endParaRPr lang="en-US" sz="1200" dirty="0"/>
          </a:p>
        </p:txBody>
      </p:sp>
      <p:sp>
        <p:nvSpPr>
          <p:cNvPr id="8" name="Shape 5"/>
          <p:cNvSpPr/>
          <p:nvPr/>
        </p:nvSpPr>
        <p:spPr>
          <a:xfrm>
            <a:off x="4397375" y="1963936"/>
            <a:ext cx="3397250" cy="1591171"/>
          </a:xfrm>
          <a:prstGeom prst="roundRect">
            <a:avLst>
              <a:gd name="adj" fmla="val 6984"/>
            </a:avLst>
          </a:prstGeom>
          <a:solidFill>
            <a:srgbClr val="FFFFFF"/>
          </a:solidFill>
          <a:ln w="6350">
            <a:solidFill>
              <a:srgbClr val="DDE2E8"/>
            </a:solidFill>
            <a:prstDash val="solid"/>
          </a:ln>
        </p:spPr>
      </p:sp>
      <p:pic>
        <p:nvPicPr>
          <p:cNvPr id="9" name="Image 1" descr="Database"/>
          <p:cNvPicPr>
            <a:picLocks noChangeAspect="1"/>
          </p:cNvPicPr>
          <p:nvPr/>
        </p:nvPicPr>
        <p:blipFill>
          <a:blip r:embed="rId4"/>
          <a:srcRect/>
          <a:stretch/>
        </p:blipFill>
        <p:spPr>
          <a:xfrm>
            <a:off x="4629150" y="2195711"/>
            <a:ext cx="304800" cy="304800"/>
          </a:xfrm>
          <a:prstGeom prst="rect">
            <a:avLst/>
          </a:prstGeom>
        </p:spPr>
      </p:pic>
      <p:sp>
        <p:nvSpPr>
          <p:cNvPr id="10" name="Text 6"/>
          <p:cNvSpPr/>
          <p:nvPr/>
        </p:nvSpPr>
        <p:spPr>
          <a:xfrm>
            <a:off x="46291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Impor GDB ulang aman</a:t>
            </a:r>
            <a:endParaRPr lang="en-US" sz="1600" dirty="0"/>
          </a:p>
        </p:txBody>
      </p:sp>
      <p:sp>
        <p:nvSpPr>
          <p:cNvPr id="11" name="Text 7"/>
          <p:cNvSpPr/>
          <p:nvPr/>
        </p:nvSpPr>
        <p:spPr>
          <a:xfrm>
            <a:off x="46291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Id objek tetap; riwayat manuver, padam, foto, dan titik SCADA tetap tersambung.</a:t>
            </a:r>
            <a:endParaRPr lang="en-US" sz="1200" dirty="0"/>
          </a:p>
        </p:txBody>
      </p:sp>
      <p:sp>
        <p:nvSpPr>
          <p:cNvPr id="12" name="Shape 8"/>
          <p:cNvSpPr/>
          <p:nvPr/>
        </p:nvSpPr>
        <p:spPr>
          <a:xfrm>
            <a:off x="7978775" y="1963936"/>
            <a:ext cx="3397250" cy="1591171"/>
          </a:xfrm>
          <a:prstGeom prst="roundRect">
            <a:avLst>
              <a:gd name="adj" fmla="val 6984"/>
            </a:avLst>
          </a:prstGeom>
          <a:solidFill>
            <a:srgbClr val="FFFFFF"/>
          </a:solidFill>
          <a:ln w="6350">
            <a:solidFill>
              <a:srgbClr val="DDE2E8"/>
            </a:solidFill>
            <a:prstDash val="solid"/>
          </a:ln>
        </p:spPr>
      </p:sp>
      <p:pic>
        <p:nvPicPr>
          <p:cNvPr id="13" name="Image 2" descr="CheckCircle"/>
          <p:cNvPicPr>
            <a:picLocks noChangeAspect="1"/>
          </p:cNvPicPr>
          <p:nvPr/>
        </p:nvPicPr>
        <p:blipFill>
          <a:blip r:embed="rId5"/>
          <a:srcRect/>
          <a:stretch/>
        </p:blipFill>
        <p:spPr>
          <a:xfrm>
            <a:off x="8210550" y="2195711"/>
            <a:ext cx="304800" cy="304800"/>
          </a:xfrm>
          <a:prstGeom prst="rect">
            <a:avLst/>
          </a:prstGeom>
        </p:spPr>
      </p:pic>
      <p:sp>
        <p:nvSpPr>
          <p:cNvPr id="14" name="Text 9"/>
          <p:cNvSpPr/>
          <p:nvPr/>
        </p:nvSpPr>
        <p:spPr>
          <a:xfrm>
            <a:off x="82105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Rekap padam lebih tepat</a:t>
            </a:r>
            <a:endParaRPr lang="en-US" sz="1600" dirty="0"/>
          </a:p>
        </p:txBody>
      </p:sp>
      <p:sp>
        <p:nvSpPr>
          <p:cNvPr id="15" name="Text 10"/>
          <p:cNvSpPr/>
          <p:nvPr/>
        </p:nvSpPr>
        <p:spPr>
          <a:xfrm>
            <a:off x="82105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Objek rencana, tidak operasi, non aktif, dan bongkar tidak dihitung padam.</a:t>
            </a:r>
            <a:endParaRPr lang="en-US" sz="1200" dirty="0"/>
          </a:p>
        </p:txBody>
      </p:sp>
      <p:sp>
        <p:nvSpPr>
          <p:cNvPr id="16" name="Shape 11"/>
          <p:cNvSpPr/>
          <p:nvPr/>
        </p:nvSpPr>
        <p:spPr>
          <a:xfrm>
            <a:off x="815975" y="3739257"/>
            <a:ext cx="3397250" cy="1591171"/>
          </a:xfrm>
          <a:prstGeom prst="roundRect">
            <a:avLst>
              <a:gd name="adj" fmla="val 6984"/>
            </a:avLst>
          </a:prstGeom>
          <a:solidFill>
            <a:srgbClr val="FFFFFF"/>
          </a:solidFill>
          <a:ln w="6350">
            <a:solidFill>
              <a:srgbClr val="DDE2E8"/>
            </a:solidFill>
            <a:prstDash val="solid"/>
          </a:ln>
        </p:spPr>
      </p:sp>
      <p:pic>
        <p:nvPicPr>
          <p:cNvPr id="17" name="Image 3" descr="Search"/>
          <p:cNvPicPr>
            <a:picLocks noChangeAspect="1"/>
          </p:cNvPicPr>
          <p:nvPr/>
        </p:nvPicPr>
        <p:blipFill>
          <a:blip r:embed="rId6"/>
          <a:srcRect/>
          <a:stretch/>
        </p:blipFill>
        <p:spPr>
          <a:xfrm>
            <a:off x="1047750" y="3971032"/>
            <a:ext cx="304800" cy="304800"/>
          </a:xfrm>
          <a:prstGeom prst="rect">
            <a:avLst/>
          </a:prstGeom>
        </p:spPr>
      </p:pic>
      <p:sp>
        <p:nvSpPr>
          <p:cNvPr id="18" name="Text 12"/>
          <p:cNvSpPr/>
          <p:nvPr/>
        </p:nvSpPr>
        <p:spPr>
          <a:xfrm>
            <a:off x="10477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Denah gardu GDB terbaca</a:t>
            </a:r>
            <a:endParaRPr lang="en-US" sz="1600" dirty="0"/>
          </a:p>
        </p:txBody>
      </p:sp>
      <p:sp>
        <p:nvSpPr>
          <p:cNvPr id="19" name="Text 13"/>
          <p:cNvSpPr/>
          <p:nvPr/>
        </p:nvSpPr>
        <p:spPr>
          <a:xfrm>
            <a:off x="1047750" y="467201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Denah miniatur dari GDB diperbesar ±10 m agar simbol tidak menumpuk.</a:t>
            </a:r>
            <a:endParaRPr lang="en-US" sz="1200" dirty="0"/>
          </a:p>
        </p:txBody>
      </p:sp>
      <p:sp>
        <p:nvSpPr>
          <p:cNvPr id="20" name="Shape 14"/>
          <p:cNvSpPr/>
          <p:nvPr/>
        </p:nvSpPr>
        <p:spPr>
          <a:xfrm>
            <a:off x="4397375" y="3739257"/>
            <a:ext cx="3397250" cy="1591171"/>
          </a:xfrm>
          <a:prstGeom prst="roundRect">
            <a:avLst>
              <a:gd name="adj" fmla="val 6984"/>
            </a:avLst>
          </a:prstGeom>
          <a:solidFill>
            <a:srgbClr val="FFFFFF"/>
          </a:solidFill>
          <a:ln w="6350">
            <a:solidFill>
              <a:srgbClr val="DDE2E8"/>
            </a:solidFill>
            <a:prstDash val="solid"/>
          </a:ln>
        </p:spPr>
      </p:sp>
      <p:pic>
        <p:nvPicPr>
          <p:cNvPr id="21" name="Image 4" descr="Home"/>
          <p:cNvPicPr>
            <a:picLocks noChangeAspect="1"/>
          </p:cNvPicPr>
          <p:nvPr/>
        </p:nvPicPr>
        <p:blipFill>
          <a:blip r:embed="rId7"/>
          <a:srcRect/>
          <a:stretch/>
        </p:blipFill>
        <p:spPr>
          <a:xfrm>
            <a:off x="4629150" y="3971032"/>
            <a:ext cx="304800" cy="304800"/>
          </a:xfrm>
          <a:prstGeom prst="rect">
            <a:avLst/>
          </a:prstGeom>
        </p:spPr>
      </p:pic>
      <p:sp>
        <p:nvSpPr>
          <p:cNvPr id="22" name="Text 15"/>
          <p:cNvSpPr/>
          <p:nvPr/>
        </p:nvSpPr>
        <p:spPr>
          <a:xfrm>
            <a:off x="46291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Menu lebih jelas</a:t>
            </a:r>
            <a:endParaRPr lang="en-US" sz="1600" dirty="0"/>
          </a:p>
        </p:txBody>
      </p:sp>
      <p:sp>
        <p:nvSpPr>
          <p:cNvPr id="23" name="Text 16"/>
          <p:cNvSpPr/>
          <p:nvPr/>
        </p:nvSpPr>
        <p:spPr>
          <a:xfrm>
            <a:off x="4629150" y="467201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Peta Kelistrikan › Peta Jaringan; filter dan warna peta tetap terlihat di ponsel.</a:t>
            </a:r>
            <a:endParaRPr lang="en-US" sz="1200" dirty="0"/>
          </a:p>
        </p:txBody>
      </p:sp>
      <p:sp>
        <p:nvSpPr>
          <p:cNvPr id="24" name="Shape 17"/>
          <p:cNvSpPr/>
          <p:nvPr/>
        </p:nvSpPr>
        <p:spPr>
          <a:xfrm>
            <a:off x="7978775" y="3739257"/>
            <a:ext cx="3397250" cy="1591171"/>
          </a:xfrm>
          <a:prstGeom prst="roundRect">
            <a:avLst>
              <a:gd name="adj" fmla="val 6984"/>
            </a:avLst>
          </a:prstGeom>
          <a:solidFill>
            <a:srgbClr val="FFFFFF"/>
          </a:solidFill>
          <a:ln w="6350">
            <a:solidFill>
              <a:srgbClr val="DDE2E8"/>
            </a:solidFill>
            <a:prstDash val="solid"/>
          </a:ln>
        </p:spPr>
      </p:sp>
      <p:pic>
        <p:nvPicPr>
          <p:cNvPr id="25" name="Image 5" descr="Lightning"/>
          <p:cNvPicPr>
            <a:picLocks noChangeAspect="1"/>
          </p:cNvPicPr>
          <p:nvPr/>
        </p:nvPicPr>
        <p:blipFill>
          <a:blip r:embed="rId8"/>
          <a:srcRect/>
          <a:stretch/>
        </p:blipFill>
        <p:spPr>
          <a:xfrm>
            <a:off x="8210550" y="3971032"/>
            <a:ext cx="304800" cy="304800"/>
          </a:xfrm>
          <a:prstGeom prst="rect">
            <a:avLst/>
          </a:prstGeom>
        </p:spPr>
      </p:pic>
      <p:sp>
        <p:nvSpPr>
          <p:cNvPr id="26" name="Text 18"/>
          <p:cNvSpPr/>
          <p:nvPr/>
        </p:nvSpPr>
        <p:spPr>
          <a:xfrm>
            <a:off x="82105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Peta tetap ringan</a:t>
            </a:r>
            <a:endParaRPr lang="en-US" sz="1600" dirty="0"/>
          </a:p>
        </p:txBody>
      </p:sp>
      <p:sp>
        <p:nvSpPr>
          <p:cNvPr id="27" name="Text 19"/>
          <p:cNvSpPr/>
          <p:nvPr/>
        </p:nvSpPr>
        <p:spPr>
          <a:xfrm>
            <a:off x="8210550" y="467201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Penanda padam berkedip dua keadaan, hanya saat tampil di layar.</a:t>
            </a:r>
            <a:endParaRPr lang="en-US" sz="12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PETA KELISTRIKAN</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Gambar jaringan, topologi terbentuk sendiri</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Topologi otomatis</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Ujung garis tersambung, garis dipisah, junction dibuat.</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Simbol standar IEC</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Trafo, recloser, LBS, NH fuse, rak TR, dengan varian terbuka.</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Atribut SSOT &amp; unit</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SSOT, kapasitas, penghantar, dan unit pemilik aset.</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Lewat persetujuan</a:t>
            </a:r>
            <a:endParaRPr lang="en-US" sz="1600" dirty="0"/>
          </a:p>
        </p:txBody>
      </p:sp>
      <p:sp>
        <p:nvSpPr>
          <p:cNvPr id="11" name="Text 9"/>
          <p:cNvSpPr/>
          <p:nvPr/>
        </p:nvSpPr>
        <p:spPr>
          <a:xfrm>
            <a:off x="812800" y="485080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Tambah, ubah, hapus disimpan sebagai usulan, lalu dirilis.</a:t>
            </a:r>
            <a:endParaRPr lang="en-US" sz="1200" dirty="0"/>
          </a:p>
        </p:txBody>
      </p:sp>
      <p:pic>
        <p:nvPicPr>
          <p:cNvPr id="12" name="Image 0" descr="Peta Jaringan dengan simbol komponen, menu Peta Kelistrikan, tombol filter dan warna peta, serta panel Layer"/>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MENAMBAH</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Menambah objek jaringan baru</a:t>
            </a:r>
            <a:endParaRPr lang="en-US" sz="3600" dirty="0"/>
          </a:p>
        </p:txBody>
      </p:sp>
      <p:sp>
        <p:nvSpPr>
          <p:cNvPr id="4" name="Text 2"/>
          <p:cNvSpPr/>
          <p:nvPr/>
        </p:nvSpPr>
        <p:spPr>
          <a:xfrm>
            <a:off x="812800" y="19099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23367" y="19099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Pilih alat &amp; tipe</a:t>
            </a:r>
            <a:endParaRPr lang="en-US" sz="1600" dirty="0"/>
          </a:p>
        </p:txBody>
      </p:sp>
      <p:sp>
        <p:nvSpPr>
          <p:cNvPr id="6" name="Text 4"/>
          <p:cNvSpPr/>
          <p:nvPr/>
        </p:nvSpPr>
        <p:spPr>
          <a:xfrm>
            <a:off x="1223367" y="21791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Ikon titik atau garis, lalu tipe: SKTM, SKUTR, SR, GD, trafo.</a:t>
            </a:r>
            <a:endParaRPr lang="en-US" sz="1200" dirty="0"/>
          </a:p>
        </p:txBody>
      </p:sp>
      <p:sp>
        <p:nvSpPr>
          <p:cNvPr id="7" name="Text 5"/>
          <p:cNvSpPr/>
          <p:nvPr/>
        </p:nvSpPr>
        <p:spPr>
          <a:xfrm>
            <a:off x="812800" y="27708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48668" y="27708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Klik di peta</a:t>
            </a:r>
            <a:endParaRPr lang="en-US" sz="1600" dirty="0"/>
          </a:p>
        </p:txBody>
      </p:sp>
      <p:sp>
        <p:nvSpPr>
          <p:cNvPr id="9" name="Text 7"/>
          <p:cNvSpPr/>
          <p:nvPr/>
        </p:nvSpPr>
        <p:spPr>
          <a:xfrm>
            <a:off x="1248668" y="30400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Tiap klik satu vertex; Enter selesai, Backspace mundur, Esc batal.</a:t>
            </a:r>
            <a:endParaRPr lang="en-US" sz="1200" dirty="0"/>
          </a:p>
        </p:txBody>
      </p:sp>
      <p:sp>
        <p:nvSpPr>
          <p:cNvPr id="10" name="Text 8"/>
          <p:cNvSpPr/>
          <p:nvPr/>
        </p:nvSpPr>
        <p:spPr>
          <a:xfrm>
            <a:off x="812800" y="36318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51148" y="36318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Topologi otomatis</a:t>
            </a:r>
            <a:endParaRPr lang="en-US" sz="1600" dirty="0"/>
          </a:p>
        </p:txBody>
      </p:sp>
      <p:sp>
        <p:nvSpPr>
          <p:cNvPr id="12" name="Text 10"/>
          <p:cNvSpPr/>
          <p:nvPr/>
        </p:nvSpPr>
        <p:spPr>
          <a:xfrm>
            <a:off x="1251148" y="39009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Ujung menempel ke node terdekat; garis dipisah, junction dibuat.</a:t>
            </a:r>
            <a:endParaRPr lang="en-US" sz="1200" dirty="0"/>
          </a:p>
        </p:txBody>
      </p:sp>
      <p:sp>
        <p:nvSpPr>
          <p:cNvPr id="13" name="Text 11"/>
          <p:cNvSpPr/>
          <p:nvPr/>
        </p:nvSpPr>
        <p:spPr>
          <a:xfrm>
            <a:off x="812800" y="44927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56109" y="44927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Simpan usulan</a:t>
            </a:r>
            <a:endParaRPr lang="en-US" sz="1600" dirty="0"/>
          </a:p>
        </p:txBody>
      </p:sp>
      <p:sp>
        <p:nvSpPr>
          <p:cNvPr id="15" name="Text 13"/>
          <p:cNvSpPr/>
          <p:nvPr/>
        </p:nvSpPr>
        <p:spPr>
          <a:xfrm>
            <a:off x="1256109" y="47619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nama, atribut SSOT; objek masuk paket perubahan draf.</a:t>
            </a:r>
            <a:endParaRPr lang="en-US" sz="1200" dirty="0"/>
          </a:p>
        </p:txBody>
      </p:sp>
      <p:pic>
        <p:nvPicPr>
          <p:cNvPr id="16" name="Image 0" descr="Menu gambar komponen dengan daftar tipe titik"/>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7" name="Shape 14"/>
          <p:cNvSpPr/>
          <p:nvPr/>
        </p:nvSpPr>
        <p:spPr>
          <a:xfrm>
            <a:off x="4778375" y="1913136"/>
            <a:ext cx="6597650" cy="3708400"/>
          </a:xfrm>
          <a:prstGeom prst="roundRect">
            <a:avLst>
              <a:gd name="adj" fmla="val 2654"/>
            </a:avLst>
          </a:prstGeom>
          <a:noFill/>
          <a:ln w="6350">
            <a:solidFill>
              <a:srgbClr val="D8DDE3"/>
            </a:solidFill>
            <a:prstDash val="solid"/>
          </a:ln>
        </p:spPr>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08 · Hak akses: gis.edit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MENGEDIT</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Mengubah atribut dan geometri</a:t>
            </a:r>
            <a:endParaRPr lang="en-US" sz="3600" dirty="0"/>
          </a:p>
        </p:txBody>
      </p:sp>
      <p:sp>
        <p:nvSpPr>
          <p:cNvPr id="4" name="Text 2"/>
          <p:cNvSpPr/>
          <p:nvPr/>
        </p:nvSpPr>
        <p:spPr>
          <a:xfrm>
            <a:off x="812800" y="19099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23367" y="19099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Pilih objek</a:t>
            </a:r>
            <a:endParaRPr lang="en-US" sz="1600" dirty="0"/>
          </a:p>
        </p:txBody>
      </p:sp>
      <p:sp>
        <p:nvSpPr>
          <p:cNvPr id="6" name="Text 4"/>
          <p:cNvSpPr/>
          <p:nvPr/>
        </p:nvSpPr>
        <p:spPr>
          <a:xfrm>
            <a:off x="1223367" y="21791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Klik di peta, atau cari kode, nama, id, atau kode SSOT.</a:t>
            </a:r>
            <a:endParaRPr lang="en-US" sz="1200" dirty="0"/>
          </a:p>
        </p:txBody>
      </p:sp>
      <p:sp>
        <p:nvSpPr>
          <p:cNvPr id="7" name="Text 5"/>
          <p:cNvSpPr/>
          <p:nvPr/>
        </p:nvSpPr>
        <p:spPr>
          <a:xfrm>
            <a:off x="812800" y="27708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48668" y="27708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Ubah atribut &amp; unit</a:t>
            </a:r>
            <a:endParaRPr lang="en-US" sz="1600" dirty="0"/>
          </a:p>
        </p:txBody>
      </p:sp>
      <p:sp>
        <p:nvSpPr>
          <p:cNvPr id="9" name="Text 7"/>
          <p:cNvSpPr/>
          <p:nvPr/>
        </p:nvSpPr>
        <p:spPr>
          <a:xfrm>
            <a:off x="1248668" y="30400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nama, SSOT, unit pemilik, lalu Simpan usulan.</a:t>
            </a:r>
            <a:endParaRPr lang="en-US" sz="1200" dirty="0"/>
          </a:p>
        </p:txBody>
      </p:sp>
      <p:sp>
        <p:nvSpPr>
          <p:cNvPr id="10" name="Text 8"/>
          <p:cNvSpPr/>
          <p:nvPr/>
        </p:nvSpPr>
        <p:spPr>
          <a:xfrm>
            <a:off x="812800" y="36318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51148" y="36318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Ubah geometri</a:t>
            </a:r>
            <a:endParaRPr lang="en-US" sz="1600" dirty="0"/>
          </a:p>
        </p:txBody>
      </p:sp>
      <p:sp>
        <p:nvSpPr>
          <p:cNvPr id="12" name="Text 10"/>
          <p:cNvSpPr/>
          <p:nvPr/>
        </p:nvSpPr>
        <p:spPr>
          <a:xfrm>
            <a:off x="1251148" y="39009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Pindahkan, Edit vertex, Gambar ulang, atau Pisah garis.</a:t>
            </a:r>
            <a:endParaRPr lang="en-US" sz="1200" dirty="0"/>
          </a:p>
        </p:txBody>
      </p:sp>
      <p:sp>
        <p:nvSpPr>
          <p:cNvPr id="13" name="Text 11"/>
          <p:cNvSpPr/>
          <p:nvPr/>
        </p:nvSpPr>
        <p:spPr>
          <a:xfrm>
            <a:off x="812800" y="44927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56109" y="44927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Ditinjau lalu dirilis</a:t>
            </a:r>
            <a:endParaRPr lang="en-US" sz="1600" dirty="0"/>
          </a:p>
        </p:txBody>
      </p:sp>
      <p:sp>
        <p:nvSpPr>
          <p:cNvPr id="15" name="Text 13"/>
          <p:cNvSpPr/>
          <p:nvPr/>
        </p:nvSpPr>
        <p:spPr>
          <a:xfrm>
            <a:off x="1256109" y="47619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Usulan tampil biru di peta sampai paket dirilis.</a:t>
            </a:r>
            <a:endParaRPr lang="en-US" sz="1200" dirty="0"/>
          </a:p>
        </p:txBody>
      </p:sp>
      <p:pic>
        <p:nvPicPr>
          <p:cNvPr id="16" name="Image 0" descr="Panel Fitur dengan atribut SSOT, unit pemilik, dan tombol Simpan usul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7" name="Shape 14"/>
          <p:cNvSpPr/>
          <p:nvPr/>
        </p:nvSpPr>
        <p:spPr>
          <a:xfrm>
            <a:off x="4778375" y="1913136"/>
            <a:ext cx="6597650" cy="3708400"/>
          </a:xfrm>
          <a:prstGeom prst="roundRect">
            <a:avLst>
              <a:gd name="adj" fmla="val 2654"/>
            </a:avLst>
          </a:prstGeom>
          <a:noFill/>
          <a:ln w="6350">
            <a:solidFill>
              <a:srgbClr val="D8DDE3"/>
            </a:solidFill>
            <a:prstDash val="solid"/>
          </a:ln>
        </p:spPr>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09 · Hak akses: gis.edit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MENGHAPUS</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Menghapus objek dengan aman</a:t>
            </a:r>
            <a:endParaRPr lang="en-US" sz="3600" dirty="0"/>
          </a:p>
        </p:txBody>
      </p:sp>
      <p:sp>
        <p:nvSpPr>
          <p:cNvPr id="4" name="Text 2"/>
          <p:cNvSpPr/>
          <p:nvPr/>
        </p:nvSpPr>
        <p:spPr>
          <a:xfrm>
            <a:off x="812800" y="19099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23367" y="19099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Pilih lalu Hapus</a:t>
            </a:r>
            <a:endParaRPr lang="en-US" sz="1600" dirty="0"/>
          </a:p>
        </p:txBody>
      </p:sp>
      <p:sp>
        <p:nvSpPr>
          <p:cNvPr id="6" name="Text 4"/>
          <p:cNvSpPr/>
          <p:nvPr/>
        </p:nvSpPr>
        <p:spPr>
          <a:xfrm>
            <a:off x="1223367" y="21791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Tombol Hapus ada di bagian bawah panel Fitur.</a:t>
            </a:r>
            <a:endParaRPr lang="en-US" sz="1200" dirty="0"/>
          </a:p>
        </p:txBody>
      </p:sp>
      <p:sp>
        <p:nvSpPr>
          <p:cNvPr id="7" name="Text 5"/>
          <p:cNvSpPr/>
          <p:nvPr/>
        </p:nvSpPr>
        <p:spPr>
          <a:xfrm>
            <a:off x="812800" y="27708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48668" y="27708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Konfirmasi dampak</a:t>
            </a:r>
            <a:endParaRPr lang="en-US" sz="1600" dirty="0"/>
          </a:p>
        </p:txBody>
      </p:sp>
      <p:sp>
        <p:nvSpPr>
          <p:cNvPr id="9" name="Text 7"/>
          <p:cNvSpPr/>
          <p:nvPr/>
        </p:nvSpPr>
        <p:spPr>
          <a:xfrm>
            <a:off x="1248668" y="30400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Menghapus titik ikut menghapus garis yang terhubung.</a:t>
            </a:r>
            <a:endParaRPr lang="en-US" sz="1200" dirty="0"/>
          </a:p>
        </p:txBody>
      </p:sp>
      <p:sp>
        <p:nvSpPr>
          <p:cNvPr id="10" name="Text 8"/>
          <p:cNvSpPr/>
          <p:nvPr/>
        </p:nvSpPr>
        <p:spPr>
          <a:xfrm>
            <a:off x="812800" y="36318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51148" y="36318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Usulan hapus</a:t>
            </a:r>
            <a:endParaRPr lang="en-US" sz="1600" dirty="0"/>
          </a:p>
        </p:txBody>
      </p:sp>
      <p:sp>
        <p:nvSpPr>
          <p:cNvPr id="12" name="Text 10"/>
          <p:cNvSpPr/>
          <p:nvPr/>
        </p:nvSpPr>
        <p:spPr>
          <a:xfrm>
            <a:off x="1251148" y="39009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Objek ditandai merah; baru terhapus saat paket dirilis.</a:t>
            </a:r>
            <a:endParaRPr lang="en-US" sz="1200" dirty="0"/>
          </a:p>
        </p:txBody>
      </p:sp>
      <p:sp>
        <p:nvSpPr>
          <p:cNvPr id="13" name="Text 11"/>
          <p:cNvSpPr/>
          <p:nvPr/>
        </p:nvSpPr>
        <p:spPr>
          <a:xfrm>
            <a:off x="812800" y="44927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56109" y="44927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Topologi dibersihkan</a:t>
            </a:r>
            <a:endParaRPr lang="en-US" sz="1600" dirty="0"/>
          </a:p>
        </p:txBody>
      </p:sp>
      <p:sp>
        <p:nvSpPr>
          <p:cNvPr id="15" name="Text 13"/>
          <p:cNvSpPr/>
          <p:nvPr/>
        </p:nvSpPr>
        <p:spPr>
          <a:xfrm>
            <a:off x="1256109" y="47619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Junction yatim dihapus; nyala/padam dihitung ulang.</a:t>
            </a:r>
            <a:endParaRPr lang="en-US" sz="1200" dirty="0"/>
          </a:p>
        </p:txBody>
      </p:sp>
      <p:pic>
        <p:nvPicPr>
          <p:cNvPr id="16" name="Image 0" descr="Dialog konfirmasi hapus fitur yang menyebut garis terhubung ikut terhapus"/>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7" name="Shape 14"/>
          <p:cNvSpPr/>
          <p:nvPr/>
        </p:nvSpPr>
        <p:spPr>
          <a:xfrm>
            <a:off x="4778375" y="1913136"/>
            <a:ext cx="6597650" cy="3708400"/>
          </a:xfrm>
          <a:prstGeom prst="roundRect">
            <a:avLst>
              <a:gd name="adj" fmla="val 2654"/>
            </a:avLst>
          </a:prstGeom>
          <a:noFill/>
          <a:ln w="6350">
            <a:solidFill>
              <a:srgbClr val="D8DDE3"/>
            </a:solidFill>
            <a:prstDash val="solid"/>
          </a:ln>
        </p:spPr>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10 · Hak akses: gis.edit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PERSETUJUAN</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Setiap perubahan ditinjau sebelum berlaku</a:t>
            </a:r>
            <a:endParaRPr lang="en-US" sz="3600" dirty="0"/>
          </a:p>
        </p:txBody>
      </p:sp>
      <p:sp>
        <p:nvSpPr>
          <p:cNvPr id="4" name="Text 2"/>
          <p:cNvSpPr/>
          <p:nvPr/>
        </p:nvSpPr>
        <p:spPr>
          <a:xfrm>
            <a:off x="812800" y="19099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23367" y="19099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Draf</a:t>
            </a:r>
            <a:endParaRPr lang="en-US" sz="1600" dirty="0"/>
          </a:p>
        </p:txBody>
      </p:sp>
      <p:sp>
        <p:nvSpPr>
          <p:cNvPr id="6" name="Text 4"/>
          <p:cNvSpPr/>
          <p:nvPr/>
        </p:nvSpPr>
        <p:spPr>
          <a:xfrm>
            <a:off x="1223367" y="21791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Editor mengumpulkan perubahan dalam satu paket.</a:t>
            </a:r>
            <a:endParaRPr lang="en-US" sz="1200" dirty="0"/>
          </a:p>
        </p:txBody>
      </p:sp>
      <p:sp>
        <p:nvSpPr>
          <p:cNvPr id="7" name="Text 5"/>
          <p:cNvSpPr/>
          <p:nvPr/>
        </p:nvSpPr>
        <p:spPr>
          <a:xfrm>
            <a:off x="812800" y="27708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48668" y="27708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Diajukan</a:t>
            </a:r>
            <a:endParaRPr lang="en-US" sz="1600" dirty="0"/>
          </a:p>
        </p:txBody>
      </p:sp>
      <p:sp>
        <p:nvSpPr>
          <p:cNvPr id="9" name="Text 7"/>
          <p:cNvSpPr/>
          <p:nvPr/>
        </p:nvSpPr>
        <p:spPr>
          <a:xfrm>
            <a:off x="1248668" y="30400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Paket diajukan dengan catatan; jaringan aktif belum berubah.</a:t>
            </a:r>
            <a:endParaRPr lang="en-US" sz="1200" dirty="0"/>
          </a:p>
        </p:txBody>
      </p:sp>
      <p:sp>
        <p:nvSpPr>
          <p:cNvPr id="10" name="Text 8"/>
          <p:cNvSpPr/>
          <p:nvPr/>
        </p:nvSpPr>
        <p:spPr>
          <a:xfrm>
            <a:off x="812800" y="36318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51148" y="36318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Disetujui</a:t>
            </a:r>
            <a:endParaRPr lang="en-US" sz="1600" dirty="0"/>
          </a:p>
        </p:txBody>
      </p:sp>
      <p:sp>
        <p:nvSpPr>
          <p:cNvPr id="12" name="Text 10"/>
          <p:cNvSpPr/>
          <p:nvPr/>
        </p:nvSpPr>
        <p:spPr>
          <a:xfrm>
            <a:off x="1251148" y="39009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Supervisor memeriksa sebelum → sesudah; tolak wajib beralasan.</a:t>
            </a:r>
            <a:endParaRPr lang="en-US" sz="1200" dirty="0"/>
          </a:p>
        </p:txBody>
      </p:sp>
      <p:sp>
        <p:nvSpPr>
          <p:cNvPr id="13" name="Text 11"/>
          <p:cNvSpPr/>
          <p:nvPr/>
        </p:nvSpPr>
        <p:spPr>
          <a:xfrm>
            <a:off x="812800" y="44927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56109" y="44927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Dirilis</a:t>
            </a:r>
            <a:endParaRPr lang="en-US" sz="1600" dirty="0"/>
          </a:p>
        </p:txBody>
      </p:sp>
      <p:sp>
        <p:nvSpPr>
          <p:cNvPr id="15" name="Text 13"/>
          <p:cNvSpPr/>
          <p:nvPr/>
        </p:nvSpPr>
        <p:spPr>
          <a:xfrm>
            <a:off x="1256109" y="47619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Manajer menerapkan ke jaringan aktif; konflik dicek lebih dulu.</a:t>
            </a:r>
            <a:endParaRPr lang="en-US" sz="1200" dirty="0"/>
          </a:p>
        </p:txBody>
      </p:sp>
      <p:pic>
        <p:nvPicPr>
          <p:cNvPr id="16" name="Image 0" descr="Halaman Persetujuan Perubahan dengan tahapan paket dan daftar perubah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7" name="Shape 14"/>
          <p:cNvSpPr/>
          <p:nvPr/>
        </p:nvSpPr>
        <p:spPr>
          <a:xfrm>
            <a:off x="4778375" y="1913136"/>
            <a:ext cx="6597650" cy="3708400"/>
          </a:xfrm>
          <a:prstGeom prst="roundRect">
            <a:avLst>
              <a:gd name="adj" fmla="val 2654"/>
            </a:avLst>
          </a:prstGeom>
          <a:noFill/>
          <a:ln w="6350">
            <a:solidFill>
              <a:srgbClr val="D8DDE3"/>
            </a:solidFill>
            <a:prstDash val="solid"/>
          </a:ln>
        </p:spPr>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11 · Hak akses: gis.edit · gis.approve · gis.release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7662"/>
            <a:ext cx="350846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POSISI NORMAL</a:t>
            </a:r>
            <a:endParaRPr lang="en-US" sz="1200" dirty="0"/>
          </a:p>
        </p:txBody>
      </p:sp>
      <p:sp>
        <p:nvSpPr>
          <p:cNvPr id="3" name="Text 1"/>
          <p:cNvSpPr/>
          <p:nvPr/>
        </p:nvSpPr>
        <p:spPr>
          <a:xfrm>
            <a:off x="4320679" y="804962"/>
            <a:ext cx="513556" cy="238720"/>
          </a:xfrm>
          <a:custGeom>
            <a:avLst/>
            <a:gdLst/>
            <a:ahLst/>
            <a:cxnLst/>
            <a:rect l="l" t="t" r="r" b="b"/>
            <a:pathLst>
              <a:path w="513556" h="238720">
                <a:moveTo>
                  <a:pt x="119360" y="0"/>
                </a:moveTo>
                <a:lnTo>
                  <a:pt x="394196" y="0"/>
                </a:lnTo>
                <a:arcTo wR="119360" hR="119360" stAng="16200000" swAng="5400000"/>
                <a:lnTo>
                  <a:pt x="513556" y="119360"/>
                </a:lnTo>
                <a:arcTo wR="119360" hR="119360" stAng="0" swAng="5400000"/>
                <a:lnTo>
                  <a:pt x="119360" y="238720"/>
                </a:lnTo>
                <a:arcTo wR="119360" hR="119360" stAng="5400000" swAng="5400000"/>
                <a:lnTo>
                  <a:pt x="0" y="119360"/>
                </a:lnTo>
                <a:arcTo wR="119360" hR="119360" stAng="10800000" swAng="5400000"/>
                <a:close/>
              </a:path>
            </a:pathLst>
          </a:custGeom>
          <a:solidFill>
            <a:srgbClr val="F2A93B"/>
          </a:solidFill>
          <a:ln/>
        </p:spPr>
        <p:txBody>
          <a:bodyPr wrap="none" lIns="0" tIns="0" rIns="0" bIns="0" rtlCol="0" anchor="ctr">
            <a:normAutofit/>
          </a:bodyPr>
          <a:lstStyle/>
          <a:p>
            <a:pPr marL="0" indent="0" algn="ctr">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Baru</a:t>
            </a:r>
            <a:endParaRPr lang="en-US" sz="1200" dirty="0"/>
          </a:p>
        </p:txBody>
      </p:sp>
      <p:sp>
        <p:nvSpPr>
          <p:cNvPr id="4" name="Text 2"/>
          <p:cNvSpPr>
            <a:spLocks noGrp="1"/>
          </p:cNvSpPr>
          <p:nvPr>
            <p:ph type="title"/>
          </p:nvPr>
        </p:nvSpPr>
        <p:spPr>
          <a:xfrm>
            <a:off x="812800" y="1112044"/>
            <a:ext cx="11379200" cy="965200"/>
          </a:xfrm>
          <a:prstGeom prst="rect">
            <a:avLst/>
          </a:prstGeom>
          <a:noFill/>
          <a:ln/>
        </p:spPr>
        <p:txBody>
          <a:bodyPr wrap="square" lIns="0" tIns="0" rIns="0" bIns="0" rtlCol="0" anchor="t">
            <a:normAutofit/>
          </a:bodyPr>
          <a:lstStyle/>
          <a:p>
            <a:pPr marL="0" indent="0" algn="l">
              <a:lnSpc>
                <a:spcPts val="3812"/>
              </a:lnSpc>
              <a:buNone/>
            </a:pPr>
            <a:r>
              <a:rPr lang="en-US" sz="3465" b="1" i="0" dirty="0">
                <a:solidFill>
                  <a:srgbClr val="0E1A2B"/>
                </a:solidFill>
                <a:latin typeface="Space Grotesk" pitchFamily="34" charset="0"/>
                <a:ea typeface="Space Grotesk" pitchFamily="34" charset="-122"/>
                <a:cs typeface="Space Grotesk" pitchFamily="34" charset="-120"/>
              </a:rPr>
              <a:t>Pelimpahan permanen menjadi konfigurasi normal</a:t>
            </a:r>
            <a:endParaRPr lang="en-US" sz="3465" dirty="0"/>
          </a:p>
        </p:txBody>
      </p:sp>
      <p:sp>
        <p:nvSpPr>
          <p:cNvPr id="5" name="Text 3"/>
          <p:cNvSpPr/>
          <p:nvPr/>
        </p:nvSpPr>
        <p:spPr>
          <a:xfrm>
            <a:off x="812800" y="2356644"/>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6" name="Text 4"/>
          <p:cNvSpPr/>
          <p:nvPr/>
        </p:nvSpPr>
        <p:spPr>
          <a:xfrm>
            <a:off x="1223367" y="2356644"/>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Lihat penyimpangan</a:t>
            </a:r>
            <a:endParaRPr lang="en-US" sz="1600" dirty="0"/>
          </a:p>
        </p:txBody>
      </p:sp>
      <p:sp>
        <p:nvSpPr>
          <p:cNvPr id="7" name="Text 5"/>
          <p:cNvSpPr/>
          <p:nvPr/>
        </p:nvSpPr>
        <p:spPr>
          <a:xfrm>
            <a:off x="1223367" y="2625824"/>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Switch yang posisinya berbeda dari normal, termasuk arah LBS 3 arah.</a:t>
            </a:r>
            <a:endParaRPr lang="en-US" sz="1200" dirty="0"/>
          </a:p>
        </p:txBody>
      </p:sp>
      <p:sp>
        <p:nvSpPr>
          <p:cNvPr id="8" name="Text 6"/>
          <p:cNvSpPr/>
          <p:nvPr/>
        </p:nvSpPr>
        <p:spPr>
          <a:xfrm>
            <a:off x="812800" y="3217565"/>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9" name="Text 7"/>
          <p:cNvSpPr/>
          <p:nvPr/>
        </p:nvSpPr>
        <p:spPr>
          <a:xfrm>
            <a:off x="1248668" y="3217565"/>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Periksa dampak</a:t>
            </a:r>
            <a:endParaRPr lang="en-US" sz="1600" dirty="0"/>
          </a:p>
        </p:txBody>
      </p:sp>
      <p:sp>
        <p:nvSpPr>
          <p:cNvPr id="10" name="Text 8"/>
          <p:cNvSpPr/>
          <p:nvPr/>
        </p:nvSpPr>
        <p:spPr>
          <a:xfrm>
            <a:off x="1248668" y="3486745"/>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Jumlah objek dan pelanggan yang pindah penyulang normal.</a:t>
            </a:r>
            <a:endParaRPr lang="en-US" sz="1200" dirty="0"/>
          </a:p>
        </p:txBody>
      </p:sp>
      <p:sp>
        <p:nvSpPr>
          <p:cNvPr id="11" name="Text 9"/>
          <p:cNvSpPr/>
          <p:nvPr/>
        </p:nvSpPr>
        <p:spPr>
          <a:xfrm>
            <a:off x="812800" y="4078486"/>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2" name="Text 10"/>
          <p:cNvSpPr/>
          <p:nvPr/>
        </p:nvSpPr>
        <p:spPr>
          <a:xfrm>
            <a:off x="1251148" y="4078486"/>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Centang yang permanen</a:t>
            </a:r>
            <a:endParaRPr lang="en-US" sz="1600" dirty="0"/>
          </a:p>
        </p:txBody>
      </p:sp>
      <p:sp>
        <p:nvSpPr>
          <p:cNvPr id="13" name="Text 11"/>
          <p:cNvSpPr/>
          <p:nvPr/>
        </p:nvSpPr>
        <p:spPr>
          <a:xfrm>
            <a:off x="1251148" y="4347666"/>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Disarankan bila kedua sisi bertegangan; sisi padam tidak dicentang.</a:t>
            </a:r>
            <a:endParaRPr lang="en-US" sz="1200" dirty="0"/>
          </a:p>
        </p:txBody>
      </p:sp>
      <p:sp>
        <p:nvSpPr>
          <p:cNvPr id="14" name="Text 12"/>
          <p:cNvSpPr/>
          <p:nvPr/>
        </p:nvSpPr>
        <p:spPr>
          <a:xfrm>
            <a:off x="812800" y="4939407"/>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5" name="Text 13"/>
          <p:cNvSpPr/>
          <p:nvPr/>
        </p:nvSpPr>
        <p:spPr>
          <a:xfrm>
            <a:off x="1256109" y="4939407"/>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Jadikan normal</a:t>
            </a:r>
            <a:endParaRPr lang="en-US" sz="1600" dirty="0"/>
          </a:p>
        </p:txBody>
      </p:sp>
      <p:sp>
        <p:nvSpPr>
          <p:cNvPr id="16" name="Text 14"/>
          <p:cNvSpPr/>
          <p:nvPr/>
        </p:nvSpPr>
        <p:spPr>
          <a:xfrm>
            <a:off x="1256109" y="5208588"/>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Status buka/tutup tetap; penyulang Normal dihitung ulang sama dengan Aktual.</a:t>
            </a:r>
            <a:endParaRPr lang="en-US" sz="1200" dirty="0"/>
          </a:p>
        </p:txBody>
      </p:sp>
      <p:pic>
        <p:nvPicPr>
          <p:cNvPr id="17" name="Image 0" descr="Peta Jaringan tab Normal: KBK-GMB-03 dan LBS3-GMB-03-07 berbeda dari normal, dampak 218 objek dan 114 pelanggan pindah ke KBK-GMB-05"/>
          <p:cNvPicPr>
            <a:picLocks noChangeAspect="1"/>
          </p:cNvPicPr>
          <p:nvPr/>
        </p:nvPicPr>
        <p:blipFill>
          <a:blip r:embed="rId3"/>
          <a:srcRect t="75" b="75"/>
          <a:stretch/>
        </p:blipFill>
        <p:spPr>
          <a:xfrm>
            <a:off x="4781550" y="2362994"/>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8" name="Shape 15"/>
          <p:cNvSpPr/>
          <p:nvPr/>
        </p:nvSpPr>
        <p:spPr>
          <a:xfrm>
            <a:off x="4778375" y="2359819"/>
            <a:ext cx="6597650" cy="3708400"/>
          </a:xfrm>
          <a:prstGeom prst="roundRect">
            <a:avLst>
              <a:gd name="adj" fmla="val 2654"/>
            </a:avLst>
          </a:prstGeom>
          <a:noFill/>
          <a:ln w="6350">
            <a:solidFill>
              <a:srgbClr val="D8DDE3"/>
            </a:solidFill>
            <a:prstDash val="solid"/>
          </a:ln>
        </p:spPr>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12 · Hak akses: gis.edit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EDIT MASSAL</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Edit massal lewat QGIS</a:t>
            </a:r>
            <a:endParaRPr lang="en-US" sz="3600" dirty="0"/>
          </a:p>
        </p:txBody>
      </p:sp>
      <p:sp>
        <p:nvSpPr>
          <p:cNvPr id="4" name="Text 2"/>
          <p:cNvSpPr/>
          <p:nvPr/>
        </p:nvSpPr>
        <p:spPr>
          <a:xfrm>
            <a:off x="812800" y="19099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23367" y="19099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Ekspor GeoJSON</a:t>
            </a:r>
            <a:endParaRPr lang="en-US" sz="1600" dirty="0"/>
          </a:p>
        </p:txBody>
      </p:sp>
      <p:sp>
        <p:nvSpPr>
          <p:cNvPr id="6" name="Text 4"/>
          <p:cNvSpPr/>
          <p:nvPr/>
        </p:nvSpPr>
        <p:spPr>
          <a:xfrm>
            <a:off x="1223367" y="21791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Tampilan peta atau poligon, pilih tipe, maksimal 10 MB.</a:t>
            </a:r>
            <a:endParaRPr lang="en-US" sz="1200" dirty="0"/>
          </a:p>
        </p:txBody>
      </p:sp>
      <p:sp>
        <p:nvSpPr>
          <p:cNvPr id="7" name="Text 5"/>
          <p:cNvSpPr/>
          <p:nvPr/>
        </p:nvSpPr>
        <p:spPr>
          <a:xfrm>
            <a:off x="812800" y="27708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8" name="Text 6"/>
          <p:cNvSpPr/>
          <p:nvPr/>
        </p:nvSpPr>
        <p:spPr>
          <a:xfrm>
            <a:off x="1248668" y="27708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Sunting di QGIS</a:t>
            </a:r>
            <a:endParaRPr lang="en-US" sz="1600" dirty="0"/>
          </a:p>
        </p:txBody>
      </p:sp>
      <p:sp>
        <p:nvSpPr>
          <p:cNvPr id="9" name="Text 7"/>
          <p:cNvSpPr/>
          <p:nvPr/>
        </p:nvSpPr>
        <p:spPr>
          <a:xfrm>
            <a:off x="1248668" y="30400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Ubah atribut dan geometri, atau tambah objek baru.</a:t>
            </a:r>
            <a:endParaRPr lang="en-US" sz="1200" dirty="0"/>
          </a:p>
        </p:txBody>
      </p:sp>
      <p:sp>
        <p:nvSpPr>
          <p:cNvPr id="10" name="Text 8"/>
          <p:cNvSpPr/>
          <p:nvPr/>
        </p:nvSpPr>
        <p:spPr>
          <a:xfrm>
            <a:off x="812800" y="36318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1" name="Text 9"/>
          <p:cNvSpPr/>
          <p:nvPr/>
        </p:nvSpPr>
        <p:spPr>
          <a:xfrm>
            <a:off x="1251148" y="36318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Pratinjau &amp; rekap</a:t>
            </a:r>
            <a:endParaRPr lang="en-US" sz="1600" dirty="0"/>
          </a:p>
        </p:txBody>
      </p:sp>
      <p:sp>
        <p:nvSpPr>
          <p:cNvPr id="12" name="Text 10"/>
          <p:cNvSpPr/>
          <p:nvPr/>
        </p:nvSpPr>
        <p:spPr>
          <a:xfrm>
            <a:off x="1251148" y="39009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Baru, ubah, sama, galat per layer; daftar galat bisa diunduh.</a:t>
            </a:r>
            <a:endParaRPr lang="en-US" sz="1200" dirty="0"/>
          </a:p>
        </p:txBody>
      </p:sp>
      <p:sp>
        <p:nvSpPr>
          <p:cNvPr id="13" name="Text 11"/>
          <p:cNvSpPr/>
          <p:nvPr/>
        </p:nvSpPr>
        <p:spPr>
          <a:xfrm>
            <a:off x="812800" y="44927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4" name="Text 12"/>
          <p:cNvSpPr/>
          <p:nvPr/>
        </p:nvSpPr>
        <p:spPr>
          <a:xfrm>
            <a:off x="1256109" y="44927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Terapkan ke paket</a:t>
            </a:r>
            <a:endParaRPr lang="en-US" sz="1600" dirty="0"/>
          </a:p>
        </p:txBody>
      </p:sp>
      <p:sp>
        <p:nvSpPr>
          <p:cNvPr id="15" name="Text 13"/>
          <p:cNvSpPr/>
          <p:nvPr/>
        </p:nvSpPr>
        <p:spPr>
          <a:xfrm>
            <a:off x="1256109" y="47619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Masuk paket perubahan, lalu melalui persetujuan.</a:t>
            </a:r>
            <a:endParaRPr lang="en-US" sz="1200" dirty="0"/>
          </a:p>
        </p:txBody>
      </p:sp>
      <p:pic>
        <p:nvPicPr>
          <p:cNvPr id="16" name="Image 0" descr="Pratinjau impor GeoJSON dengan rekap per layer dan daftar galat"/>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7" name="Shape 14"/>
          <p:cNvSpPr/>
          <p:nvPr/>
        </p:nvSpPr>
        <p:spPr>
          <a:xfrm>
            <a:off x="4778375" y="1913136"/>
            <a:ext cx="6597650" cy="3708400"/>
          </a:xfrm>
          <a:prstGeom prst="roundRect">
            <a:avLst>
              <a:gd name="adj" fmla="val 2654"/>
            </a:avLst>
          </a:prstGeom>
          <a:noFill/>
          <a:ln w="6350">
            <a:solidFill>
              <a:srgbClr val="D8DDE3"/>
            </a:solidFill>
            <a:prstDash val="solid"/>
          </a:ln>
        </p:spPr>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13 · Ekspor: gis.view · Impor: gis.edit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25500"/>
            <a:ext cx="309602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PENGELOLAAN DATA · IMPOR GDB</a:t>
            </a:r>
            <a:endParaRPr lang="en-US" sz="1200" dirty="0"/>
          </a:p>
        </p:txBody>
      </p:sp>
      <p:sp>
        <p:nvSpPr>
          <p:cNvPr id="3" name="Text 1"/>
          <p:cNvSpPr/>
          <p:nvPr/>
        </p:nvSpPr>
        <p:spPr>
          <a:xfrm>
            <a:off x="3908822" y="812800"/>
            <a:ext cx="513556" cy="238720"/>
          </a:xfrm>
          <a:custGeom>
            <a:avLst/>
            <a:gdLst/>
            <a:ahLst/>
            <a:cxnLst/>
            <a:rect l="l" t="t" r="r" b="b"/>
            <a:pathLst>
              <a:path w="513556" h="238720">
                <a:moveTo>
                  <a:pt x="119360" y="0"/>
                </a:moveTo>
                <a:lnTo>
                  <a:pt x="394196" y="0"/>
                </a:lnTo>
                <a:arcTo wR="119360" hR="119360" stAng="16200000" swAng="5400000"/>
                <a:lnTo>
                  <a:pt x="513556" y="119360"/>
                </a:lnTo>
                <a:arcTo wR="119360" hR="119360" stAng="0" swAng="5400000"/>
                <a:lnTo>
                  <a:pt x="119360" y="238720"/>
                </a:lnTo>
                <a:arcTo wR="119360" hR="119360" stAng="5400000" swAng="5400000"/>
                <a:lnTo>
                  <a:pt x="0" y="119360"/>
                </a:lnTo>
                <a:arcTo wR="119360" hR="119360" stAng="10800000" swAng="5400000"/>
                <a:close/>
              </a:path>
            </a:pathLst>
          </a:custGeom>
          <a:solidFill>
            <a:srgbClr val="F2A93B"/>
          </a:solidFill>
          <a:ln/>
        </p:spPr>
        <p:txBody>
          <a:bodyPr wrap="none" lIns="0" tIns="0" rIns="0" bIns="0" rtlCol="0" anchor="ctr">
            <a:normAutofit/>
          </a:bodyPr>
          <a:lstStyle/>
          <a:p>
            <a:pPr marL="0" indent="0" algn="ctr">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Baru</a:t>
            </a:r>
            <a:endParaRPr lang="en-US" sz="1200" dirty="0"/>
          </a:p>
        </p:txBody>
      </p:sp>
      <p:sp>
        <p:nvSpPr>
          <p:cNvPr id="4" name="Text 2"/>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GDB baru dibandingkan dulu, baru diterapkan</a:t>
            </a:r>
            <a:endParaRPr lang="en-US" sz="3600" dirty="0"/>
          </a:p>
        </p:txBody>
      </p:sp>
      <p:sp>
        <p:nvSpPr>
          <p:cNvPr id="5" name="Text 3"/>
          <p:cNvSpPr/>
          <p:nvPr/>
        </p:nvSpPr>
        <p:spPr>
          <a:xfrm>
            <a:off x="812800" y="1935361"/>
            <a:ext cx="283567" cy="299641"/>
          </a:xfrm>
          <a:custGeom>
            <a:avLst/>
            <a:gdLst/>
            <a:ahLst/>
            <a:cxnLst/>
            <a:rect l="l" t="t" r="r" b="b"/>
            <a:pathLst>
              <a:path w="283567" h="299641">
                <a:moveTo>
                  <a:pt x="141784" y="0"/>
                </a:moveTo>
                <a:lnTo>
                  <a:pt x="141784" y="0"/>
                </a:lnTo>
                <a:arcTo wR="141784" hR="141784" stAng="16200000" swAng="5400000"/>
                <a:lnTo>
                  <a:pt x="283567" y="157857"/>
                </a:lnTo>
                <a:arcTo wR="141784" hR="141784" stAng="0" swAng="5400000"/>
                <a:lnTo>
                  <a:pt x="141784" y="299641"/>
                </a:lnTo>
                <a:arcTo wR="141784" hR="141784" stAng="5400000" swAng="5400000"/>
                <a:lnTo>
                  <a:pt x="0" y="141784"/>
                </a:lnTo>
                <a:arcTo wR="141784" hR="141784"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1</a:t>
            </a:r>
            <a:endParaRPr lang="en-US" sz="1400" dirty="0"/>
          </a:p>
        </p:txBody>
      </p:sp>
      <p:sp>
        <p:nvSpPr>
          <p:cNvPr id="6" name="Text 4"/>
          <p:cNvSpPr/>
          <p:nvPr/>
        </p:nvSpPr>
        <p:spPr>
          <a:xfrm>
            <a:off x="1223367" y="1935361"/>
            <a:ext cx="32397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Unggah ZIP .gdb</a:t>
            </a:r>
            <a:endParaRPr lang="en-US" sz="1600" dirty="0"/>
          </a:p>
        </p:txBody>
      </p:sp>
      <p:sp>
        <p:nvSpPr>
          <p:cNvPr id="7" name="Text 5"/>
          <p:cNvSpPr/>
          <p:nvPr/>
        </p:nvSpPr>
        <p:spPr>
          <a:xfrm>
            <a:off x="1223367" y="2204541"/>
            <a:ext cx="323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18 layer GDB PLN dipetakan ke tipe QuadranGIS di area staging.</a:t>
            </a:r>
            <a:endParaRPr lang="en-US" sz="1200" dirty="0"/>
          </a:p>
        </p:txBody>
      </p:sp>
      <p:sp>
        <p:nvSpPr>
          <p:cNvPr id="8" name="Text 6"/>
          <p:cNvSpPr/>
          <p:nvPr/>
        </p:nvSpPr>
        <p:spPr>
          <a:xfrm>
            <a:off x="812800" y="2796282"/>
            <a:ext cx="308868" cy="299641"/>
          </a:xfrm>
          <a:custGeom>
            <a:avLst/>
            <a:gdLst/>
            <a:ahLst/>
            <a:cxnLst/>
            <a:rect l="l" t="t" r="r" b="b"/>
            <a:pathLst>
              <a:path w="308868" h="299641">
                <a:moveTo>
                  <a:pt x="149820" y="0"/>
                </a:moveTo>
                <a:lnTo>
                  <a:pt x="159048" y="0"/>
                </a:lnTo>
                <a:arcTo wR="149820" hR="149820" stAng="16200000" swAng="5400000"/>
                <a:lnTo>
                  <a:pt x="30886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2</a:t>
            </a:r>
            <a:endParaRPr lang="en-US" sz="1400" dirty="0"/>
          </a:p>
        </p:txBody>
      </p:sp>
      <p:sp>
        <p:nvSpPr>
          <p:cNvPr id="9" name="Text 7"/>
          <p:cNvSpPr/>
          <p:nvPr/>
        </p:nvSpPr>
        <p:spPr>
          <a:xfrm>
            <a:off x="1248668" y="2796282"/>
            <a:ext cx="321373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Bandingkan</a:t>
            </a:r>
            <a:endParaRPr lang="en-US" sz="1600" dirty="0"/>
          </a:p>
        </p:txBody>
      </p:sp>
      <p:sp>
        <p:nvSpPr>
          <p:cNvPr id="10" name="Text 8"/>
          <p:cNvSpPr/>
          <p:nvPr/>
        </p:nvSpPr>
        <p:spPr>
          <a:xfrm>
            <a:off x="1248668" y="3065463"/>
            <a:ext cx="3213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Baru, berubah, dihapus di GDB, konflik, diubah lokal, dan sama.</a:t>
            </a:r>
            <a:endParaRPr lang="en-US" sz="1200" dirty="0"/>
          </a:p>
        </p:txBody>
      </p:sp>
      <p:sp>
        <p:nvSpPr>
          <p:cNvPr id="11" name="Text 9"/>
          <p:cNvSpPr/>
          <p:nvPr/>
        </p:nvSpPr>
        <p:spPr>
          <a:xfrm>
            <a:off x="812800" y="3657203"/>
            <a:ext cx="311348" cy="299641"/>
          </a:xfrm>
          <a:custGeom>
            <a:avLst/>
            <a:gdLst/>
            <a:ahLst/>
            <a:cxnLst/>
            <a:rect l="l" t="t" r="r" b="b"/>
            <a:pathLst>
              <a:path w="311348" h="299641">
                <a:moveTo>
                  <a:pt x="149820" y="0"/>
                </a:moveTo>
                <a:lnTo>
                  <a:pt x="161528" y="0"/>
                </a:lnTo>
                <a:arcTo wR="149820" hR="149820" stAng="16200000" swAng="5400000"/>
                <a:lnTo>
                  <a:pt x="311348"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3</a:t>
            </a:r>
            <a:endParaRPr lang="en-US" sz="1400" dirty="0"/>
          </a:p>
        </p:txBody>
      </p:sp>
      <p:sp>
        <p:nvSpPr>
          <p:cNvPr id="12" name="Text 10"/>
          <p:cNvSpPr/>
          <p:nvPr/>
        </p:nvSpPr>
        <p:spPr>
          <a:xfrm>
            <a:off x="1251148" y="3657203"/>
            <a:ext cx="321118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Putuskan</a:t>
            </a:r>
            <a:endParaRPr lang="en-US" sz="1600" dirty="0"/>
          </a:p>
        </p:txBody>
      </p:sp>
      <p:sp>
        <p:nvSpPr>
          <p:cNvPr id="13" name="Text 11"/>
          <p:cNvSpPr/>
          <p:nvPr/>
        </p:nvSpPr>
        <p:spPr>
          <a:xfrm>
            <a:off x="1251148" y="3926384"/>
            <a:ext cx="32111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Terapkan atau Batalkan; peta belum berubah sebelum diterapkan.</a:t>
            </a:r>
            <a:endParaRPr lang="en-US" sz="1200" dirty="0"/>
          </a:p>
        </p:txBody>
      </p:sp>
      <p:sp>
        <p:nvSpPr>
          <p:cNvPr id="14" name="Text 12"/>
          <p:cNvSpPr/>
          <p:nvPr/>
        </p:nvSpPr>
        <p:spPr>
          <a:xfrm>
            <a:off x="812800" y="4518124"/>
            <a:ext cx="316309" cy="299641"/>
          </a:xfrm>
          <a:custGeom>
            <a:avLst/>
            <a:gdLst/>
            <a:ahLst/>
            <a:cxnLst/>
            <a:rect l="l" t="t" r="r" b="b"/>
            <a:pathLst>
              <a:path w="316309" h="299641">
                <a:moveTo>
                  <a:pt x="149820" y="0"/>
                </a:moveTo>
                <a:lnTo>
                  <a:pt x="166489" y="0"/>
                </a:lnTo>
                <a:arcTo wR="149820" hR="149820" stAng="16200000" swAng="5400000"/>
                <a:lnTo>
                  <a:pt x="316309" y="149820"/>
                </a:lnTo>
                <a:arcTo wR="149820" hR="149820" stAng="0" swAng="5400000"/>
                <a:lnTo>
                  <a:pt x="149820" y="299641"/>
                </a:lnTo>
                <a:arcTo wR="149820" hR="149820" stAng="5400000" swAng="5400000"/>
                <a:lnTo>
                  <a:pt x="0" y="149820"/>
                </a:lnTo>
                <a:arcTo wR="149820" hR="149820" stAng="10800000" swAng="5400000"/>
                <a:close/>
              </a:path>
            </a:pathLst>
          </a:custGeom>
          <a:solidFill>
            <a:srgbClr val="2563EB"/>
          </a:solidFill>
          <a:ln/>
        </p:spPr>
        <p:txBody>
          <a:bodyPr wrap="none" lIns="0" tIns="0" rIns="0" bIns="0" rtlCol="0" anchor="ctr">
            <a:normAutofit/>
          </a:bodyPr>
          <a:lstStyle/>
          <a:p>
            <a:pPr marL="0" indent="0" algn="ctr">
              <a:lnSpc>
                <a:spcPts val="1960"/>
              </a:lnSpc>
              <a:buNone/>
            </a:pPr>
            <a:r>
              <a:rPr lang="en-US" sz="1400" b="1" dirty="0">
                <a:solidFill>
                  <a:srgbClr val="F5F6F2"/>
                </a:solidFill>
                <a:latin typeface="Space Grotesk" pitchFamily="34" charset="0"/>
                <a:ea typeface="Space Grotesk" pitchFamily="34" charset="-122"/>
                <a:cs typeface="Space Grotesk" pitchFamily="34" charset="-120"/>
              </a:rPr>
              <a:t>4</a:t>
            </a:r>
            <a:endParaRPr lang="en-US" sz="1400" dirty="0"/>
          </a:p>
        </p:txBody>
      </p:sp>
      <p:sp>
        <p:nvSpPr>
          <p:cNvPr id="15" name="Text 13"/>
          <p:cNvSpPr/>
          <p:nvPr/>
        </p:nvSpPr>
        <p:spPr>
          <a:xfrm>
            <a:off x="1256109" y="4518124"/>
            <a:ext cx="320607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Terapkan per objek</a:t>
            </a:r>
            <a:endParaRPr lang="en-US" sz="1600" dirty="0"/>
          </a:p>
        </p:txBody>
      </p:sp>
      <p:sp>
        <p:nvSpPr>
          <p:cNvPr id="16" name="Text 14"/>
          <p:cNvSpPr/>
          <p:nvPr/>
        </p:nvSpPr>
        <p:spPr>
          <a:xfrm>
            <a:off x="1256109" y="4787305"/>
            <a:ext cx="32060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Id tetap: riwayat manuver, padam, foto, titik SCADA tetap tersambung.</a:t>
            </a:r>
            <a:endParaRPr lang="en-US" sz="1200" dirty="0"/>
          </a:p>
        </p:txBody>
      </p:sp>
      <p:pic>
        <p:nvPicPr>
          <p:cNvPr id="17" name="Image 0" descr="Halaman Impor GDB: proses impor menunggu tinjauan, ringkasan perbandingan, dan tombol Terapkan perubahan atau Batalkan"/>
          <p:cNvPicPr>
            <a:picLocks noChangeAspect="1"/>
          </p:cNvPicPr>
          <p:nvPr/>
        </p:nvPicPr>
        <p:blipFill>
          <a:blip r:embed="rId3"/>
          <a:srcRect t="88" b="88"/>
          <a:stretch/>
        </p:blipFill>
        <p:spPr>
          <a:xfrm>
            <a:off x="4781550" y="19417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8" name="Shape 15"/>
          <p:cNvSpPr/>
          <p:nvPr/>
        </p:nvSpPr>
        <p:spPr>
          <a:xfrm>
            <a:off x="4778375" y="1938536"/>
            <a:ext cx="6597650" cy="3708400"/>
          </a:xfrm>
          <a:prstGeom prst="roundRect">
            <a:avLst>
              <a:gd name="adj" fmla="val 2654"/>
            </a:avLst>
          </a:prstGeom>
          <a:noFill/>
          <a:ln w="6350">
            <a:solidFill>
              <a:srgbClr val="D8DDE3"/>
            </a:solidFill>
            <a:prstDash val="solid"/>
          </a:ln>
        </p:spPr>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14 · Hak akses: admin.config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MASTER DATA · DATA ASET</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Hirarki aset dari GI sampai pelanggan</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Tree &amp; tabel</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GI → trafo GI → penyulang → gardu → trafo → jurusan → pelanggan.</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Otomatis dari topologi</a:t>
            </a:r>
            <a:endParaRPr lang="en-US" sz="1600" dirty="0"/>
          </a:p>
        </p:txBody>
      </p:sp>
      <p:sp>
        <p:nvSpPr>
          <p:cNvPr id="7" name="Text 5"/>
          <p:cNvSpPr/>
          <p:nvPr/>
        </p:nvSpPr>
        <p:spPr>
          <a:xfrm>
            <a:off x="812800" y="3078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Tidak diisi manual; selalu sesuai data peta.</a:t>
            </a:r>
            <a:endParaRPr lang="en-US" sz="1200" dirty="0"/>
          </a:p>
        </p:txBody>
      </p:sp>
      <p:sp>
        <p:nvSpPr>
          <p:cNvPr id="8" name="Text 6"/>
          <p:cNvSpPr/>
          <p:nvPr/>
        </p:nvSpPr>
        <p:spPr>
          <a:xfrm>
            <a:off x="812800" y="34692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Cari &amp; sorot</a:t>
            </a:r>
            <a:endParaRPr lang="en-US" sz="1600" dirty="0"/>
          </a:p>
        </p:txBody>
      </p:sp>
      <p:sp>
        <p:nvSpPr>
          <p:cNvPr id="9" name="Text 7"/>
          <p:cNvSpPr/>
          <p:nvPr/>
        </p:nvSpPr>
        <p:spPr>
          <a:xfrm>
            <a:off x="812800" y="3751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Pohon terbuka sampai objek yang dicari.</a:t>
            </a:r>
            <a:endParaRPr lang="en-US" sz="1200" dirty="0"/>
          </a:p>
        </p:txBody>
      </p:sp>
      <p:sp>
        <p:nvSpPr>
          <p:cNvPr id="10" name="Text 8"/>
          <p:cNvSpPr/>
          <p:nvPr/>
        </p:nvSpPr>
        <p:spPr>
          <a:xfrm>
            <a:off x="812800" y="414228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Filter &amp; ekspor</a:t>
            </a:r>
            <a:endParaRPr lang="en-US" sz="1600" dirty="0"/>
          </a:p>
        </p:txBody>
      </p:sp>
      <p:sp>
        <p:nvSpPr>
          <p:cNvPr id="11" name="Text 9"/>
          <p:cNvSpPr/>
          <p:nvPr/>
        </p:nvSpPr>
        <p:spPr>
          <a:xfrm>
            <a:off x="812800" y="442416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Tingkat, cakupan, status, unit pemilik; unduh CSV.</a:t>
            </a:r>
            <a:endParaRPr lang="en-US" sz="1200" dirty="0"/>
          </a:p>
        </p:txBody>
      </p:sp>
      <p:pic>
        <p:nvPicPr>
          <p:cNvPr id="12" name="Image 0" descr="Pohon hirarki aset GI sampai pelanggan dengan panel rinci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15 · Hak akses: master.view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MASTER DATA · UNIT</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Unit pemilik dan pengelola aset</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Jenjang organisasi</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PUSAT → REGION → UID/UP2B → UP3/UP2D → ULP.</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Profil unit</a:t>
            </a:r>
            <a:endParaRPr lang="en-US" sz="1600" dirty="0"/>
          </a:p>
        </p:txBody>
      </p:sp>
      <p:sp>
        <p:nvSpPr>
          <p:cNvPr id="7" name="Text 5"/>
          <p:cNvSpPr/>
          <p:nvPr/>
        </p:nvSpPr>
        <p:spPr>
          <a:xfrm>
            <a:off x="812800" y="3078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Alamat, koordinat, kontak, dan wilayah kerja.</a:t>
            </a:r>
            <a:endParaRPr lang="en-US" sz="1200" dirty="0"/>
          </a:p>
        </p:txBody>
      </p:sp>
      <p:sp>
        <p:nvSpPr>
          <p:cNvPr id="8" name="Text 6"/>
          <p:cNvSpPr/>
          <p:nvPr/>
        </p:nvSpPr>
        <p:spPr>
          <a:xfrm>
            <a:off x="812800" y="34692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Kepemilikan otomatis</a:t>
            </a:r>
            <a:endParaRPr lang="en-US" sz="1600" dirty="0"/>
          </a:p>
        </p:txBody>
      </p:sp>
      <p:sp>
        <p:nvSpPr>
          <p:cNvPr id="9" name="Text 7"/>
          <p:cNvSpPr/>
          <p:nvPr/>
        </p:nvSpPr>
        <p:spPr>
          <a:xfrm>
            <a:off x="812800" y="3751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Aset diberi unit dari lokasinya (ULP/UP3 terdekat).</a:t>
            </a:r>
            <a:endParaRPr lang="en-US" sz="1200" dirty="0"/>
          </a:p>
        </p:txBody>
      </p:sp>
      <p:sp>
        <p:nvSpPr>
          <p:cNvPr id="10" name="Text 8"/>
          <p:cNvSpPr/>
          <p:nvPr/>
        </p:nvSpPr>
        <p:spPr>
          <a:xfrm>
            <a:off x="812800" y="414228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Dasar analisa</a:t>
            </a:r>
            <a:endParaRPr lang="en-US" sz="1600" dirty="0"/>
          </a:p>
        </p:txBody>
      </p:sp>
      <p:sp>
        <p:nvSpPr>
          <p:cNvPr id="11" name="Text 9"/>
          <p:cNvSpPr/>
          <p:nvPr/>
        </p:nvSpPr>
        <p:spPr>
          <a:xfrm>
            <a:off x="812800" y="442416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Beban, susut, dan filter data aset per unit.</a:t>
            </a:r>
            <a:endParaRPr lang="en-US" sz="1200" dirty="0"/>
          </a:p>
        </p:txBody>
      </p:sp>
      <p:pic>
        <p:nvPicPr>
          <p:cNvPr id="12" name="Image 0" descr="Master Data Unit dengan jenjang unit dan jumlah aset"/>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16 · Hak akses: master.manage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MASTER DATA · TITIK SCADA</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Titik ukur SCADA/AMR terpetakan ke GIS</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Tiga jenis titik</a:t>
            </a:r>
            <a:endParaRPr lang="en-US" sz="1600" dirty="0"/>
          </a:p>
        </p:txBody>
      </p:sp>
      <p:sp>
        <p:nvSpPr>
          <p:cNvPr id="5" name="Text 3"/>
          <p:cNvSpPr/>
          <p:nvPr/>
        </p:nvSpPr>
        <p:spPr>
          <a:xfrm>
            <a:off x="812800" y="2191841"/>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Trafo GI, penyulang, dan gardu distribusi.</a:t>
            </a:r>
            <a:endParaRPr lang="en-US" sz="1200" dirty="0"/>
          </a:p>
        </p:txBody>
      </p:sp>
      <p:sp>
        <p:nvSpPr>
          <p:cNvPr id="6" name="Text 4"/>
          <p:cNvSpPr/>
          <p:nvPr/>
        </p:nvSpPr>
        <p:spPr>
          <a:xfrm>
            <a:off x="812800" y="258296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Pemetaan otomatis</a:t>
            </a:r>
            <a:endParaRPr lang="en-US" sz="1600" dirty="0"/>
          </a:p>
        </p:txBody>
      </p:sp>
      <p:sp>
        <p:nvSpPr>
          <p:cNvPr id="7" name="Text 5"/>
          <p:cNvSpPr/>
          <p:nvPr/>
        </p:nvSpPr>
        <p:spPr>
          <a:xfrm>
            <a:off x="812800" y="2864842"/>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yang sama dengan kode GIS langsung tertaut ke objeknya.</a:t>
            </a:r>
            <a:endParaRPr lang="en-US" sz="1200" dirty="0"/>
          </a:p>
        </p:txBody>
      </p:sp>
      <p:sp>
        <p:nvSpPr>
          <p:cNvPr id="8" name="Text 6"/>
          <p:cNvSpPr/>
          <p:nvPr/>
        </p:nvSpPr>
        <p:spPr>
          <a:xfrm>
            <a:off x="812800" y="34692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Registrasi otomatis</a:t>
            </a:r>
            <a:endParaRPr lang="en-US" sz="1600" dirty="0"/>
          </a:p>
        </p:txBody>
      </p:sp>
      <p:sp>
        <p:nvSpPr>
          <p:cNvPr id="9" name="Text 7"/>
          <p:cNvSpPr/>
          <p:nvPr/>
        </p:nvSpPr>
        <p:spPr>
          <a:xfrm>
            <a:off x="812800" y="3751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baru dari SCADA/AMR yang cocok didaftarkan sendiri.</a:t>
            </a:r>
            <a:endParaRPr lang="en-US" sz="1200" dirty="0"/>
          </a:p>
        </p:txBody>
      </p:sp>
      <p:sp>
        <p:nvSpPr>
          <p:cNvPr id="10" name="Text 8"/>
          <p:cNvSpPr/>
          <p:nvPr/>
        </p:nvSpPr>
        <p:spPr>
          <a:xfrm>
            <a:off x="812800" y="435560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Kontrak pesan Kafka</a:t>
            </a:r>
            <a:endParaRPr lang="en-US" sz="1600" dirty="0"/>
          </a:p>
        </p:txBody>
      </p:sp>
      <p:sp>
        <p:nvSpPr>
          <p:cNvPr id="11" name="Text 9"/>
          <p:cNvSpPr/>
          <p:nvPr/>
        </p:nvSpPr>
        <p:spPr>
          <a:xfrm>
            <a:off x="812800" y="463748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Format pesan 30 menit; kirim data uji lewat HTTP.</a:t>
            </a:r>
            <a:endParaRPr lang="en-US" sz="1200" dirty="0"/>
          </a:p>
        </p:txBody>
      </p:sp>
      <p:pic>
        <p:nvPicPr>
          <p:cNvPr id="12" name="Image 0" descr="Halaman Titik SCADA dengan form titik, kontrak pesan Kafka, dan daftar titik"/>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17 · Hak akses: load.view · Kelola: load.manage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PUSAT OPERASI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Kondisi jaringan terlihat seketika</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Rekap berlapis</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GI, trafo GI, penyulang, zona, gardu, trafo, pelanggan, beban.</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Daftar per level</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Tab GI, penyulang, gardu, dan pelanggan dengan pencarian.</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Peta nyala/padam</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Filter status &amp; penyulang; GD dan trafo GI padam berkedip.</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Realtime</a:t>
            </a:r>
            <a:endParaRPr lang="en-US" sz="1600" dirty="0"/>
          </a:p>
        </p:txBody>
      </p:sp>
      <p:sp>
        <p:nvSpPr>
          <p:cNvPr id="11" name="Text 9"/>
          <p:cNvSpPr/>
          <p:nvPr/>
        </p:nvSpPr>
        <p:spPr>
          <a:xfrm>
            <a:off x="812800" y="485080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Perubahan pengguna lain tampil tanpa memuat ulang.</a:t>
            </a:r>
            <a:endParaRPr lang="en-US" sz="1200" dirty="0"/>
          </a:p>
        </p:txBody>
      </p:sp>
      <p:pic>
        <p:nvPicPr>
          <p:cNvPr id="12" name="Image 0" descr="Pusat Operasi dengan pita rekap, indeks keandalan, dan peta nyala padam"/>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7662"/>
            <a:ext cx="18994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PENYULANG</a:t>
            </a:r>
            <a:endParaRPr lang="en-US" sz="1200" dirty="0"/>
          </a:p>
        </p:txBody>
      </p:sp>
      <p:sp>
        <p:nvSpPr>
          <p:cNvPr id="3" name="Text 1"/>
          <p:cNvSpPr/>
          <p:nvPr/>
        </p:nvSpPr>
        <p:spPr>
          <a:xfrm>
            <a:off x="2712244" y="804962"/>
            <a:ext cx="513556" cy="238720"/>
          </a:xfrm>
          <a:custGeom>
            <a:avLst/>
            <a:gdLst/>
            <a:ahLst/>
            <a:cxnLst/>
            <a:rect l="l" t="t" r="r" b="b"/>
            <a:pathLst>
              <a:path w="513556" h="238720">
                <a:moveTo>
                  <a:pt x="119360" y="0"/>
                </a:moveTo>
                <a:lnTo>
                  <a:pt x="394196" y="0"/>
                </a:lnTo>
                <a:arcTo wR="119360" hR="119360" stAng="16200000" swAng="5400000"/>
                <a:lnTo>
                  <a:pt x="513556" y="119360"/>
                </a:lnTo>
                <a:arcTo wR="119360" hR="119360" stAng="0" swAng="5400000"/>
                <a:lnTo>
                  <a:pt x="119360" y="238720"/>
                </a:lnTo>
                <a:arcTo wR="119360" hR="119360" stAng="5400000" swAng="5400000"/>
                <a:lnTo>
                  <a:pt x="0" y="119360"/>
                </a:lnTo>
                <a:arcTo wR="119360" hR="119360" stAng="10800000" swAng="5400000"/>
                <a:close/>
              </a:path>
            </a:pathLst>
          </a:custGeom>
          <a:solidFill>
            <a:srgbClr val="F2A93B"/>
          </a:solidFill>
          <a:ln/>
        </p:spPr>
        <p:txBody>
          <a:bodyPr wrap="none" lIns="0" tIns="0" rIns="0" bIns="0" rtlCol="0" anchor="ctr">
            <a:normAutofit/>
          </a:bodyPr>
          <a:lstStyle/>
          <a:p>
            <a:pPr marL="0" indent="0" algn="ctr">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Baru</a:t>
            </a:r>
            <a:endParaRPr lang="en-US" sz="1200" dirty="0"/>
          </a:p>
        </p:txBody>
      </p:sp>
      <p:sp>
        <p:nvSpPr>
          <p:cNvPr id="4" name="Text 2"/>
          <p:cNvSpPr>
            <a:spLocks noGrp="1"/>
          </p:cNvSpPr>
          <p:nvPr>
            <p:ph type="title"/>
          </p:nvPr>
        </p:nvSpPr>
        <p:spPr>
          <a:xfrm>
            <a:off x="812800" y="1112044"/>
            <a:ext cx="11379200" cy="965200"/>
          </a:xfrm>
          <a:prstGeom prst="rect">
            <a:avLst/>
          </a:prstGeom>
          <a:noFill/>
          <a:ln/>
        </p:spPr>
        <p:txBody>
          <a:bodyPr wrap="square" lIns="0" tIns="0" rIns="0" bIns="0" rtlCol="0" anchor="t">
            <a:normAutofit/>
          </a:bodyPr>
          <a:lstStyle/>
          <a:p>
            <a:pPr marL="0" indent="0" algn="l">
              <a:lnSpc>
                <a:spcPts val="3911"/>
              </a:lnSpc>
              <a:buNone/>
            </a:pPr>
            <a:r>
              <a:rPr lang="en-US" sz="3555" b="1" i="0" dirty="0">
                <a:solidFill>
                  <a:srgbClr val="0E1A2B"/>
                </a:solidFill>
                <a:latin typeface="Space Grotesk" pitchFamily="34" charset="0"/>
                <a:ea typeface="Space Grotesk" pitchFamily="34" charset="-122"/>
                <a:cs typeface="Space Grotesk" pitchFamily="34" charset="-120"/>
              </a:rPr>
              <a:t>Setiap penyulang terlihat, juga saat dilimpahkan</a:t>
            </a:r>
            <a:endParaRPr lang="en-US" sz="3555" dirty="0"/>
          </a:p>
        </p:txBody>
      </p:sp>
      <p:sp>
        <p:nvSpPr>
          <p:cNvPr id="5" name="Text 3"/>
          <p:cNvSpPr/>
          <p:nvPr/>
        </p:nvSpPr>
        <p:spPr>
          <a:xfrm>
            <a:off x="812800" y="235664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Warna per penyulang</a:t>
            </a:r>
            <a:endParaRPr lang="en-US" sz="1600" dirty="0"/>
          </a:p>
        </p:txBody>
      </p:sp>
      <p:sp>
        <p:nvSpPr>
          <p:cNvPr id="6" name="Text 4"/>
          <p:cNvSpPr/>
          <p:nvPr/>
        </p:nvSpPr>
        <p:spPr>
          <a:xfrm>
            <a:off x="812800" y="263852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Penyulang bertetangga selalu berbeda warna; legenda klik untuk menyorot.</a:t>
            </a:r>
            <a:endParaRPr lang="en-US" sz="1200" dirty="0"/>
          </a:p>
        </p:txBody>
      </p:sp>
      <p:sp>
        <p:nvSpPr>
          <p:cNvPr id="7" name="Text 5"/>
          <p:cNvSpPr/>
          <p:nvPr/>
        </p:nvSpPr>
        <p:spPr>
          <a:xfrm>
            <a:off x="812800" y="3242965"/>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Normal / Aktual</a:t>
            </a:r>
            <a:endParaRPr lang="en-US" sz="1600" dirty="0"/>
          </a:p>
        </p:txBody>
      </p:sp>
      <p:sp>
        <p:nvSpPr>
          <p:cNvPr id="8" name="Text 6"/>
          <p:cNvSpPr/>
          <p:nvPr/>
        </p:nvSpPr>
        <p:spPr>
          <a:xfrm>
            <a:off x="812800" y="352484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Normal mengikuti posisi normal switch; Aktual mengikuti suplai saat ini.</a:t>
            </a:r>
            <a:endParaRPr lang="en-US" sz="1200" dirty="0"/>
          </a:p>
        </p:txBody>
      </p:sp>
      <p:sp>
        <p:nvSpPr>
          <p:cNvPr id="9" name="Text 7"/>
          <p:cNvSpPr/>
          <p:nvPr/>
        </p:nvSpPr>
        <p:spPr>
          <a:xfrm>
            <a:off x="812800" y="4129286"/>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Penanda paralel</a:t>
            </a:r>
            <a:endParaRPr lang="en-US" sz="1600" dirty="0"/>
          </a:p>
        </p:txBody>
      </p:sp>
      <p:sp>
        <p:nvSpPr>
          <p:cNvPr id="10" name="Text 8"/>
          <p:cNvSpPr/>
          <p:nvPr/>
        </p:nvSpPr>
        <p:spPr>
          <a:xfrm>
            <a:off x="812800" y="4411166"/>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Tie tertutup antardua penyulang ditandai, plus spanduk dan notifikasi.</a:t>
            </a:r>
            <a:endParaRPr lang="en-US" sz="1200" dirty="0"/>
          </a:p>
        </p:txBody>
      </p:sp>
      <p:sp>
        <p:nvSpPr>
          <p:cNvPr id="11" name="Text 9"/>
          <p:cNvSpPr/>
          <p:nvPr/>
        </p:nvSpPr>
        <p:spPr>
          <a:xfrm>
            <a:off x="812800" y="5015607"/>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Filter penyulang</a:t>
            </a:r>
            <a:endParaRPr lang="en-US" sz="1600" dirty="0"/>
          </a:p>
        </p:txBody>
      </p:sp>
      <p:sp>
        <p:nvSpPr>
          <p:cNvPr id="12" name="Text 10"/>
          <p:cNvSpPr/>
          <p:nvPr/>
        </p:nvSpPr>
        <p:spPr>
          <a:xfrm>
            <a:off x="812800" y="5297488"/>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Tampilkan penyulang pilihan, dari kubikel outgoing sampai pelanggan.</a:t>
            </a:r>
            <a:endParaRPr lang="en-US" sz="1200" dirty="0"/>
          </a:p>
        </p:txBody>
      </p:sp>
      <p:pic>
        <p:nvPicPr>
          <p:cNvPr id="13" name="Image 0" descr="Pusat Operasi dengan warna per penyulang, legenda Aktual, dan penanda paralel KBK-GMB-03 dan KBK-GMB-05 di LBS3-GMB-03-07"/>
          <p:cNvPicPr>
            <a:picLocks noChangeAspect="1"/>
          </p:cNvPicPr>
          <p:nvPr/>
        </p:nvPicPr>
        <p:blipFill>
          <a:blip r:embed="rId3"/>
          <a:srcRect t="75" b="75"/>
          <a:stretch/>
        </p:blipFill>
        <p:spPr>
          <a:xfrm>
            <a:off x="4781550" y="2362994"/>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4" name="Shape 11"/>
          <p:cNvSpPr/>
          <p:nvPr/>
        </p:nvSpPr>
        <p:spPr>
          <a:xfrm>
            <a:off x="4778375" y="2359819"/>
            <a:ext cx="6597650" cy="3708400"/>
          </a:xfrm>
          <a:prstGeom prst="roundRect">
            <a:avLst>
              <a:gd name="adj" fmla="val 2654"/>
            </a:avLst>
          </a:prstGeom>
          <a:noFill/>
          <a:ln w="6350">
            <a:solidFill>
              <a:srgbClr val="D8DDE3"/>
            </a:solidFill>
            <a:prstDash val="solid"/>
          </a:ln>
        </p:spPr>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19 · Juga di Peta Jaringan dan SLD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OPERASI JARINGAN</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Manuver aman, sesuai hak akses</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Satu pintu operasi</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Buka/tutup dan energize hanya dari Pusat Operasi dan SLD.</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Kategori wajib</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Gangguan, pemeliharaan, MLS, manuver, bencana alam.</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Izin per peran</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Switch dan energize dibedakan TM dan TR, dicek di server.</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Identitas operator</a:t>
            </a:r>
            <a:endParaRPr lang="en-US" sz="1600" dirty="0"/>
          </a:p>
        </p:txBody>
      </p:sp>
      <p:sp>
        <p:nvSpPr>
          <p:cNvPr id="11" name="Text 9"/>
          <p:cNvSpPr/>
          <p:nvPr/>
        </p:nvSpPr>
        <p:spPr>
          <a:xfrm>
            <a:off x="812800" y="485080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Nama, peran, kanal (web, ponsel, SLD), dan alamat IP.</a:t>
            </a:r>
            <a:endParaRPr lang="en-US" sz="1200" dirty="0"/>
          </a:p>
        </p:txBody>
      </p:sp>
      <p:pic>
        <p:nvPicPr>
          <p:cNvPr id="12" name="Image 0" descr="Popup objek di Pusat Operasi dengan rekap hilir dan kotak operasi"/>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PENANGANAN GANGGUAN</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Dari isolasi gangguan sampai pemulihan</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FLISR</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Isolasi seksi gangguan, pulihkan hulu dan hilir lewat tie.</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Rencana manuver</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Simulasi dampak, persetujuan, lalu eksekusi bertahap.</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Laporan gangguan</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Dari pelanggan, petugas lapangan, atau operator; pantau SLA.</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AI operasi</a:t>
            </a:r>
            <a:endParaRPr lang="en-US" sz="1600" dirty="0"/>
          </a:p>
        </p:txBody>
      </p:sp>
      <p:sp>
        <p:nvSpPr>
          <p:cNvPr id="11" name="Text 9"/>
          <p:cNvSpPr/>
          <p:nvPr/>
        </p:nvSpPr>
        <p:spPr>
          <a:xfrm>
            <a:off x="812800" y="485080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Ringkasan gangguan, laporan shift, dan saran pemulihan.</a:t>
            </a:r>
            <a:endParaRPr lang="en-US" sz="1200" dirty="0"/>
          </a:p>
        </p:txBody>
      </p:sp>
      <p:pic>
        <p:nvPicPr>
          <p:cNvPr id="12" name="Image 0" descr="Tab FLISR di Pusat Operasi dengan langkah isolasi dan pemulih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21 · Hak akses: power.plan · report.manage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SEQUENCE OF EVENTS</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Setiap kejadian tercatat sampai milidetik</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Kronologis realtime</a:t>
            </a:r>
            <a:endParaRPr lang="en-US" sz="1600" dirty="0"/>
          </a:p>
        </p:txBody>
      </p:sp>
      <p:sp>
        <p:nvSpPr>
          <p:cNvPr id="5" name="Text 3"/>
          <p:cNvSpPr/>
          <p:nvPr/>
        </p:nvSpPr>
        <p:spPr>
          <a:xfrm>
            <a:off x="812800" y="2191841"/>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Buka/tutup, pemutusan, padam mulai dan selesai.</a:t>
            </a:r>
            <a:endParaRPr lang="en-US" sz="1200" dirty="0"/>
          </a:p>
        </p:txBody>
      </p:sp>
      <p:sp>
        <p:nvSpPr>
          <p:cNvPr id="6" name="Text 4"/>
          <p:cNvSpPr/>
          <p:nvPr/>
        </p:nvSpPr>
        <p:spPr>
          <a:xfrm>
            <a:off x="812800" y="258296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Tingkat keparahan</a:t>
            </a:r>
            <a:endParaRPr lang="en-US" sz="1600" dirty="0"/>
          </a:p>
        </p:txBody>
      </p:sp>
      <p:sp>
        <p:nvSpPr>
          <p:cNvPr id="7" name="Text 5"/>
          <p:cNvSpPr/>
          <p:nvPr/>
        </p:nvSpPr>
        <p:spPr>
          <a:xfrm>
            <a:off x="812800" y="2864842"/>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Normal, peringatan, serius, kritis, dengan ikon dan teks.</a:t>
            </a:r>
            <a:endParaRPr lang="en-US" sz="1200" dirty="0"/>
          </a:p>
        </p:txBody>
      </p:sp>
      <p:sp>
        <p:nvSpPr>
          <p:cNvPr id="8" name="Text 6"/>
          <p:cNvSpPr/>
          <p:nvPr/>
        </p:nvSpPr>
        <p:spPr>
          <a:xfrm>
            <a:off x="812800" y="34692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Identitas operator</a:t>
            </a:r>
            <a:endParaRPr lang="en-US" sz="1600" dirty="0"/>
          </a:p>
        </p:txBody>
      </p:sp>
      <p:sp>
        <p:nvSpPr>
          <p:cNvPr id="9" name="Text 7"/>
          <p:cNvSpPr/>
          <p:nvPr/>
        </p:nvSpPr>
        <p:spPr>
          <a:xfrm>
            <a:off x="812800" y="3751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Nama, username, peran, kanal, dan alamat IP.</a:t>
            </a:r>
            <a:endParaRPr lang="en-US" sz="1200" dirty="0"/>
          </a:p>
        </p:txBody>
      </p:sp>
      <p:sp>
        <p:nvSpPr>
          <p:cNvPr id="10" name="Text 8"/>
          <p:cNvSpPr/>
          <p:nvPr/>
        </p:nvSpPr>
        <p:spPr>
          <a:xfrm>
            <a:off x="812800" y="414228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Siap audit</a:t>
            </a:r>
            <a:endParaRPr lang="en-US" sz="1600" dirty="0"/>
          </a:p>
        </p:txBody>
      </p:sp>
      <p:sp>
        <p:nvSpPr>
          <p:cNvPr id="11" name="Text 9"/>
          <p:cNvSpPr/>
          <p:nvPr/>
        </p:nvSpPr>
        <p:spPr>
          <a:xfrm>
            <a:off x="812800" y="442416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Filter per operator, alarm suara, ekspor CSV.</a:t>
            </a:r>
            <a:endParaRPr lang="en-US" sz="1200" dirty="0"/>
          </a:p>
        </p:txBody>
      </p:sp>
      <p:pic>
        <p:nvPicPr>
          <p:cNvPr id="12" name="Image 0" descr="Tab SOE dengan daftar event berwarna menurut keparahan dan kolom operator"/>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KEANDALAN</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SAIDI, SAIFI, ENS langsung dari operasi</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SAIDI</a:t>
            </a:r>
            <a:endParaRPr lang="en-US" sz="1600" dirty="0"/>
          </a:p>
        </p:txBody>
      </p:sp>
      <p:sp>
        <p:nvSpPr>
          <p:cNvPr id="5" name="Text 3"/>
          <p:cNvSpPr/>
          <p:nvPr/>
        </p:nvSpPr>
        <p:spPr>
          <a:xfrm>
            <a:off x="812800" y="2191841"/>
            <a:ext cx="396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Σ(pelanggan padam × menit) ÷ pelanggan dilayani.</a:t>
            </a:r>
            <a:endParaRPr lang="en-US" sz="1200" dirty="0"/>
          </a:p>
        </p:txBody>
      </p:sp>
      <p:sp>
        <p:nvSpPr>
          <p:cNvPr id="6" name="Text 4"/>
          <p:cNvSpPr/>
          <p:nvPr/>
        </p:nvSpPr>
        <p:spPr>
          <a:xfrm>
            <a:off x="812800" y="258296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SAIFI</a:t>
            </a:r>
            <a:endParaRPr lang="en-US" sz="1600" dirty="0"/>
          </a:p>
        </p:txBody>
      </p:sp>
      <p:sp>
        <p:nvSpPr>
          <p:cNvPr id="7" name="Text 5"/>
          <p:cNvSpPr/>
          <p:nvPr/>
        </p:nvSpPr>
        <p:spPr>
          <a:xfrm>
            <a:off x="812800" y="2864842"/>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Σ pelanggan padam ÷ pelanggan dilayani.</a:t>
            </a:r>
            <a:endParaRPr lang="en-US" sz="1200" dirty="0"/>
          </a:p>
        </p:txBody>
      </p:sp>
      <p:sp>
        <p:nvSpPr>
          <p:cNvPr id="8" name="Text 6"/>
          <p:cNvSpPr/>
          <p:nvPr/>
        </p:nvSpPr>
        <p:spPr>
          <a:xfrm>
            <a:off x="812800" y="325596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ENS kWh &amp; Rupiah</a:t>
            </a:r>
            <a:endParaRPr lang="en-US" sz="1600" dirty="0"/>
          </a:p>
        </p:txBody>
      </p:sp>
      <p:sp>
        <p:nvSpPr>
          <p:cNvPr id="9" name="Text 7"/>
          <p:cNvSpPr/>
          <p:nvPr/>
        </p:nvSpPr>
        <p:spPr>
          <a:xfrm>
            <a:off x="812800" y="353784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Beban padam (kontrak atau alokasi penyulang) × durasi × tarif.</a:t>
            </a:r>
            <a:endParaRPr lang="en-US" sz="1200" dirty="0"/>
          </a:p>
        </p:txBody>
      </p:sp>
      <p:sp>
        <p:nvSpPr>
          <p:cNvPr id="10" name="Text 8"/>
          <p:cNvSpPr/>
          <p:nvPr/>
        </p:nvSpPr>
        <p:spPr>
          <a:xfrm>
            <a:off x="812800" y="414228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Per wilayah</a:t>
            </a:r>
            <a:endParaRPr lang="en-US" sz="1600" dirty="0"/>
          </a:p>
        </p:txBody>
      </p:sp>
      <p:sp>
        <p:nvSpPr>
          <p:cNvPr id="11" name="Text 9"/>
          <p:cNvSpPr/>
          <p:nvPr/>
        </p:nvSpPr>
        <p:spPr>
          <a:xfrm>
            <a:off x="812800" y="4424164"/>
            <a:ext cx="396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Peringkat UP3 dan ULP di peta Keandalan Wilayah.</a:t>
            </a:r>
            <a:endParaRPr lang="en-US" sz="1200" dirty="0"/>
          </a:p>
        </p:txBody>
      </p:sp>
      <p:pic>
        <p:nvPicPr>
          <p:cNvPr id="12" name="Image 0" descr="Keandalan Wilayah: peta UP3 menurut SAIDI dan tabel peringkat"/>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25500"/>
            <a:ext cx="20920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93B"/>
                </a:solidFill>
                <a:latin typeface="IBM Plex Sans" pitchFamily="34" charset="0"/>
                <a:ea typeface="IBM Plex Sans" pitchFamily="34" charset="-122"/>
                <a:cs typeface="IBM Plex Sans" pitchFamily="34" charset="-120"/>
              </a:rPr>
              <a:t>FITUR · BEBAN PADAM</a:t>
            </a:r>
            <a:endParaRPr lang="en-US" sz="1200" dirty="0"/>
          </a:p>
        </p:txBody>
      </p:sp>
      <p:sp>
        <p:nvSpPr>
          <p:cNvPr id="3" name="Text 1"/>
          <p:cNvSpPr/>
          <p:nvPr/>
        </p:nvSpPr>
        <p:spPr>
          <a:xfrm>
            <a:off x="2904827" y="812800"/>
            <a:ext cx="513556" cy="238720"/>
          </a:xfrm>
          <a:custGeom>
            <a:avLst/>
            <a:gdLst/>
            <a:ahLst/>
            <a:cxnLst/>
            <a:rect l="l" t="t" r="r" b="b"/>
            <a:pathLst>
              <a:path w="513556" h="238720">
                <a:moveTo>
                  <a:pt x="119360" y="0"/>
                </a:moveTo>
                <a:lnTo>
                  <a:pt x="394196" y="0"/>
                </a:lnTo>
                <a:arcTo wR="119360" hR="119360" stAng="16200000" swAng="5400000"/>
                <a:lnTo>
                  <a:pt x="513556" y="119360"/>
                </a:lnTo>
                <a:arcTo wR="119360" hR="119360" stAng="0" swAng="5400000"/>
                <a:lnTo>
                  <a:pt x="119360" y="238720"/>
                </a:lnTo>
                <a:arcTo wR="119360" hR="119360" stAng="5400000" swAng="5400000"/>
                <a:lnTo>
                  <a:pt x="0" y="119360"/>
                </a:lnTo>
                <a:arcTo wR="119360" hR="119360" stAng="10800000" swAng="5400000"/>
                <a:close/>
              </a:path>
            </a:pathLst>
          </a:custGeom>
          <a:solidFill>
            <a:srgbClr val="F2A93B"/>
          </a:solidFill>
          <a:ln/>
        </p:spPr>
        <p:txBody>
          <a:bodyPr wrap="none" lIns="0" tIns="0" rIns="0" bIns="0" rtlCol="0" anchor="ctr">
            <a:normAutofit/>
          </a:bodyPr>
          <a:lstStyle/>
          <a:p>
            <a:pPr marL="0" indent="0" algn="ctr">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Baru</a:t>
            </a:r>
            <a:endParaRPr lang="en-US" sz="1200" dirty="0"/>
          </a:p>
        </p:txBody>
      </p:sp>
      <p:sp>
        <p:nvSpPr>
          <p:cNvPr id="4" name="Text 2"/>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6F2"/>
                </a:solidFill>
                <a:latin typeface="Space Grotesk" pitchFamily="34" charset="0"/>
                <a:ea typeface="Space Grotesk" pitchFamily="34" charset="-122"/>
                <a:cs typeface="Space Grotesk" pitchFamily="34" charset="-120"/>
              </a:rPr>
              <a:t>Beban padam dihitung dari beban penyulang</a:t>
            </a:r>
            <a:endParaRPr lang="en-US" sz="3600" dirty="0"/>
          </a:p>
        </p:txBody>
      </p:sp>
      <p:sp>
        <p:nvSpPr>
          <p:cNvPr id="5" name="Shape 3"/>
          <p:cNvSpPr/>
          <p:nvPr/>
        </p:nvSpPr>
        <p:spPr>
          <a:xfrm>
            <a:off x="815975" y="1938536"/>
            <a:ext cx="10560050" cy="1936552"/>
          </a:xfrm>
          <a:prstGeom prst="roundRect">
            <a:avLst>
              <a:gd name="adj" fmla="val 5738"/>
            </a:avLst>
          </a:prstGeom>
          <a:solidFill>
            <a:srgbClr val="13233A"/>
          </a:solidFill>
          <a:ln w="6350">
            <a:solidFill>
              <a:srgbClr val="2B4A73"/>
            </a:solidFill>
            <a:prstDash val="solid"/>
          </a:ln>
        </p:spPr>
      </p:sp>
      <p:sp>
        <p:nvSpPr>
          <p:cNvPr id="6" name="Text 4"/>
          <p:cNvSpPr/>
          <p:nvPr/>
        </p:nvSpPr>
        <p:spPr>
          <a:xfrm>
            <a:off x="1123950" y="2195711"/>
            <a:ext cx="1024242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C074"/>
                </a:solidFill>
                <a:latin typeface="IBM Plex Sans" pitchFamily="34" charset="0"/>
                <a:ea typeface="IBM Plex Sans" pitchFamily="34" charset="-122"/>
                <a:cs typeface="IBM Plex Sans" pitchFamily="34" charset="-120"/>
              </a:rPr>
              <a:t>BEBAN PELANGGAN PADAM</a:t>
            </a:r>
            <a:endParaRPr lang="en-US" sz="1200" dirty="0"/>
          </a:p>
        </p:txBody>
      </p:sp>
      <p:sp>
        <p:nvSpPr>
          <p:cNvPr id="7" name="Text 5"/>
          <p:cNvSpPr/>
          <p:nvPr/>
        </p:nvSpPr>
        <p:spPr>
          <a:xfrm>
            <a:off x="1123950" y="2510631"/>
            <a:ext cx="10242423" cy="817761"/>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F5F6F2"/>
                </a:solidFill>
                <a:latin typeface="Space Grotesk" pitchFamily="34" charset="0"/>
                <a:ea typeface="Space Grotesk" pitchFamily="34" charset="-122"/>
                <a:cs typeface="Space Grotesk" pitchFamily="34" charset="-120"/>
              </a:rPr>
              <a:t>= kapasitas terpasang ÷ Σ kapasitas terpasang penyulang × beban penyulang</a:t>
            </a:r>
            <a:endParaRPr lang="en-US" sz="2400" dirty="0"/>
          </a:p>
        </p:txBody>
      </p:sp>
      <p:sp>
        <p:nvSpPr>
          <p:cNvPr id="8" name="Text 6"/>
          <p:cNvSpPr/>
          <p:nvPr/>
        </p:nvSpPr>
        <p:spPr>
          <a:xfrm>
            <a:off x="1123950" y="3404592"/>
            <a:ext cx="102424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DA"/>
                </a:solidFill>
                <a:latin typeface="IBM Plex Sans" pitchFamily="34" charset="0"/>
                <a:ea typeface="IBM Plex Sans" pitchFamily="34" charset="-122"/>
                <a:cs typeface="IBM Plex Sans" pitchFamily="34" charset="-120"/>
              </a:rPr>
              <a:t>Contoh (data simulasi): 1.028 kVA ÷ 1.642 kVA × 0,50 MVA ≈ 312 kVA, bukan 1.028 kVA.</a:t>
            </a:r>
            <a:endParaRPr lang="en-US" sz="1200" dirty="0"/>
          </a:p>
        </p:txBody>
      </p:sp>
      <p:sp>
        <p:nvSpPr>
          <p:cNvPr id="9" name="Shape 7"/>
          <p:cNvSpPr/>
          <p:nvPr/>
        </p:nvSpPr>
        <p:spPr>
          <a:xfrm>
            <a:off x="815975" y="4186238"/>
            <a:ext cx="3397250" cy="1210171"/>
          </a:xfrm>
          <a:prstGeom prst="roundRect">
            <a:avLst>
              <a:gd name="adj" fmla="val 9183"/>
            </a:avLst>
          </a:prstGeom>
          <a:solidFill>
            <a:srgbClr val="13233A"/>
          </a:solidFill>
          <a:ln w="6350">
            <a:solidFill>
              <a:srgbClr val="2B4A73"/>
            </a:solidFill>
            <a:prstDash val="solid"/>
          </a:ln>
        </p:spPr>
      </p:sp>
      <p:sp>
        <p:nvSpPr>
          <p:cNvPr id="10" name="Text 8"/>
          <p:cNvSpPr/>
          <p:nvPr/>
        </p:nvSpPr>
        <p:spPr>
          <a:xfrm>
            <a:off x="1047750" y="4418013"/>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Diukur sebelum padam</a:t>
            </a:r>
            <a:endParaRPr lang="en-US" sz="1600" dirty="0"/>
          </a:p>
        </p:txBody>
      </p:sp>
      <p:sp>
        <p:nvSpPr>
          <p:cNvPr id="11" name="Text 9"/>
          <p:cNvSpPr/>
          <p:nvPr/>
        </p:nvSpPr>
        <p:spPr>
          <a:xfrm>
            <a:off x="1047750" y="473799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DA"/>
                </a:solidFill>
                <a:latin typeface="IBM Plex Sans" pitchFamily="34" charset="0"/>
                <a:ea typeface="IBM Plex Sans" pitchFamily="34" charset="-122"/>
                <a:cs typeface="IBM Plex Sans" pitchFamily="34" charset="-120"/>
              </a:rPr>
              <a:t>Data SCADA 30 menit terakhir; tanpa data, profil beban lalu estimasi.</a:t>
            </a:r>
            <a:endParaRPr lang="en-US" sz="1200" dirty="0"/>
          </a:p>
        </p:txBody>
      </p:sp>
      <p:sp>
        <p:nvSpPr>
          <p:cNvPr id="12" name="Shape 10"/>
          <p:cNvSpPr/>
          <p:nvPr/>
        </p:nvSpPr>
        <p:spPr>
          <a:xfrm>
            <a:off x="4397375" y="4186238"/>
            <a:ext cx="3397250" cy="1210171"/>
          </a:xfrm>
          <a:prstGeom prst="roundRect">
            <a:avLst>
              <a:gd name="adj" fmla="val 9183"/>
            </a:avLst>
          </a:prstGeom>
          <a:solidFill>
            <a:srgbClr val="13233A"/>
          </a:solidFill>
          <a:ln w="6350">
            <a:solidFill>
              <a:srgbClr val="2B4A73"/>
            </a:solidFill>
            <a:prstDash val="solid"/>
          </a:ln>
        </p:spPr>
      </p:sp>
      <p:sp>
        <p:nvSpPr>
          <p:cNvPr id="13" name="Text 11"/>
          <p:cNvSpPr/>
          <p:nvPr/>
        </p:nvSpPr>
        <p:spPr>
          <a:xfrm>
            <a:off x="4629150" y="4418013"/>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Dibekukan per kejadian</a:t>
            </a:r>
            <a:endParaRPr lang="en-US" sz="1600" dirty="0"/>
          </a:p>
        </p:txBody>
      </p:sp>
      <p:sp>
        <p:nvSpPr>
          <p:cNvPr id="14" name="Text 12"/>
          <p:cNvSpPr/>
          <p:nvPr/>
        </p:nvSpPr>
        <p:spPr>
          <a:xfrm>
            <a:off x="4629150" y="473799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DA"/>
                </a:solidFill>
                <a:latin typeface="IBM Plex Sans" pitchFamily="34" charset="0"/>
                <a:ea typeface="IBM Plex Sans" pitchFamily="34" charset="-122"/>
                <a:cs typeface="IBM Plex Sans" pitchFamily="34" charset="-120"/>
              </a:rPr>
              <a:t>Beban padam tidak berubah selama kejadian berlangsung.</a:t>
            </a:r>
            <a:endParaRPr lang="en-US" sz="1200" dirty="0"/>
          </a:p>
        </p:txBody>
      </p:sp>
      <p:sp>
        <p:nvSpPr>
          <p:cNvPr id="15" name="Shape 13"/>
          <p:cNvSpPr/>
          <p:nvPr/>
        </p:nvSpPr>
        <p:spPr>
          <a:xfrm>
            <a:off x="7978775" y="4186238"/>
            <a:ext cx="3397250" cy="1210171"/>
          </a:xfrm>
          <a:prstGeom prst="roundRect">
            <a:avLst>
              <a:gd name="adj" fmla="val 9183"/>
            </a:avLst>
          </a:prstGeom>
          <a:solidFill>
            <a:srgbClr val="13233A"/>
          </a:solidFill>
          <a:ln w="6350">
            <a:solidFill>
              <a:srgbClr val="2B4A73"/>
            </a:solidFill>
            <a:prstDash val="solid"/>
          </a:ln>
        </p:spPr>
      </p:sp>
      <p:sp>
        <p:nvSpPr>
          <p:cNvPr id="16" name="Text 14"/>
          <p:cNvSpPr/>
          <p:nvPr/>
        </p:nvSpPr>
        <p:spPr>
          <a:xfrm>
            <a:off x="8210550" y="4418013"/>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ENS lebih realistis</a:t>
            </a:r>
            <a:endParaRPr lang="en-US" sz="1600" dirty="0"/>
          </a:p>
        </p:txBody>
      </p:sp>
      <p:sp>
        <p:nvSpPr>
          <p:cNvPr id="17" name="Text 15"/>
          <p:cNvSpPr/>
          <p:nvPr/>
        </p:nvSpPr>
        <p:spPr>
          <a:xfrm>
            <a:off x="8210550" y="473799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DA"/>
                </a:solidFill>
                <a:latin typeface="IBM Plex Sans" pitchFamily="34" charset="0"/>
                <a:ea typeface="IBM Plex Sans" pitchFamily="34" charset="-122"/>
                <a:cs typeface="IBM Plex Sans" pitchFamily="34" charset="-120"/>
              </a:rPr>
              <a:t>ENS = beban teralokasi × durasi padam × tarif.</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A"/>
                </a:solidFill>
                <a:latin typeface="IBM Plex Sans" pitchFamily="34" charset="0"/>
                <a:ea typeface="IBM Plex Sans" pitchFamily="34" charset="-122"/>
                <a:cs typeface="IBM Plex Sans" pitchFamily="34" charset="-120"/>
              </a:rPr>
              <a:t>QuadranGIS · 24 · Pilihan di Konfigurasi: kapasitas terpasang (kontrak) atau alokasi penyulang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DASHBOARD › KEANDALAN &amp; OPERASI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Keandalan dan operasi untuk manajemen</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KPI vs target</a:t>
            </a:r>
            <a:endParaRPr lang="en-US" sz="1600" dirty="0"/>
          </a:p>
        </p:txBody>
      </p:sp>
      <p:sp>
        <p:nvSpPr>
          <p:cNvPr id="5" name="Text 3"/>
          <p:cNvSpPr/>
          <p:nvPr/>
        </p:nvSpPr>
        <p:spPr>
          <a:xfrm>
            <a:off x="812800" y="2191841"/>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SAIDI, SAIFI, ENS, kejadian, dan SLA laporan.</a:t>
            </a:r>
            <a:endParaRPr lang="en-US" sz="1200" dirty="0"/>
          </a:p>
        </p:txBody>
      </p:sp>
      <p:sp>
        <p:nvSpPr>
          <p:cNvPr id="6" name="Text 4"/>
          <p:cNvSpPr/>
          <p:nvPr/>
        </p:nvSpPr>
        <p:spPr>
          <a:xfrm>
            <a:off x="812800" y="258296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Tren &amp; peringkat</a:t>
            </a:r>
            <a:endParaRPr lang="en-US" sz="1600" dirty="0"/>
          </a:p>
        </p:txBody>
      </p:sp>
      <p:sp>
        <p:nvSpPr>
          <p:cNvPr id="7" name="Text 5"/>
          <p:cNvSpPr/>
          <p:nvPr/>
        </p:nvSpPr>
        <p:spPr>
          <a:xfrm>
            <a:off x="812800" y="2864842"/>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Tren SAIDI 12 bulan, ULP dengan SAIDI tertinggi.</a:t>
            </a:r>
            <a:endParaRPr lang="en-US" sz="1200" dirty="0"/>
          </a:p>
        </p:txBody>
      </p:sp>
      <p:sp>
        <p:nvSpPr>
          <p:cNvPr id="8" name="Text 6"/>
          <p:cNvSpPr/>
          <p:nvPr/>
        </p:nvSpPr>
        <p:spPr>
          <a:xfrm>
            <a:off x="812800" y="325596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Laporan berkala</a:t>
            </a:r>
            <a:endParaRPr lang="en-US" sz="1600" dirty="0"/>
          </a:p>
        </p:txBody>
      </p:sp>
      <p:sp>
        <p:nvSpPr>
          <p:cNvPr id="9" name="Text 7"/>
          <p:cNvSpPr/>
          <p:nvPr/>
        </p:nvSpPr>
        <p:spPr>
          <a:xfrm>
            <a:off x="812800" y="353784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Harian sampai tahunan, otomatis; cetak PDF.</a:t>
            </a:r>
            <a:endParaRPr lang="en-US" sz="1200" dirty="0"/>
          </a:p>
        </p:txBody>
      </p:sp>
      <p:sp>
        <p:nvSpPr>
          <p:cNvPr id="10" name="Text 8"/>
          <p:cNvSpPr/>
          <p:nvPr/>
        </p:nvSpPr>
        <p:spPr>
          <a:xfrm>
            <a:off x="812800" y="392896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Ringkasan AI</a:t>
            </a:r>
            <a:endParaRPr lang="en-US" sz="1600" dirty="0"/>
          </a:p>
        </p:txBody>
      </p:sp>
      <p:sp>
        <p:nvSpPr>
          <p:cNvPr id="11" name="Text 9"/>
          <p:cNvSpPr/>
          <p:nvPr/>
        </p:nvSpPr>
        <p:spPr>
          <a:xfrm>
            <a:off x="812800" y="421084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Narasi laporan disusun AI dan dapat disunting.</a:t>
            </a:r>
            <a:endParaRPr lang="en-US" sz="1200" dirty="0"/>
          </a:p>
        </p:txBody>
      </p:sp>
      <p:pic>
        <p:nvPicPr>
          <p:cNvPr id="12" name="Image 0" descr="Halaman Keandalan dan Operasi dengan KPI periode, tren SAIDI, dan peringkat ULP"/>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25 · Hak akses: exec.view</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ANALISIS · BEBAN &amp; ENERGI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Load profile SCADA/AMR setiap 30 menit</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Besaran lengkap</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Arus dan tegangan per fasa, P/Q/S, pf, frekuensi, kWh/kvarh.</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Pembebanan MW</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Trafo GI, penyulang, dan gardu terhadap daya mampu.</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Harian–tahunan</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Kurva beban, peta panas, kurva lama beban, prakiraan.</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Anomali &amp; laporan</a:t>
            </a:r>
            <a:endParaRPr lang="en-US" sz="1600" dirty="0"/>
          </a:p>
        </p:txBody>
      </p:sp>
      <p:sp>
        <p:nvSpPr>
          <p:cNvPr id="11" name="Text 9"/>
          <p:cNvSpPr/>
          <p:nvPr/>
        </p:nvSpPr>
        <p:spPr>
          <a:xfrm>
            <a:off x="812800" y="485080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Data hilang atau macet, beban lebih; laporan otomatis.</a:t>
            </a:r>
            <a:endParaRPr lang="en-US" sz="1200" dirty="0"/>
          </a:p>
        </p:txBody>
      </p:sp>
      <p:pic>
        <p:nvPicPr>
          <p:cNvPr id="12" name="Image 0" descr="Ringkasan Analisa Beban dan Energi dengan titik ukur dan pembebanan tertinggi"/>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26 · Hak akses: load.view</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ANALISIS · SUSUT ENERGI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Neraca energi dari GI sampai pelanggan</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Rantai energi</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Trafo GI → penyulang → gardu, per sistem, UP3, dan GI.</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Susut distribusi</a:t>
            </a:r>
            <a:endParaRPr lang="en-US" sz="1600" dirty="0"/>
          </a:p>
        </p:txBody>
      </p:sp>
      <p:sp>
        <p:nvSpPr>
          <p:cNvPr id="7" name="Text 5"/>
          <p:cNvSpPr/>
          <p:nvPr/>
        </p:nvSpPr>
        <p:spPr>
          <a:xfrm>
            <a:off x="812800" y="3078163"/>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Selisih energi penyulang dan gardu (JTM + trafo).</a:t>
            </a:r>
            <a:endParaRPr lang="en-US" sz="1200" dirty="0"/>
          </a:p>
        </p:txBody>
      </p:sp>
      <p:sp>
        <p:nvSpPr>
          <p:cNvPr id="8" name="Text 6"/>
          <p:cNvSpPr/>
          <p:nvPr/>
        </p:nvSpPr>
        <p:spPr>
          <a:xfrm>
            <a:off x="812800" y="34692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Gardu → pelanggan</a:t>
            </a:r>
            <a:endParaRPr lang="en-US" sz="1600" dirty="0"/>
          </a:p>
        </p:txBody>
      </p:sp>
      <p:sp>
        <p:nvSpPr>
          <p:cNvPr id="9" name="Text 7"/>
          <p:cNvSpPr/>
          <p:nvPr/>
        </p:nvSpPr>
        <p:spPr>
          <a:xfrm>
            <a:off x="812800" y="3751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kWh tagihan bulanan (CSV/XLSX) dibanding energi AMR gardu.</a:t>
            </a:r>
            <a:endParaRPr lang="en-US" sz="1200" dirty="0"/>
          </a:p>
        </p:txBody>
      </p:sp>
      <p:sp>
        <p:nvSpPr>
          <p:cNvPr id="10" name="Text 8"/>
          <p:cNvSpPr/>
          <p:nvPr/>
        </p:nvSpPr>
        <p:spPr>
          <a:xfrm>
            <a:off x="812800" y="435560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Dekomposisi</a:t>
            </a:r>
            <a:endParaRPr lang="en-US" sz="1600" dirty="0"/>
          </a:p>
        </p:txBody>
      </p:sp>
      <p:sp>
        <p:nvSpPr>
          <p:cNvPr id="11" name="Text 9"/>
          <p:cNvSpPr/>
          <p:nvPr/>
        </p:nvSpPr>
        <p:spPr>
          <a:xfrm>
            <a:off x="812800" y="463748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Susut tetap, sebanding beban, dan kuadrat beban.</a:t>
            </a:r>
            <a:endParaRPr lang="en-US" sz="1200" dirty="0"/>
          </a:p>
        </p:txBody>
      </p:sp>
      <p:pic>
        <p:nvPicPr>
          <p:cNvPr id="12" name="Image 0" descr="Halaman Susut Energi dengan neraca energi dan tabel penyulang"/>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27 · Hak akses: load.view</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ANALISIS · SINGLE LINE DIAGRAM</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SLD dari GIS, tanpa menggambar ulang</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Lima cakupan</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Penyulang, GI, gardu distribusi, objek, atau area poligon.</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Empat tingkat detail</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Hanya TM sampai pelanggan; seksi disederhanakan otomatis.</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Manuver dari diagram</a:t>
            </a:r>
            <a:endParaRPr lang="en-US" sz="1600" dirty="0"/>
          </a:p>
        </p:txBody>
      </p:sp>
      <p:sp>
        <p:nvSpPr>
          <p:cNvPr id="9" name="Text 7"/>
          <p:cNvSpPr/>
          <p:nvPr/>
        </p:nvSpPr>
        <p:spPr>
          <a:xfrm>
            <a:off x="812800" y="396448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Warna berubah realtime, sinkron dengan peta.</a:t>
            </a:r>
            <a:endParaRPr lang="en-US" sz="1200" dirty="0"/>
          </a:p>
        </p:txBody>
      </p:sp>
      <p:sp>
        <p:nvSpPr>
          <p:cNvPr id="10" name="Text 8"/>
          <p:cNvSpPr/>
          <p:nvPr/>
        </p:nvSpPr>
        <p:spPr>
          <a:xfrm>
            <a:off x="812800" y="435560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Siap cetak</a:t>
            </a:r>
            <a:endParaRPr lang="en-US" sz="1600" dirty="0"/>
          </a:p>
        </p:txBody>
      </p:sp>
      <p:sp>
        <p:nvSpPr>
          <p:cNvPr id="11" name="Text 9"/>
          <p:cNvSpPr/>
          <p:nvPr/>
        </p:nvSpPr>
        <p:spPr>
          <a:xfrm>
            <a:off x="812800" y="4637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SVG, PNG, PDF A3 berkop; posisi manual tersimpan.</a:t>
            </a:r>
            <a:endParaRPr lang="en-US" sz="1200" dirty="0"/>
          </a:p>
        </p:txBody>
      </p:sp>
      <p:pic>
        <p:nvPicPr>
          <p:cNvPr id="12" name="Image 0" descr="Single Line Diagram penyulang dengan simbol IEC dan penanda kelanjut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ANALISIS · ALIRAN DAYA</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Tegangan dan pembebanan per penyulang</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Backward/forward sweep</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Tegangan tiap node (pu), arus, dan susut per penyulang.</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Skenario beban</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Faktor beban, cos φ, dan tegangan kirim dapat diubah.</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Penghantar &amp; trafo</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Peringkat penyulang kritis dan saluran paling terbebani.</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Kalibrasi SCADA</a:t>
            </a:r>
            <a:endParaRPr lang="en-US" sz="1600" dirty="0"/>
          </a:p>
        </p:txBody>
      </p:sp>
      <p:sp>
        <p:nvSpPr>
          <p:cNvPr id="11" name="Text 9"/>
          <p:cNvSpPr/>
          <p:nvPr/>
        </p:nvSpPr>
        <p:spPr>
          <a:xfrm>
            <a:off x="812800" y="4850805"/>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Beban simulasi disesuaikan dengan data terukur.</a:t>
            </a:r>
            <a:endParaRPr lang="en-US" sz="1200" dirty="0"/>
          </a:p>
        </p:txBody>
      </p:sp>
      <p:pic>
        <p:nvPicPr>
          <p:cNvPr id="12" name="Image 0" descr="Halaman Aliran Daya dengan skenario beban dan peta penyulang"/>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5822"/>
          </a:xfrm>
          <a:prstGeom prst="rect">
            <a:avLst/>
          </a:prstGeom>
          <a:noFill/>
          <a:ln/>
        </p:spPr>
        <p:txBody>
          <a:bodyPr wrap="square" lIns="0" tIns="0" rIns="0" bIns="0" rtlCol="0" anchor="t">
            <a:normAutofit/>
          </a:bodyPr>
          <a:lstStyle/>
          <a:p>
            <a:pPr marL="0" indent="0" algn="l">
              <a:lnSpc>
                <a:spcPts val="1622"/>
              </a:lnSpc>
              <a:buNone/>
            </a:pPr>
            <a:r>
              <a:rPr lang="en-US" sz="1159" b="1" kern="0" spc="150" dirty="0">
                <a:solidFill>
                  <a:srgbClr val="2563EB"/>
                </a:solidFill>
                <a:latin typeface="IBM Plex Sans" pitchFamily="34" charset="0"/>
                <a:ea typeface="IBM Plex Sans" pitchFamily="34" charset="-122"/>
                <a:cs typeface="IBM Plex Sans" pitchFamily="34" charset="-120"/>
              </a:rPr>
              <a:t>ANALISIS · WILAYAH &amp; PELANGGAN</a:t>
            </a:r>
            <a:endParaRPr lang="en-US" sz="1159" dirty="0"/>
          </a:p>
        </p:txBody>
      </p:sp>
      <p:sp>
        <p:nvSpPr>
          <p:cNvPr id="3" name="Text 1"/>
          <p:cNvSpPr>
            <a:spLocks noGrp="1"/>
          </p:cNvSpPr>
          <p:nvPr>
            <p:ph type="title"/>
          </p:nvPr>
        </p:nvSpPr>
        <p:spPr>
          <a:xfrm>
            <a:off x="812800" y="1089422"/>
            <a:ext cx="11379200" cy="970161"/>
          </a:xfrm>
          <a:prstGeom prst="rect">
            <a:avLst/>
          </a:prstGeom>
          <a:noFill/>
          <a:ln/>
        </p:spPr>
        <p:txBody>
          <a:bodyPr wrap="square" lIns="0" tIns="0" rIns="0" bIns="0" rtlCol="0" anchor="t">
            <a:normAutofit/>
          </a:bodyPr>
          <a:lstStyle/>
          <a:p>
            <a:pPr marL="0" indent="0" algn="l">
              <a:lnSpc>
                <a:spcPts val="3824"/>
              </a:lnSpc>
              <a:buNone/>
            </a:pPr>
            <a:r>
              <a:rPr lang="en-US" sz="3476" b="1" i="0" dirty="0">
                <a:solidFill>
                  <a:srgbClr val="0E1A2B"/>
                </a:solidFill>
                <a:latin typeface="Space Grotesk" pitchFamily="34" charset="0"/>
                <a:ea typeface="Space Grotesk" pitchFamily="34" charset="-122"/>
                <a:cs typeface="Space Grotesk" pitchFamily="34" charset="-120"/>
              </a:rPr>
              <a:t>Wilayah kerja dan pelanggan dalam satu tampilan</a:t>
            </a:r>
            <a:endParaRPr lang="en-US" sz="3476" dirty="0"/>
          </a:p>
        </p:txBody>
      </p:sp>
      <p:sp>
        <p:nvSpPr>
          <p:cNvPr id="4" name="Text 2"/>
          <p:cNvSpPr/>
          <p:nvPr/>
        </p:nvSpPr>
        <p:spPr>
          <a:xfrm>
            <a:off x="812800" y="233898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Batas UP3 &amp; ULP</a:t>
            </a:r>
            <a:endParaRPr lang="en-US" sz="1600" dirty="0"/>
          </a:p>
        </p:txBody>
      </p:sp>
      <p:sp>
        <p:nvSpPr>
          <p:cNvPr id="5" name="Text 3"/>
          <p:cNvSpPr/>
          <p:nvPr/>
        </p:nvSpPr>
        <p:spPr>
          <a:xfrm>
            <a:off x="812800" y="26208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Dari shapefile; warna berbeda, transparansi per pengguna.</a:t>
            </a:r>
            <a:endParaRPr lang="en-US" sz="1200" dirty="0"/>
          </a:p>
        </p:txBody>
      </p:sp>
      <p:sp>
        <p:nvSpPr>
          <p:cNvPr id="6" name="Text 4"/>
          <p:cNvSpPr/>
          <p:nvPr/>
        </p:nvSpPr>
        <p:spPr>
          <a:xfrm>
            <a:off x="812800" y="322530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Daftar pelanggan</a:t>
            </a:r>
            <a:endParaRPr lang="en-US" sz="1600" dirty="0"/>
          </a:p>
        </p:txBody>
      </p:sp>
      <p:sp>
        <p:nvSpPr>
          <p:cNvPr id="7" name="Text 5"/>
          <p:cNvSpPr/>
          <p:nvPr/>
        </p:nvSpPr>
        <p:spPr>
          <a:xfrm>
            <a:off x="812800" y="3507184"/>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Nyala/padam, cari kode, nama, atau kode SSOT.</a:t>
            </a:r>
            <a:endParaRPr lang="en-US" sz="1200" dirty="0"/>
          </a:p>
        </p:txBody>
      </p:sp>
      <p:sp>
        <p:nvSpPr>
          <p:cNvPr id="8" name="Text 6"/>
          <p:cNvSpPr/>
          <p:nvPr/>
        </p:nvSpPr>
        <p:spPr>
          <a:xfrm>
            <a:off x="812800" y="3898305"/>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Padam per pelanggan</a:t>
            </a:r>
            <a:endParaRPr lang="en-US" sz="1600" dirty="0"/>
          </a:p>
        </p:txBody>
      </p:sp>
      <p:sp>
        <p:nvSpPr>
          <p:cNvPr id="9" name="Text 7"/>
          <p:cNvSpPr/>
          <p:nvPr/>
        </p:nvSpPr>
        <p:spPr>
          <a:xfrm>
            <a:off x="812800" y="4180185"/>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Waktu mulai, kategori, dan nomor kejadian aktif.</a:t>
            </a:r>
            <a:endParaRPr lang="en-US" sz="1200" dirty="0"/>
          </a:p>
        </p:txBody>
      </p:sp>
      <p:sp>
        <p:nvSpPr>
          <p:cNvPr id="10" name="Text 8"/>
          <p:cNvSpPr/>
          <p:nvPr/>
        </p:nvSpPr>
        <p:spPr>
          <a:xfrm>
            <a:off x="812800" y="4571305"/>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Trace hulu/hilir</a:t>
            </a:r>
            <a:endParaRPr lang="en-US" sz="1600" dirty="0"/>
          </a:p>
        </p:txBody>
      </p:sp>
      <p:sp>
        <p:nvSpPr>
          <p:cNvPr id="11" name="Text 9"/>
          <p:cNvSpPr/>
          <p:nvPr/>
        </p:nvSpPr>
        <p:spPr>
          <a:xfrm>
            <a:off x="812800" y="4853186"/>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Ringkasan node, panjang, dan pelanggan terdampak.</a:t>
            </a:r>
            <a:endParaRPr lang="en-US" sz="1200" dirty="0"/>
          </a:p>
        </p:txBody>
      </p:sp>
      <p:pic>
        <p:nvPicPr>
          <p:cNvPr id="12" name="Image 0" descr="Overlay batas wilayah UP3 di peta Pusat Operasi"/>
          <p:cNvPicPr>
            <a:picLocks noChangeAspect="1"/>
          </p:cNvPicPr>
          <p:nvPr/>
        </p:nvPicPr>
        <p:blipFill>
          <a:blip r:embed="rId3"/>
          <a:srcRect t="75" b="75"/>
          <a:stretch/>
        </p:blipFill>
        <p:spPr>
          <a:xfrm>
            <a:off x="4781550" y="2345333"/>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2342158"/>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FITUR · LAPANGAN (PONSEL)</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Petugas lapangan terhubung dari ponsel</a:t>
            </a:r>
            <a:endParaRPr lang="en-US" sz="3600" dirty="0"/>
          </a:p>
        </p:txBody>
      </p:sp>
      <p:sp>
        <p:nvSpPr>
          <p:cNvPr id="4" name="Text 2"/>
          <p:cNvSpPr/>
          <p:nvPr/>
        </p:nvSpPr>
        <p:spPr>
          <a:xfrm>
            <a:off x="812800" y="1909961"/>
            <a:ext cx="588645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Pasang seperti aplikasi</a:t>
            </a:r>
            <a:endParaRPr lang="en-US" sz="1600" dirty="0"/>
          </a:p>
        </p:txBody>
      </p:sp>
      <p:sp>
        <p:nvSpPr>
          <p:cNvPr id="5" name="Text 3"/>
          <p:cNvSpPr/>
          <p:nvPr/>
        </p:nvSpPr>
        <p:spPr>
          <a:xfrm>
            <a:off x="812800" y="2191841"/>
            <a:ext cx="58864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PWA di ponsel, tanpa toko aplikasi; menu bawah untuk dasbor, operasi, lapangan, SLD.</a:t>
            </a:r>
            <a:endParaRPr lang="en-US" sz="1200" dirty="0"/>
          </a:p>
        </p:txBody>
      </p:sp>
      <p:sp>
        <p:nvSpPr>
          <p:cNvPr id="6" name="Text 4"/>
          <p:cNvSpPr/>
          <p:nvPr/>
        </p:nvSpPr>
        <p:spPr>
          <a:xfrm>
            <a:off x="812800" y="2796282"/>
            <a:ext cx="588645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Aset terdekat</a:t>
            </a:r>
            <a:endParaRPr lang="en-US" sz="1600" dirty="0"/>
          </a:p>
        </p:txBody>
      </p:sp>
      <p:sp>
        <p:nvSpPr>
          <p:cNvPr id="7" name="Text 5"/>
          <p:cNvSpPr/>
          <p:nvPr/>
        </p:nvSpPr>
        <p:spPr>
          <a:xfrm>
            <a:off x="812800" y="3078163"/>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GPS menampilkan gardu, switch, tiang, dan pelanggan di sekitar petugas.</a:t>
            </a:r>
            <a:endParaRPr lang="en-US" sz="1200" dirty="0"/>
          </a:p>
        </p:txBody>
      </p:sp>
      <p:sp>
        <p:nvSpPr>
          <p:cNvPr id="8" name="Text 6"/>
          <p:cNvSpPr/>
          <p:nvPr/>
        </p:nvSpPr>
        <p:spPr>
          <a:xfrm>
            <a:off x="812800" y="3469283"/>
            <a:ext cx="588645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Laporan cepat + foto</a:t>
            </a:r>
            <a:endParaRPr lang="en-US" sz="1600" dirty="0"/>
          </a:p>
        </p:txBody>
      </p:sp>
      <p:sp>
        <p:nvSpPr>
          <p:cNvPr id="9" name="Text 7"/>
          <p:cNvSpPr/>
          <p:nvPr/>
        </p:nvSpPr>
        <p:spPr>
          <a:xfrm>
            <a:off x="812800" y="3751163"/>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Tetap tersimpan saat tanpa sinyal, lalu terkirim otomatis.</a:t>
            </a:r>
            <a:endParaRPr lang="en-US" sz="1200" dirty="0"/>
          </a:p>
        </p:txBody>
      </p:sp>
      <p:sp>
        <p:nvSpPr>
          <p:cNvPr id="10" name="Text 8"/>
          <p:cNvSpPr/>
          <p:nvPr/>
        </p:nvSpPr>
        <p:spPr>
          <a:xfrm>
            <a:off x="812800" y="4142284"/>
            <a:ext cx="588645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Notifikasi push</a:t>
            </a:r>
            <a:endParaRPr lang="en-US" sz="1600" dirty="0"/>
          </a:p>
        </p:txBody>
      </p:sp>
      <p:sp>
        <p:nvSpPr>
          <p:cNvPr id="11" name="Text 9"/>
          <p:cNvSpPr/>
          <p:nvPr/>
        </p:nvSpPr>
        <p:spPr>
          <a:xfrm>
            <a:off x="812800" y="4424164"/>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Gangguan, laporan, dan beban sesuai topik yang dipilih.</a:t>
            </a:r>
            <a:endParaRPr lang="en-US" sz="1200" dirty="0"/>
          </a:p>
        </p:txBody>
      </p:sp>
      <p:sp>
        <p:nvSpPr>
          <p:cNvPr id="12" name="Shape 10"/>
          <p:cNvSpPr/>
          <p:nvPr/>
        </p:nvSpPr>
        <p:spPr>
          <a:xfrm>
            <a:off x="7137400" y="1909961"/>
            <a:ext cx="4241800" cy="3911600"/>
          </a:xfrm>
          <a:prstGeom prst="roundRect">
            <a:avLst>
              <a:gd name="adj" fmla="val 3896"/>
            </a:avLst>
          </a:prstGeom>
          <a:solidFill>
            <a:srgbClr val="0E1A2B"/>
          </a:solidFill>
          <a:ln/>
        </p:spPr>
      </p:sp>
      <p:pic>
        <p:nvPicPr>
          <p:cNvPr id="13" name="Image 0" descr="Halaman Lapangan di ponsel: lokasi saya, aset terdekat, laporan gangguan cepat"/>
          <p:cNvPicPr>
            <a:picLocks noChangeAspect="1"/>
          </p:cNvPicPr>
          <p:nvPr/>
        </p:nvPicPr>
        <p:blipFill>
          <a:blip r:embed="rId3"/>
          <a:stretch>
            <a:fillRect/>
          </a:stretch>
        </p:blipFill>
        <p:spPr>
          <a:xfrm>
            <a:off x="8436712" y="2087761"/>
            <a:ext cx="1643175" cy="3556000"/>
          </a:xfrm>
          <a:custGeom>
            <a:avLst/>
            <a:gdLst/>
            <a:ahLst/>
            <a:cxnLst/>
            <a:rect l="l" t="t" r="r" b="b"/>
            <a:pathLst>
              <a:path w="1643175" h="3556000">
                <a:moveTo>
                  <a:pt x="0" y="32628"/>
                </a:moveTo>
                <a:arcTo wR="127000" hR="127000" stAng="13679705" swAng="2520295"/>
                <a:lnTo>
                  <a:pt x="1558188" y="0"/>
                </a:lnTo>
                <a:arcTo wR="127000" hR="127000" stAng="16200000" swAng="2520295"/>
                <a:lnTo>
                  <a:pt x="1643175" y="3523372"/>
                </a:lnTo>
                <a:arcTo wR="127000" hR="127000" stAng="2879705" swAng="2520295"/>
                <a:lnTo>
                  <a:pt x="84988" y="3556000"/>
                </a:lnTo>
                <a:arcTo wR="127000" hR="127000" stAng="5400000" swAng="2520295"/>
                <a:close/>
              </a:path>
            </a:pathLst>
          </a:custGeom>
        </p:spPr>
      </p:pic>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31 · Foto aset: field.photo · Laporan: report.manage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93B"/>
                </a:solidFill>
                <a:latin typeface="IBM Plex Sans" pitchFamily="34" charset="0"/>
                <a:ea typeface="IBM Plex Sans" pitchFamily="34" charset="-122"/>
                <a:cs typeface="IBM Plex Sans" pitchFamily="34" charset="-120"/>
              </a:rPr>
              <a:t>CARA KERJA · ARSITEKTUR</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6F2"/>
                </a:solidFill>
                <a:latin typeface="Space Grotesk" pitchFamily="34" charset="0"/>
                <a:ea typeface="Space Grotesk" pitchFamily="34" charset="-122"/>
                <a:cs typeface="Space Grotesk" pitchFamily="34" charset="-120"/>
              </a:rPr>
              <a:t>Empat lapisan, satu graf topologi</a:t>
            </a:r>
            <a:endParaRPr lang="en-US" sz="3600" dirty="0"/>
          </a:p>
        </p:txBody>
      </p:sp>
      <p:sp>
        <p:nvSpPr>
          <p:cNvPr id="4" name="Text 2"/>
          <p:cNvSpPr/>
          <p:nvPr/>
        </p:nvSpPr>
        <p:spPr>
          <a:xfrm>
            <a:off x="812800" y="1909961"/>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0FF"/>
                </a:solidFill>
                <a:latin typeface="IBM Plex Sans" pitchFamily="34" charset="0"/>
                <a:ea typeface="IBM Plex Sans" pitchFamily="34" charset="-122"/>
                <a:cs typeface="IBM Plex Sans" pitchFamily="34" charset="-120"/>
              </a:rPr>
              <a:t>PENGGUNA</a:t>
            </a:r>
            <a:endParaRPr lang="en-US" sz="1200" dirty="0"/>
          </a:p>
        </p:txBody>
      </p:sp>
      <p:sp>
        <p:nvSpPr>
          <p:cNvPr id="5" name="Shape 3"/>
          <p:cNvSpPr/>
          <p:nvPr/>
        </p:nvSpPr>
        <p:spPr>
          <a:xfrm>
            <a:off x="815975" y="2228056"/>
            <a:ext cx="2152650" cy="966291"/>
          </a:xfrm>
          <a:prstGeom prst="roundRect">
            <a:avLst>
              <a:gd name="adj" fmla="val 8872"/>
            </a:avLst>
          </a:prstGeom>
          <a:solidFill>
            <a:srgbClr val="13233A"/>
          </a:solidFill>
          <a:ln w="6350">
            <a:solidFill>
              <a:srgbClr val="2B4A73"/>
            </a:solidFill>
            <a:prstDash val="solid"/>
          </a:ln>
        </p:spPr>
      </p:sp>
      <p:sp>
        <p:nvSpPr>
          <p:cNvPr id="6" name="Text 4"/>
          <p:cNvSpPr/>
          <p:nvPr/>
        </p:nvSpPr>
        <p:spPr>
          <a:xfrm>
            <a:off x="971550" y="2383631"/>
            <a:ext cx="189674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Browser</a:t>
            </a:r>
            <a:endParaRPr lang="en-US" sz="1600" dirty="0"/>
          </a:p>
        </p:txBody>
      </p:sp>
      <p:sp>
        <p:nvSpPr>
          <p:cNvPr id="7" name="Text 5"/>
          <p:cNvSpPr/>
          <p:nvPr/>
        </p:nvSpPr>
        <p:spPr>
          <a:xfrm>
            <a:off x="971550" y="2627412"/>
            <a:ext cx="1896745"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Peta, operasi, SLD, beban, AI</a:t>
            </a:r>
            <a:endParaRPr lang="en-US" sz="1200" dirty="0"/>
          </a:p>
        </p:txBody>
      </p:sp>
      <p:sp>
        <p:nvSpPr>
          <p:cNvPr id="8" name="Shape 6"/>
          <p:cNvSpPr/>
          <p:nvPr/>
        </p:nvSpPr>
        <p:spPr>
          <a:xfrm>
            <a:off x="815975" y="3302298"/>
            <a:ext cx="2152650" cy="760611"/>
          </a:xfrm>
          <a:prstGeom prst="roundRect">
            <a:avLst>
              <a:gd name="adj" fmla="val 11271"/>
            </a:avLst>
          </a:prstGeom>
          <a:solidFill>
            <a:srgbClr val="13233A"/>
          </a:solidFill>
          <a:ln w="6350">
            <a:solidFill>
              <a:srgbClr val="2B4A73"/>
            </a:solidFill>
            <a:prstDash val="solid"/>
          </a:ln>
        </p:spPr>
      </p:sp>
      <p:sp>
        <p:nvSpPr>
          <p:cNvPr id="9" name="Text 7"/>
          <p:cNvSpPr/>
          <p:nvPr/>
        </p:nvSpPr>
        <p:spPr>
          <a:xfrm>
            <a:off x="971550" y="3457873"/>
            <a:ext cx="189674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QGIS / ArcGIS</a:t>
            </a:r>
            <a:endParaRPr lang="en-US" sz="1600" dirty="0"/>
          </a:p>
        </p:txBody>
      </p:sp>
      <p:sp>
        <p:nvSpPr>
          <p:cNvPr id="10" name="Text 8"/>
          <p:cNvSpPr/>
          <p:nvPr/>
        </p:nvSpPr>
        <p:spPr>
          <a:xfrm>
            <a:off x="971550" y="3701653"/>
            <a:ext cx="189674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GeoJSON, GDB</a:t>
            </a:r>
            <a:endParaRPr lang="en-US" sz="1200" dirty="0"/>
          </a:p>
        </p:txBody>
      </p:sp>
      <p:sp>
        <p:nvSpPr>
          <p:cNvPr id="11" name="Shape 9"/>
          <p:cNvSpPr/>
          <p:nvPr/>
        </p:nvSpPr>
        <p:spPr>
          <a:xfrm>
            <a:off x="815975" y="4170859"/>
            <a:ext cx="2152650" cy="760611"/>
          </a:xfrm>
          <a:prstGeom prst="roundRect">
            <a:avLst>
              <a:gd name="adj" fmla="val 11271"/>
            </a:avLst>
          </a:prstGeom>
          <a:solidFill>
            <a:srgbClr val="13233A"/>
          </a:solidFill>
          <a:ln w="6350">
            <a:solidFill>
              <a:srgbClr val="2B4A73"/>
            </a:solidFill>
            <a:prstDash val="solid"/>
          </a:ln>
        </p:spPr>
      </p:sp>
      <p:sp>
        <p:nvSpPr>
          <p:cNvPr id="12" name="Text 10"/>
          <p:cNvSpPr/>
          <p:nvPr/>
        </p:nvSpPr>
        <p:spPr>
          <a:xfrm>
            <a:off x="971550" y="4326434"/>
            <a:ext cx="189674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Ponsel (PWA)</a:t>
            </a:r>
            <a:endParaRPr lang="en-US" sz="1600" dirty="0"/>
          </a:p>
        </p:txBody>
      </p:sp>
      <p:sp>
        <p:nvSpPr>
          <p:cNvPr id="13" name="Text 11"/>
          <p:cNvSpPr/>
          <p:nvPr/>
        </p:nvSpPr>
        <p:spPr>
          <a:xfrm>
            <a:off x="971550" y="4570214"/>
            <a:ext cx="189674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Lapangan, offline, push</a:t>
            </a:r>
            <a:endParaRPr lang="en-US" sz="1200" dirty="0"/>
          </a:p>
        </p:txBody>
      </p:sp>
      <p:pic>
        <p:nvPicPr>
          <p:cNvPr id="14" name="Image 0" descr="arrow-right"/>
          <p:cNvPicPr>
            <a:picLocks noChangeAspect="1"/>
          </p:cNvPicPr>
          <p:nvPr/>
        </p:nvPicPr>
        <p:blipFill>
          <a:blip r:embed="rId3"/>
          <a:srcRect/>
          <a:stretch/>
        </p:blipFill>
        <p:spPr>
          <a:xfrm>
            <a:off x="3031034" y="3333353"/>
            <a:ext cx="355600" cy="177800"/>
          </a:xfrm>
          <a:prstGeom prst="rect">
            <a:avLst/>
          </a:prstGeom>
        </p:spPr>
      </p:pic>
      <p:sp>
        <p:nvSpPr>
          <p:cNvPr id="15" name="Text 12"/>
          <p:cNvSpPr/>
          <p:nvPr/>
        </p:nvSpPr>
        <p:spPr>
          <a:xfrm>
            <a:off x="3445867" y="2778522"/>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4B2FF"/>
                </a:solidFill>
                <a:latin typeface="IBM Plex Sans" pitchFamily="34" charset="0"/>
                <a:ea typeface="IBM Plex Sans" pitchFamily="34" charset="-122"/>
                <a:cs typeface="IBM Plex Sans" pitchFamily="34" charset="-120"/>
              </a:rPr>
              <a:t>EDGE</a:t>
            </a:r>
            <a:endParaRPr lang="en-US" sz="1200" dirty="0"/>
          </a:p>
        </p:txBody>
      </p:sp>
      <p:sp>
        <p:nvSpPr>
          <p:cNvPr id="16" name="Shape 13"/>
          <p:cNvSpPr/>
          <p:nvPr/>
        </p:nvSpPr>
        <p:spPr>
          <a:xfrm>
            <a:off x="3449042" y="3096617"/>
            <a:ext cx="1898650" cy="966291"/>
          </a:xfrm>
          <a:prstGeom prst="roundRect">
            <a:avLst>
              <a:gd name="adj" fmla="val 8872"/>
            </a:avLst>
          </a:prstGeom>
          <a:solidFill>
            <a:srgbClr val="13233A"/>
          </a:solidFill>
          <a:ln w="6350">
            <a:solidFill>
              <a:srgbClr val="2B4A73"/>
            </a:solidFill>
            <a:prstDash val="solid"/>
          </a:ln>
        </p:spPr>
      </p:sp>
      <p:sp>
        <p:nvSpPr>
          <p:cNvPr id="17" name="Text 14"/>
          <p:cNvSpPr/>
          <p:nvPr/>
        </p:nvSpPr>
        <p:spPr>
          <a:xfrm>
            <a:off x="3604617" y="3252192"/>
            <a:ext cx="16383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nginx</a:t>
            </a:r>
            <a:endParaRPr lang="en-US" sz="1600" dirty="0"/>
          </a:p>
        </p:txBody>
      </p:sp>
      <p:sp>
        <p:nvSpPr>
          <p:cNvPr id="18" name="Text 15"/>
          <p:cNvSpPr/>
          <p:nvPr/>
        </p:nvSpPr>
        <p:spPr>
          <a:xfrm>
            <a:off x="3604617" y="3495973"/>
            <a:ext cx="16383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HTTPS TLS 1.3, HSTS, gzip, proxy</a:t>
            </a:r>
            <a:endParaRPr lang="en-US" sz="1200" dirty="0"/>
          </a:p>
        </p:txBody>
      </p:sp>
      <p:pic>
        <p:nvPicPr>
          <p:cNvPr id="19" name="Image 1" descr="arrow-right"/>
          <p:cNvPicPr>
            <a:picLocks noChangeAspect="1"/>
          </p:cNvPicPr>
          <p:nvPr/>
        </p:nvPicPr>
        <p:blipFill>
          <a:blip r:embed="rId3"/>
          <a:srcRect/>
          <a:stretch/>
        </p:blipFill>
        <p:spPr>
          <a:xfrm>
            <a:off x="5410101" y="3333353"/>
            <a:ext cx="355600" cy="177800"/>
          </a:xfrm>
          <a:prstGeom prst="rect">
            <a:avLst/>
          </a:prstGeom>
        </p:spPr>
      </p:pic>
      <p:sp>
        <p:nvSpPr>
          <p:cNvPr id="20" name="Text 16"/>
          <p:cNvSpPr/>
          <p:nvPr/>
        </p:nvSpPr>
        <p:spPr>
          <a:xfrm>
            <a:off x="5825034" y="2344241"/>
            <a:ext cx="27470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E0CC"/>
                </a:solidFill>
                <a:latin typeface="IBM Plex Sans" pitchFamily="34" charset="0"/>
                <a:ea typeface="IBM Plex Sans" pitchFamily="34" charset="-122"/>
                <a:cs typeface="IBM Plex Sans" pitchFamily="34" charset="-120"/>
              </a:rPr>
              <a:t>APLIKASI</a:t>
            </a:r>
            <a:endParaRPr lang="en-US" sz="1200" dirty="0"/>
          </a:p>
        </p:txBody>
      </p:sp>
      <p:sp>
        <p:nvSpPr>
          <p:cNvPr id="21" name="Shape 17"/>
          <p:cNvSpPr/>
          <p:nvPr/>
        </p:nvSpPr>
        <p:spPr>
          <a:xfrm>
            <a:off x="5828209" y="2662337"/>
            <a:ext cx="2660650" cy="760611"/>
          </a:xfrm>
          <a:prstGeom prst="roundRect">
            <a:avLst>
              <a:gd name="adj" fmla="val 11271"/>
            </a:avLst>
          </a:prstGeom>
          <a:solidFill>
            <a:srgbClr val="13233A"/>
          </a:solidFill>
          <a:ln w="6350">
            <a:solidFill>
              <a:srgbClr val="2B4A73"/>
            </a:solidFill>
            <a:prstDash val="solid"/>
          </a:ln>
        </p:spPr>
      </p:sp>
      <p:sp>
        <p:nvSpPr>
          <p:cNvPr id="22" name="Text 18"/>
          <p:cNvSpPr/>
          <p:nvPr/>
        </p:nvSpPr>
        <p:spPr>
          <a:xfrm>
            <a:off x="5983784" y="2817912"/>
            <a:ext cx="241998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Next.js</a:t>
            </a:r>
            <a:endParaRPr lang="en-US" sz="1600" dirty="0"/>
          </a:p>
        </p:txBody>
      </p:sp>
      <p:sp>
        <p:nvSpPr>
          <p:cNvPr id="23" name="Text 19"/>
          <p:cNvSpPr/>
          <p:nvPr/>
        </p:nvSpPr>
        <p:spPr>
          <a:xfrm>
            <a:off x="5983784" y="3061692"/>
            <a:ext cx="241998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MapLibre, SLD SVG, tema, ID/EN</a:t>
            </a:r>
            <a:endParaRPr lang="en-US" sz="1200" dirty="0"/>
          </a:p>
        </p:txBody>
      </p:sp>
      <p:sp>
        <p:nvSpPr>
          <p:cNvPr id="24" name="Shape 20"/>
          <p:cNvSpPr/>
          <p:nvPr/>
        </p:nvSpPr>
        <p:spPr>
          <a:xfrm>
            <a:off x="5828209" y="3530898"/>
            <a:ext cx="2660650" cy="966291"/>
          </a:xfrm>
          <a:prstGeom prst="roundRect">
            <a:avLst>
              <a:gd name="adj" fmla="val 8872"/>
            </a:avLst>
          </a:prstGeom>
          <a:solidFill>
            <a:srgbClr val="13233A"/>
          </a:solidFill>
          <a:ln w="6350">
            <a:solidFill>
              <a:srgbClr val="2B4A73"/>
            </a:solidFill>
            <a:prstDash val="solid"/>
          </a:ln>
        </p:spPr>
      </p:sp>
      <p:sp>
        <p:nvSpPr>
          <p:cNvPr id="25" name="Text 21"/>
          <p:cNvSpPr/>
          <p:nvPr/>
        </p:nvSpPr>
        <p:spPr>
          <a:xfrm>
            <a:off x="5983784" y="3686473"/>
            <a:ext cx="241998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Go backend</a:t>
            </a:r>
            <a:endParaRPr lang="en-US" sz="1600" dirty="0"/>
          </a:p>
        </p:txBody>
      </p:sp>
      <p:sp>
        <p:nvSpPr>
          <p:cNvPr id="26" name="Text 22"/>
          <p:cNvSpPr/>
          <p:nvPr/>
        </p:nvSpPr>
        <p:spPr>
          <a:xfrm>
            <a:off x="5983784" y="3930253"/>
            <a:ext cx="2419985"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Graf memori, energisasi, keandalan, SLD, beban &amp; susut</a:t>
            </a:r>
            <a:endParaRPr lang="en-US" sz="1200" dirty="0"/>
          </a:p>
        </p:txBody>
      </p:sp>
      <p:pic>
        <p:nvPicPr>
          <p:cNvPr id="27" name="Image 2" descr="arrow-right"/>
          <p:cNvPicPr>
            <a:picLocks noChangeAspect="1"/>
          </p:cNvPicPr>
          <p:nvPr/>
        </p:nvPicPr>
        <p:blipFill>
          <a:blip r:embed="rId3"/>
          <a:srcRect/>
          <a:stretch/>
        </p:blipFill>
        <p:spPr>
          <a:xfrm>
            <a:off x="8551267" y="3333353"/>
            <a:ext cx="355600" cy="177800"/>
          </a:xfrm>
          <a:prstGeom prst="rect">
            <a:avLst/>
          </a:prstGeom>
        </p:spPr>
      </p:pic>
      <p:sp>
        <p:nvSpPr>
          <p:cNvPr id="28" name="Text 23"/>
          <p:cNvSpPr/>
          <p:nvPr/>
        </p:nvSpPr>
        <p:spPr>
          <a:xfrm>
            <a:off x="8966200" y="198616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C074"/>
                </a:solidFill>
                <a:latin typeface="IBM Plex Sans" pitchFamily="34" charset="0"/>
                <a:ea typeface="IBM Plex Sans" pitchFamily="34" charset="-122"/>
                <a:cs typeface="IBM Plex Sans" pitchFamily="34" charset="-120"/>
              </a:rPr>
              <a:t>DATA &amp; LAYANAN</a:t>
            </a:r>
            <a:endParaRPr lang="en-US" sz="1200" dirty="0"/>
          </a:p>
        </p:txBody>
      </p:sp>
      <p:sp>
        <p:nvSpPr>
          <p:cNvPr id="29" name="Shape 24"/>
          <p:cNvSpPr/>
          <p:nvPr/>
        </p:nvSpPr>
        <p:spPr>
          <a:xfrm>
            <a:off x="8969375" y="2304256"/>
            <a:ext cx="2406650" cy="709811"/>
          </a:xfrm>
          <a:prstGeom prst="roundRect">
            <a:avLst>
              <a:gd name="adj" fmla="val 12077"/>
            </a:avLst>
          </a:prstGeom>
          <a:solidFill>
            <a:srgbClr val="13233A"/>
          </a:solidFill>
          <a:ln w="6350">
            <a:solidFill>
              <a:srgbClr val="2B4A73"/>
            </a:solidFill>
            <a:prstDash val="solid"/>
          </a:ln>
        </p:spPr>
      </p:sp>
      <p:sp>
        <p:nvSpPr>
          <p:cNvPr id="30" name="Text 25"/>
          <p:cNvSpPr/>
          <p:nvPr/>
        </p:nvSpPr>
        <p:spPr>
          <a:xfrm>
            <a:off x="9124950" y="2434431"/>
            <a:ext cx="21583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PostgreSQL</a:t>
            </a:r>
            <a:endParaRPr lang="en-US" sz="1600" dirty="0"/>
          </a:p>
        </p:txBody>
      </p:sp>
      <p:sp>
        <p:nvSpPr>
          <p:cNvPr id="31" name="Text 26"/>
          <p:cNvSpPr/>
          <p:nvPr/>
        </p:nvSpPr>
        <p:spPr>
          <a:xfrm>
            <a:off x="9124950" y="2678212"/>
            <a:ext cx="215836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PostGIS, TimescaleDB</a:t>
            </a:r>
            <a:endParaRPr lang="en-US" sz="1200" dirty="0"/>
          </a:p>
        </p:txBody>
      </p:sp>
      <p:sp>
        <p:nvSpPr>
          <p:cNvPr id="32" name="Shape 27"/>
          <p:cNvSpPr/>
          <p:nvPr/>
        </p:nvSpPr>
        <p:spPr>
          <a:xfrm>
            <a:off x="8969375" y="3122017"/>
            <a:ext cx="2406650" cy="915491"/>
          </a:xfrm>
          <a:prstGeom prst="roundRect">
            <a:avLst>
              <a:gd name="adj" fmla="val 9364"/>
            </a:avLst>
          </a:prstGeom>
          <a:solidFill>
            <a:srgbClr val="13233A"/>
          </a:solidFill>
          <a:ln w="6350">
            <a:solidFill>
              <a:srgbClr val="2B4A73"/>
            </a:solidFill>
            <a:prstDash val="solid"/>
          </a:ln>
        </p:spPr>
      </p:sp>
      <p:sp>
        <p:nvSpPr>
          <p:cNvPr id="33" name="Text 28"/>
          <p:cNvSpPr/>
          <p:nvPr/>
        </p:nvSpPr>
        <p:spPr>
          <a:xfrm>
            <a:off x="9124950" y="3252192"/>
            <a:ext cx="21583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Redis · Kafka</a:t>
            </a:r>
            <a:endParaRPr lang="en-US" sz="1600" dirty="0"/>
          </a:p>
        </p:txBody>
      </p:sp>
      <p:sp>
        <p:nvSpPr>
          <p:cNvPr id="34" name="Text 29"/>
          <p:cNvSpPr/>
          <p:nvPr/>
        </p:nvSpPr>
        <p:spPr>
          <a:xfrm>
            <a:off x="9124950" y="3495973"/>
            <a:ext cx="2158365"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Cache, realtime, SCADA/AMR, perintah switch</a:t>
            </a:r>
            <a:endParaRPr lang="en-US" sz="1200" dirty="0"/>
          </a:p>
        </p:txBody>
      </p:sp>
      <p:sp>
        <p:nvSpPr>
          <p:cNvPr id="35" name="Shape 30"/>
          <p:cNvSpPr/>
          <p:nvPr/>
        </p:nvSpPr>
        <p:spPr>
          <a:xfrm>
            <a:off x="8969375" y="4145459"/>
            <a:ext cx="2406650" cy="709811"/>
          </a:xfrm>
          <a:prstGeom prst="roundRect">
            <a:avLst>
              <a:gd name="adj" fmla="val 12077"/>
            </a:avLst>
          </a:prstGeom>
          <a:solidFill>
            <a:srgbClr val="13233A"/>
          </a:solidFill>
          <a:ln w="6350">
            <a:solidFill>
              <a:srgbClr val="2B4A73"/>
            </a:solidFill>
            <a:prstDash val="solid"/>
          </a:ln>
        </p:spPr>
      </p:sp>
      <p:sp>
        <p:nvSpPr>
          <p:cNvPr id="36" name="Text 31"/>
          <p:cNvSpPr/>
          <p:nvPr/>
        </p:nvSpPr>
        <p:spPr>
          <a:xfrm>
            <a:off x="9124950" y="4275634"/>
            <a:ext cx="215836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Penyedia AI</a:t>
            </a:r>
            <a:endParaRPr lang="en-US" sz="1600" dirty="0"/>
          </a:p>
        </p:txBody>
      </p:sp>
      <p:sp>
        <p:nvSpPr>
          <p:cNvPr id="37" name="Text 32"/>
          <p:cNvSpPr/>
          <p:nvPr/>
        </p:nvSpPr>
        <p:spPr>
          <a:xfrm>
            <a:off x="9124950" y="4519414"/>
            <a:ext cx="215836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DA"/>
                </a:solidFill>
                <a:latin typeface="IBM Plex Sans" pitchFamily="34" charset="0"/>
                <a:ea typeface="IBM Plex Sans" pitchFamily="34" charset="-122"/>
                <a:cs typeface="IBM Plex Sans" pitchFamily="34" charset="-120"/>
              </a:rPr>
              <a:t>Claude, ChatGPT, Kimi</a:t>
            </a:r>
            <a:endParaRPr lang="en-US" sz="1200" dirty="0"/>
          </a:p>
        </p:txBody>
      </p:sp>
      <p:sp>
        <p:nvSpPr>
          <p:cNvPr id="38" name="Text 3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A"/>
                </a:solidFill>
                <a:latin typeface="IBM Plex Sans" pitchFamily="34" charset="0"/>
                <a:ea typeface="IBM Plex Sans" pitchFamily="34" charset="-122"/>
                <a:cs typeface="IBM Plex Sans" pitchFamily="34" charset="-120"/>
              </a:rPr>
              <a:t>QuadranGIS · 32 · Semua layanan berjalan sebagai container Docker</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CARA KERJA · PROSES BISNIS</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Dari gangguan sampai laporan keandalan</a:t>
            </a:r>
            <a:endParaRPr lang="en-US" sz="3600" dirty="0"/>
          </a:p>
        </p:txBody>
      </p:sp>
      <p:sp>
        <p:nvSpPr>
          <p:cNvPr id="4" name="Shape 2"/>
          <p:cNvSpPr/>
          <p:nvPr/>
        </p:nvSpPr>
        <p:spPr>
          <a:xfrm>
            <a:off x="815975" y="1963936"/>
            <a:ext cx="1648817" cy="2012752"/>
          </a:xfrm>
          <a:prstGeom prst="roundRect">
            <a:avLst>
              <a:gd name="adj" fmla="val 5969"/>
            </a:avLst>
          </a:prstGeom>
          <a:solidFill>
            <a:srgbClr val="FFFFFF"/>
          </a:solidFill>
          <a:ln w="6350">
            <a:solidFill>
              <a:srgbClr val="DDE2E8"/>
            </a:solidFill>
            <a:prstDash val="solid"/>
          </a:ln>
        </p:spPr>
      </p:sp>
      <p:sp>
        <p:nvSpPr>
          <p:cNvPr id="5" name="Text 3"/>
          <p:cNvSpPr/>
          <p:nvPr/>
        </p:nvSpPr>
        <p:spPr>
          <a:xfrm>
            <a:off x="971550" y="2144911"/>
            <a:ext cx="138846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563EB"/>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971550" y="2624931"/>
            <a:ext cx="13884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Kejadian</a:t>
            </a:r>
            <a:endParaRPr lang="en-US" sz="1500" dirty="0"/>
          </a:p>
        </p:txBody>
      </p:sp>
      <p:sp>
        <p:nvSpPr>
          <p:cNvPr id="7" name="Text 5"/>
          <p:cNvSpPr/>
          <p:nvPr/>
        </p:nvSpPr>
        <p:spPr>
          <a:xfrm>
            <a:off x="971550" y="2942431"/>
            <a:ext cx="138846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Gangguan, jadwal pemeliharaan, atau MLS</a:t>
            </a:r>
            <a:endParaRPr lang="en-US" sz="1200" dirty="0"/>
          </a:p>
        </p:txBody>
      </p:sp>
      <p:sp>
        <p:nvSpPr>
          <p:cNvPr id="8" name="Shape 6"/>
          <p:cNvSpPr/>
          <p:nvPr/>
        </p:nvSpPr>
        <p:spPr>
          <a:xfrm>
            <a:off x="2598142" y="1963936"/>
            <a:ext cx="1648916" cy="2012752"/>
          </a:xfrm>
          <a:prstGeom prst="roundRect">
            <a:avLst>
              <a:gd name="adj" fmla="val 5969"/>
            </a:avLst>
          </a:prstGeom>
          <a:solidFill>
            <a:srgbClr val="FFFFFF"/>
          </a:solidFill>
          <a:ln w="6350">
            <a:solidFill>
              <a:srgbClr val="DDE2E8"/>
            </a:solidFill>
            <a:prstDash val="solid"/>
          </a:ln>
        </p:spPr>
      </p:sp>
      <p:sp>
        <p:nvSpPr>
          <p:cNvPr id="9" name="Text 7"/>
          <p:cNvSpPr/>
          <p:nvPr/>
        </p:nvSpPr>
        <p:spPr>
          <a:xfrm>
            <a:off x="2753717" y="2144911"/>
            <a:ext cx="138856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563EB"/>
                </a:solidFill>
                <a:latin typeface="Space Grotesk" pitchFamily="34" charset="0"/>
                <a:ea typeface="Space Grotesk" pitchFamily="34" charset="-122"/>
                <a:cs typeface="Space Grotesk" pitchFamily="34" charset="-120"/>
              </a:rPr>
              <a:t>02</a:t>
            </a:r>
            <a:endParaRPr lang="en-US" sz="2200" dirty="0"/>
          </a:p>
        </p:txBody>
      </p:sp>
      <p:sp>
        <p:nvSpPr>
          <p:cNvPr id="10" name="Text 8"/>
          <p:cNvSpPr/>
          <p:nvPr/>
        </p:nvSpPr>
        <p:spPr>
          <a:xfrm>
            <a:off x="2753717" y="2624931"/>
            <a:ext cx="138856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Temukan</a:t>
            </a:r>
            <a:endParaRPr lang="en-US" sz="1500" dirty="0"/>
          </a:p>
        </p:txBody>
      </p:sp>
      <p:sp>
        <p:nvSpPr>
          <p:cNvPr id="11" name="Text 9"/>
          <p:cNvSpPr/>
          <p:nvPr/>
        </p:nvSpPr>
        <p:spPr>
          <a:xfrm>
            <a:off x="2753717" y="2942431"/>
            <a:ext cx="138856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Cari objek di peta, SLD, atau daftar</a:t>
            </a:r>
            <a:endParaRPr lang="en-US" sz="1200" dirty="0"/>
          </a:p>
        </p:txBody>
      </p:sp>
      <p:sp>
        <p:nvSpPr>
          <p:cNvPr id="12" name="Shape 10"/>
          <p:cNvSpPr/>
          <p:nvPr/>
        </p:nvSpPr>
        <p:spPr>
          <a:xfrm>
            <a:off x="4380409" y="1963936"/>
            <a:ext cx="1648817" cy="2012752"/>
          </a:xfrm>
          <a:prstGeom prst="roundRect">
            <a:avLst>
              <a:gd name="adj" fmla="val 5969"/>
            </a:avLst>
          </a:prstGeom>
          <a:solidFill>
            <a:srgbClr val="FFFFFF"/>
          </a:solidFill>
          <a:ln w="6350">
            <a:solidFill>
              <a:srgbClr val="DDE2E8"/>
            </a:solidFill>
            <a:prstDash val="solid"/>
          </a:ln>
        </p:spPr>
      </p:sp>
      <p:sp>
        <p:nvSpPr>
          <p:cNvPr id="13" name="Text 11"/>
          <p:cNvSpPr/>
          <p:nvPr/>
        </p:nvSpPr>
        <p:spPr>
          <a:xfrm>
            <a:off x="4535984" y="2144911"/>
            <a:ext cx="138846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09"/>
                </a:solidFill>
                <a:latin typeface="Space Grotesk" pitchFamily="34" charset="0"/>
                <a:ea typeface="Space Grotesk" pitchFamily="34" charset="-122"/>
                <a:cs typeface="Space Grotesk" pitchFamily="34" charset="-120"/>
              </a:rPr>
              <a:t>03</a:t>
            </a:r>
            <a:endParaRPr lang="en-US" sz="2200" dirty="0"/>
          </a:p>
        </p:txBody>
      </p:sp>
      <p:sp>
        <p:nvSpPr>
          <p:cNvPr id="14" name="Text 12"/>
          <p:cNvSpPr/>
          <p:nvPr/>
        </p:nvSpPr>
        <p:spPr>
          <a:xfrm>
            <a:off x="4535984" y="2624931"/>
            <a:ext cx="13884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Operasikan</a:t>
            </a:r>
            <a:endParaRPr lang="en-US" sz="1500" dirty="0"/>
          </a:p>
        </p:txBody>
      </p:sp>
      <p:sp>
        <p:nvSpPr>
          <p:cNvPr id="15" name="Text 13"/>
          <p:cNvSpPr/>
          <p:nvPr/>
        </p:nvSpPr>
        <p:spPr>
          <a:xfrm>
            <a:off x="4535984" y="2942431"/>
            <a:ext cx="1388467"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Buka atau deenergize dari Pusat Operasi / SLD</a:t>
            </a:r>
            <a:endParaRPr lang="en-US" sz="1200" dirty="0"/>
          </a:p>
        </p:txBody>
      </p:sp>
      <p:sp>
        <p:nvSpPr>
          <p:cNvPr id="16" name="Shape 14"/>
          <p:cNvSpPr/>
          <p:nvPr/>
        </p:nvSpPr>
        <p:spPr>
          <a:xfrm>
            <a:off x="6162576" y="1963936"/>
            <a:ext cx="1648916" cy="2012752"/>
          </a:xfrm>
          <a:prstGeom prst="roundRect">
            <a:avLst>
              <a:gd name="adj" fmla="val 5969"/>
            </a:avLst>
          </a:prstGeom>
          <a:solidFill>
            <a:srgbClr val="FFFFFF"/>
          </a:solidFill>
          <a:ln w="6350">
            <a:solidFill>
              <a:srgbClr val="DDE2E8"/>
            </a:solidFill>
            <a:prstDash val="solid"/>
          </a:ln>
        </p:spPr>
      </p:sp>
      <p:sp>
        <p:nvSpPr>
          <p:cNvPr id="17" name="Text 15"/>
          <p:cNvSpPr/>
          <p:nvPr/>
        </p:nvSpPr>
        <p:spPr>
          <a:xfrm>
            <a:off x="6318151" y="2144911"/>
            <a:ext cx="138856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09"/>
                </a:solidFill>
                <a:latin typeface="Space Grotesk" pitchFamily="34" charset="0"/>
                <a:ea typeface="Space Grotesk" pitchFamily="34" charset="-122"/>
                <a:cs typeface="Space Grotesk" pitchFamily="34" charset="-120"/>
              </a:rPr>
              <a:t>04</a:t>
            </a:r>
            <a:endParaRPr lang="en-US" sz="2200" dirty="0"/>
          </a:p>
        </p:txBody>
      </p:sp>
      <p:sp>
        <p:nvSpPr>
          <p:cNvPr id="18" name="Text 16"/>
          <p:cNvSpPr/>
          <p:nvPr/>
        </p:nvSpPr>
        <p:spPr>
          <a:xfrm>
            <a:off x="6318151" y="2624931"/>
            <a:ext cx="138856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Hitung</a:t>
            </a:r>
            <a:endParaRPr lang="en-US" sz="1500" dirty="0"/>
          </a:p>
        </p:txBody>
      </p:sp>
      <p:sp>
        <p:nvSpPr>
          <p:cNvPr id="19" name="Text 17"/>
          <p:cNvSpPr/>
          <p:nvPr/>
        </p:nvSpPr>
        <p:spPr>
          <a:xfrm>
            <a:off x="6318151" y="2942431"/>
            <a:ext cx="1388566"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Wilayah padam dihitung; FLISR menyusun pemulihan</a:t>
            </a:r>
            <a:endParaRPr lang="en-US" sz="1200" dirty="0"/>
          </a:p>
        </p:txBody>
      </p:sp>
      <p:sp>
        <p:nvSpPr>
          <p:cNvPr id="20" name="Shape 18"/>
          <p:cNvSpPr/>
          <p:nvPr/>
        </p:nvSpPr>
        <p:spPr>
          <a:xfrm>
            <a:off x="7944842" y="1963936"/>
            <a:ext cx="1648916" cy="2012752"/>
          </a:xfrm>
          <a:prstGeom prst="roundRect">
            <a:avLst>
              <a:gd name="adj" fmla="val 5969"/>
            </a:avLst>
          </a:prstGeom>
          <a:solidFill>
            <a:srgbClr val="FFFFFF"/>
          </a:solidFill>
          <a:ln w="6350">
            <a:solidFill>
              <a:srgbClr val="DDE2E8"/>
            </a:solidFill>
            <a:prstDash val="solid"/>
          </a:ln>
        </p:spPr>
      </p:sp>
      <p:sp>
        <p:nvSpPr>
          <p:cNvPr id="21" name="Text 19"/>
          <p:cNvSpPr/>
          <p:nvPr/>
        </p:nvSpPr>
        <p:spPr>
          <a:xfrm>
            <a:off x="8100417" y="2144911"/>
            <a:ext cx="138856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F766E"/>
                </a:solidFill>
                <a:latin typeface="Space Grotesk" pitchFamily="34" charset="0"/>
                <a:ea typeface="Space Grotesk" pitchFamily="34" charset="-122"/>
                <a:cs typeface="Space Grotesk" pitchFamily="34" charset="-120"/>
              </a:rPr>
              <a:t>05</a:t>
            </a:r>
            <a:endParaRPr lang="en-US" sz="2200" dirty="0"/>
          </a:p>
        </p:txBody>
      </p:sp>
      <p:sp>
        <p:nvSpPr>
          <p:cNvPr id="22" name="Text 20"/>
          <p:cNvSpPr/>
          <p:nvPr/>
        </p:nvSpPr>
        <p:spPr>
          <a:xfrm>
            <a:off x="8100417" y="2624931"/>
            <a:ext cx="138856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Pulihkan</a:t>
            </a:r>
            <a:endParaRPr lang="en-US" sz="1500" dirty="0"/>
          </a:p>
        </p:txBody>
      </p:sp>
      <p:sp>
        <p:nvSpPr>
          <p:cNvPr id="23" name="Text 21"/>
          <p:cNvSpPr/>
          <p:nvPr/>
        </p:nvSpPr>
        <p:spPr>
          <a:xfrm>
            <a:off x="8100417" y="2942431"/>
            <a:ext cx="138856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Tutup atau energize; durasi tercatat</a:t>
            </a:r>
            <a:endParaRPr lang="en-US" sz="1200" dirty="0"/>
          </a:p>
        </p:txBody>
      </p:sp>
      <p:sp>
        <p:nvSpPr>
          <p:cNvPr id="24" name="Shape 22"/>
          <p:cNvSpPr/>
          <p:nvPr/>
        </p:nvSpPr>
        <p:spPr>
          <a:xfrm>
            <a:off x="9727109" y="1963936"/>
            <a:ext cx="1648817" cy="2012752"/>
          </a:xfrm>
          <a:prstGeom prst="roundRect">
            <a:avLst>
              <a:gd name="adj" fmla="val 5969"/>
            </a:avLst>
          </a:prstGeom>
          <a:solidFill>
            <a:srgbClr val="FFFFFF"/>
          </a:solidFill>
          <a:ln w="6350">
            <a:solidFill>
              <a:srgbClr val="DDE2E8"/>
            </a:solidFill>
            <a:prstDash val="solid"/>
          </a:ln>
        </p:spPr>
      </p:sp>
      <p:sp>
        <p:nvSpPr>
          <p:cNvPr id="25" name="Text 23"/>
          <p:cNvSpPr/>
          <p:nvPr/>
        </p:nvSpPr>
        <p:spPr>
          <a:xfrm>
            <a:off x="9882684" y="2144911"/>
            <a:ext cx="138846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F766E"/>
                </a:solidFill>
                <a:latin typeface="Space Grotesk" pitchFamily="34" charset="0"/>
                <a:ea typeface="Space Grotesk" pitchFamily="34" charset="-122"/>
                <a:cs typeface="Space Grotesk" pitchFamily="34" charset="-120"/>
              </a:rPr>
              <a:t>06</a:t>
            </a:r>
            <a:endParaRPr lang="en-US" sz="2200" dirty="0"/>
          </a:p>
        </p:txBody>
      </p:sp>
      <p:sp>
        <p:nvSpPr>
          <p:cNvPr id="26" name="Text 24"/>
          <p:cNvSpPr/>
          <p:nvPr/>
        </p:nvSpPr>
        <p:spPr>
          <a:xfrm>
            <a:off x="9882684" y="2624931"/>
            <a:ext cx="13884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pitchFamily="34" charset="0"/>
                <a:ea typeface="IBM Plex Sans" pitchFamily="34" charset="-122"/>
                <a:cs typeface="IBM Plex Sans" pitchFamily="34" charset="-120"/>
              </a:rPr>
              <a:t>Laporkan</a:t>
            </a:r>
            <a:endParaRPr lang="en-US" sz="1500" dirty="0"/>
          </a:p>
        </p:txBody>
      </p:sp>
      <p:sp>
        <p:nvSpPr>
          <p:cNvPr id="27" name="Text 25"/>
          <p:cNvSpPr/>
          <p:nvPr/>
        </p:nvSpPr>
        <p:spPr>
          <a:xfrm>
            <a:off x="9882684" y="2942431"/>
            <a:ext cx="13884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SAIDI, SAIFI, ENS per periode</a:t>
            </a:r>
            <a:endParaRPr lang="en-US" sz="1200" dirty="0"/>
          </a:p>
        </p:txBody>
      </p:sp>
      <p:sp>
        <p:nvSpPr>
          <p:cNvPr id="28" name="Text 26"/>
          <p:cNvSpPr/>
          <p:nvPr/>
        </p:nvSpPr>
        <p:spPr>
          <a:xfrm>
            <a:off x="812800" y="4335463"/>
            <a:ext cx="98107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Setiap langkah terekam di SOE beserta identitas operator, dan tampil realtime di layar semua dispatcher.</a:t>
            </a:r>
            <a:endParaRPr lang="en-US" sz="14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CARA KERJA · KEAMANAN &amp; TATA KELOLA</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Aman dari login sampai manuver</a:t>
            </a:r>
            <a:endParaRPr lang="en-US" sz="3600" dirty="0"/>
          </a:p>
        </p:txBody>
      </p:sp>
      <p:sp>
        <p:nvSpPr>
          <p:cNvPr id="4" name="Shape 2"/>
          <p:cNvSpPr/>
          <p:nvPr/>
        </p:nvSpPr>
        <p:spPr>
          <a:xfrm>
            <a:off x="815975" y="1963936"/>
            <a:ext cx="3397250" cy="1591171"/>
          </a:xfrm>
          <a:prstGeom prst="roundRect">
            <a:avLst>
              <a:gd name="adj" fmla="val 6984"/>
            </a:avLst>
          </a:prstGeom>
          <a:solidFill>
            <a:srgbClr val="FFFFFF"/>
          </a:solidFill>
          <a:ln w="6350">
            <a:solidFill>
              <a:srgbClr val="DDE2E8"/>
            </a:solidFill>
            <a:prstDash val="solid"/>
          </a:ln>
        </p:spPr>
      </p:sp>
      <p:pic>
        <p:nvPicPr>
          <p:cNvPr id="5" name="Image 0" descr="Lock"/>
          <p:cNvPicPr>
            <a:picLocks noChangeAspect="1"/>
          </p:cNvPicPr>
          <p:nvPr/>
        </p:nvPicPr>
        <p:blipFill>
          <a:blip r:embed="rId3"/>
          <a:srcRect/>
          <a:stretch/>
        </p:blipFill>
        <p:spPr>
          <a:xfrm>
            <a:off x="1047750" y="2195711"/>
            <a:ext cx="304800" cy="304800"/>
          </a:xfrm>
          <a:prstGeom prst="rect">
            <a:avLst/>
          </a:prstGeom>
        </p:spPr>
      </p:pic>
      <p:sp>
        <p:nvSpPr>
          <p:cNvPr id="6" name="Text 3"/>
          <p:cNvSpPr/>
          <p:nvPr/>
        </p:nvSpPr>
        <p:spPr>
          <a:xfrm>
            <a:off x="10477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Sesi aman</a:t>
            </a:r>
            <a:endParaRPr lang="en-US" sz="1600" dirty="0"/>
          </a:p>
        </p:txBody>
      </p:sp>
      <p:sp>
        <p:nvSpPr>
          <p:cNvPr id="7" name="Text 4"/>
          <p:cNvSpPr/>
          <p:nvPr/>
        </p:nvSpPr>
        <p:spPr>
          <a:xfrm>
            <a:off x="10477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HTTPS wajib, JWT HttpOnly, bcrypt, captcha login.</a:t>
            </a:r>
            <a:endParaRPr lang="en-US" sz="1200" dirty="0"/>
          </a:p>
        </p:txBody>
      </p:sp>
      <p:sp>
        <p:nvSpPr>
          <p:cNvPr id="8" name="Shape 5"/>
          <p:cNvSpPr/>
          <p:nvPr/>
        </p:nvSpPr>
        <p:spPr>
          <a:xfrm>
            <a:off x="4397375" y="1963936"/>
            <a:ext cx="3397250" cy="1591171"/>
          </a:xfrm>
          <a:prstGeom prst="roundRect">
            <a:avLst>
              <a:gd name="adj" fmla="val 6984"/>
            </a:avLst>
          </a:prstGeom>
          <a:solidFill>
            <a:srgbClr val="FFFFFF"/>
          </a:solidFill>
          <a:ln w="6350">
            <a:solidFill>
              <a:srgbClr val="DDE2E8"/>
            </a:solidFill>
            <a:prstDash val="solid"/>
          </a:ln>
        </p:spPr>
      </p:sp>
      <p:pic>
        <p:nvPicPr>
          <p:cNvPr id="9" name="Image 1" descr="Users"/>
          <p:cNvPicPr>
            <a:picLocks noChangeAspect="1"/>
          </p:cNvPicPr>
          <p:nvPr/>
        </p:nvPicPr>
        <p:blipFill>
          <a:blip r:embed="rId4"/>
          <a:srcRect/>
          <a:stretch/>
        </p:blipFill>
        <p:spPr>
          <a:xfrm>
            <a:off x="4629150" y="2195711"/>
            <a:ext cx="304800" cy="304800"/>
          </a:xfrm>
          <a:prstGeom prst="rect">
            <a:avLst/>
          </a:prstGeom>
        </p:spPr>
      </p:pic>
      <p:sp>
        <p:nvSpPr>
          <p:cNvPr id="10" name="Text 6"/>
          <p:cNvSpPr/>
          <p:nvPr/>
        </p:nvSpPr>
        <p:spPr>
          <a:xfrm>
            <a:off x="46291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Izin granular</a:t>
            </a:r>
            <a:endParaRPr lang="en-US" sz="1600" dirty="0"/>
          </a:p>
        </p:txBody>
      </p:sp>
      <p:sp>
        <p:nvSpPr>
          <p:cNvPr id="11" name="Text 7"/>
          <p:cNvSpPr/>
          <p:nvPr/>
        </p:nvSpPr>
        <p:spPr>
          <a:xfrm>
            <a:off x="46291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Admin, editor, supervisor, manajer, operator, operator TR, viewer.</a:t>
            </a:r>
            <a:endParaRPr lang="en-US" sz="1200" dirty="0"/>
          </a:p>
        </p:txBody>
      </p:sp>
      <p:sp>
        <p:nvSpPr>
          <p:cNvPr id="12" name="Shape 8"/>
          <p:cNvSpPr/>
          <p:nvPr/>
        </p:nvSpPr>
        <p:spPr>
          <a:xfrm>
            <a:off x="7978775" y="1963936"/>
            <a:ext cx="3397250" cy="1591171"/>
          </a:xfrm>
          <a:prstGeom prst="roundRect">
            <a:avLst>
              <a:gd name="adj" fmla="val 6984"/>
            </a:avLst>
          </a:prstGeom>
          <a:solidFill>
            <a:srgbClr val="FFFFFF"/>
          </a:solidFill>
          <a:ln w="6350">
            <a:solidFill>
              <a:srgbClr val="DDE2E8"/>
            </a:solidFill>
            <a:prstDash val="solid"/>
          </a:ln>
        </p:spPr>
      </p:sp>
      <p:pic>
        <p:nvPicPr>
          <p:cNvPr id="13" name="Image 2" descr="Verified"/>
          <p:cNvPicPr>
            <a:picLocks noChangeAspect="1"/>
          </p:cNvPicPr>
          <p:nvPr/>
        </p:nvPicPr>
        <p:blipFill>
          <a:blip r:embed="rId5"/>
          <a:srcRect/>
          <a:stretch/>
        </p:blipFill>
        <p:spPr>
          <a:xfrm>
            <a:off x="8210550" y="2195711"/>
            <a:ext cx="304800" cy="304800"/>
          </a:xfrm>
          <a:prstGeom prst="rect">
            <a:avLst/>
          </a:prstGeom>
        </p:spPr>
      </p:pic>
      <p:sp>
        <p:nvSpPr>
          <p:cNvPr id="14" name="Text 9"/>
          <p:cNvSpPr/>
          <p:nvPr/>
        </p:nvSpPr>
        <p:spPr>
          <a:xfrm>
            <a:off x="8210550" y="257671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Dicek di server</a:t>
            </a:r>
            <a:endParaRPr lang="en-US" sz="1600" dirty="0"/>
          </a:p>
        </p:txBody>
      </p:sp>
      <p:sp>
        <p:nvSpPr>
          <p:cNvPr id="15" name="Text 10"/>
          <p:cNvSpPr/>
          <p:nvPr/>
        </p:nvSpPr>
        <p:spPr>
          <a:xfrm>
            <a:off x="8210550" y="2896691"/>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Operasi dan persetujuan diperiksa per izin dan tegangan.</a:t>
            </a:r>
            <a:endParaRPr lang="en-US" sz="1200" dirty="0"/>
          </a:p>
        </p:txBody>
      </p:sp>
      <p:sp>
        <p:nvSpPr>
          <p:cNvPr id="16" name="Shape 11"/>
          <p:cNvSpPr/>
          <p:nvPr/>
        </p:nvSpPr>
        <p:spPr>
          <a:xfrm>
            <a:off x="815975" y="3739257"/>
            <a:ext cx="3397250" cy="1591171"/>
          </a:xfrm>
          <a:prstGeom prst="roundRect">
            <a:avLst>
              <a:gd name="adj" fmla="val 6984"/>
            </a:avLst>
          </a:prstGeom>
          <a:solidFill>
            <a:srgbClr val="FFFFFF"/>
          </a:solidFill>
          <a:ln w="6350">
            <a:solidFill>
              <a:srgbClr val="DDE2E8"/>
            </a:solidFill>
            <a:prstDash val="solid"/>
          </a:ln>
        </p:spPr>
      </p:sp>
      <p:pic>
        <p:nvPicPr>
          <p:cNvPr id="17" name="Image 3" descr="Book"/>
          <p:cNvPicPr>
            <a:picLocks noChangeAspect="1"/>
          </p:cNvPicPr>
          <p:nvPr/>
        </p:nvPicPr>
        <p:blipFill>
          <a:blip r:embed="rId6"/>
          <a:srcRect/>
          <a:stretch/>
        </p:blipFill>
        <p:spPr>
          <a:xfrm>
            <a:off x="1047750" y="3971032"/>
            <a:ext cx="304800" cy="304800"/>
          </a:xfrm>
          <a:prstGeom prst="rect">
            <a:avLst/>
          </a:prstGeom>
        </p:spPr>
      </p:pic>
      <p:sp>
        <p:nvSpPr>
          <p:cNvPr id="18" name="Text 12"/>
          <p:cNvSpPr/>
          <p:nvPr/>
        </p:nvSpPr>
        <p:spPr>
          <a:xfrm>
            <a:off x="10477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Jejak audit</a:t>
            </a:r>
            <a:endParaRPr lang="en-US" sz="1600" dirty="0"/>
          </a:p>
        </p:txBody>
      </p:sp>
      <p:sp>
        <p:nvSpPr>
          <p:cNvPr id="19" name="Text 13"/>
          <p:cNvSpPr/>
          <p:nvPr/>
        </p:nvSpPr>
        <p:spPr>
          <a:xfrm>
            <a:off x="1047750" y="467201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Paket perubahan, SOE dengan identitas operator, audit log.</a:t>
            </a:r>
            <a:endParaRPr lang="en-US" sz="1200" dirty="0"/>
          </a:p>
        </p:txBody>
      </p:sp>
      <p:sp>
        <p:nvSpPr>
          <p:cNvPr id="20" name="Shape 14"/>
          <p:cNvSpPr/>
          <p:nvPr/>
        </p:nvSpPr>
        <p:spPr>
          <a:xfrm>
            <a:off x="4397375" y="3739257"/>
            <a:ext cx="3397250" cy="1591171"/>
          </a:xfrm>
          <a:prstGeom prst="roundRect">
            <a:avLst>
              <a:gd name="adj" fmla="val 6984"/>
            </a:avLst>
          </a:prstGeom>
          <a:solidFill>
            <a:srgbClr val="FFFFFF"/>
          </a:solidFill>
          <a:ln w="6350">
            <a:solidFill>
              <a:srgbClr val="DDE2E8"/>
            </a:solidFill>
            <a:prstDash val="solid"/>
          </a:ln>
        </p:spPr>
      </p:sp>
      <p:pic>
        <p:nvPicPr>
          <p:cNvPr id="21" name="Image 4" descr="Key"/>
          <p:cNvPicPr>
            <a:picLocks noChangeAspect="1"/>
          </p:cNvPicPr>
          <p:nvPr/>
        </p:nvPicPr>
        <p:blipFill>
          <a:blip r:embed="rId7"/>
          <a:srcRect/>
          <a:stretch/>
        </p:blipFill>
        <p:spPr>
          <a:xfrm>
            <a:off x="4629150" y="3971032"/>
            <a:ext cx="304800" cy="304800"/>
          </a:xfrm>
          <a:prstGeom prst="rect">
            <a:avLst/>
          </a:prstGeom>
        </p:spPr>
      </p:pic>
      <p:sp>
        <p:nvSpPr>
          <p:cNvPr id="22" name="Text 15"/>
          <p:cNvSpPr/>
          <p:nvPr/>
        </p:nvSpPr>
        <p:spPr>
          <a:xfrm>
            <a:off x="46291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Rahasia terlindungi</a:t>
            </a:r>
            <a:endParaRPr lang="en-US" sz="1600" dirty="0"/>
          </a:p>
        </p:txBody>
      </p:sp>
      <p:sp>
        <p:nvSpPr>
          <p:cNvPr id="23" name="Text 16"/>
          <p:cNvSpPr/>
          <p:nvPr/>
        </p:nvSpPr>
        <p:spPr>
          <a:xfrm>
            <a:off x="4629150" y="4672013"/>
            <a:ext cx="30217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Kunci API tersimpan, tidak dikirim ke browser.</a:t>
            </a:r>
            <a:endParaRPr lang="en-US" sz="1200" dirty="0"/>
          </a:p>
        </p:txBody>
      </p:sp>
      <p:sp>
        <p:nvSpPr>
          <p:cNvPr id="24" name="Shape 17"/>
          <p:cNvSpPr/>
          <p:nvPr/>
        </p:nvSpPr>
        <p:spPr>
          <a:xfrm>
            <a:off x="7978775" y="3739257"/>
            <a:ext cx="3397250" cy="1591171"/>
          </a:xfrm>
          <a:prstGeom prst="roundRect">
            <a:avLst>
              <a:gd name="adj" fmla="val 6984"/>
            </a:avLst>
          </a:prstGeom>
          <a:solidFill>
            <a:srgbClr val="FFFFFF"/>
          </a:solidFill>
          <a:ln w="6350">
            <a:solidFill>
              <a:srgbClr val="DDE2E8"/>
            </a:solidFill>
            <a:prstDash val="solid"/>
          </a:ln>
        </p:spPr>
      </p:sp>
      <p:pic>
        <p:nvPicPr>
          <p:cNvPr id="25" name="Image 5" descr="Activity"/>
          <p:cNvPicPr>
            <a:picLocks noChangeAspect="1"/>
          </p:cNvPicPr>
          <p:nvPr/>
        </p:nvPicPr>
        <p:blipFill>
          <a:blip r:embed="rId8"/>
          <a:srcRect/>
          <a:stretch/>
        </p:blipFill>
        <p:spPr>
          <a:xfrm>
            <a:off x="8210550" y="3971032"/>
            <a:ext cx="304800" cy="304800"/>
          </a:xfrm>
          <a:prstGeom prst="rect">
            <a:avLst/>
          </a:prstGeom>
        </p:spPr>
      </p:pic>
      <p:sp>
        <p:nvSpPr>
          <p:cNvPr id="26" name="Text 18"/>
          <p:cNvSpPr/>
          <p:nvPr/>
        </p:nvSpPr>
        <p:spPr>
          <a:xfrm>
            <a:off x="8210550" y="4352032"/>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Monitoring sistem</a:t>
            </a:r>
            <a:endParaRPr lang="en-US" sz="1600" dirty="0"/>
          </a:p>
        </p:txBody>
      </p:sp>
      <p:sp>
        <p:nvSpPr>
          <p:cNvPr id="27" name="Text 19"/>
          <p:cNvSpPr/>
          <p:nvPr/>
        </p:nvSpPr>
        <p:spPr>
          <a:xfrm>
            <a:off x="8210550" y="4672013"/>
            <a:ext cx="3162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CPU, memori, database, Redis, Kafka, API.</a:t>
            </a:r>
            <a:endParaRPr lang="en-US" sz="12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CARA KERJA · INTEGRASI &amp; AI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Terbuka untuk sistem lain</a:t>
            </a:r>
            <a:endParaRPr lang="en-US" sz="3600" dirty="0"/>
          </a:p>
        </p:txBody>
      </p:sp>
      <p:sp>
        <p:nvSpPr>
          <p:cNvPr id="4" name="Text 2"/>
          <p:cNvSpPr/>
          <p:nvPr/>
        </p:nvSpPr>
        <p:spPr>
          <a:xfrm>
            <a:off x="812800" y="1909961"/>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AI Assistant</a:t>
            </a:r>
            <a:endParaRPr lang="en-US" sz="1600" dirty="0"/>
          </a:p>
        </p:txBody>
      </p:sp>
      <p:sp>
        <p:nvSpPr>
          <p:cNvPr id="5" name="Text 3"/>
          <p:cNvSpPr/>
          <p:nvPr/>
        </p:nvSpPr>
        <p:spPr>
          <a:xfrm>
            <a:off x="812800" y="2191841"/>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Claude, ChatGPT, Kimi, OpenRouter; dibatasi pada topik jaringan.</a:t>
            </a:r>
            <a:endParaRPr lang="en-US" sz="1200" dirty="0"/>
          </a:p>
        </p:txBody>
      </p:sp>
      <p:sp>
        <p:nvSpPr>
          <p:cNvPr id="6" name="Text 4"/>
          <p:cNvSpPr/>
          <p:nvPr/>
        </p:nvSpPr>
        <p:spPr>
          <a:xfrm>
            <a:off x="812800" y="2796282"/>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SCADA / AMR via Kafka</a:t>
            </a:r>
            <a:endParaRPr lang="en-US" sz="1600" dirty="0"/>
          </a:p>
        </p:txBody>
      </p:sp>
      <p:sp>
        <p:nvSpPr>
          <p:cNvPr id="7" name="Text 5"/>
          <p:cNvSpPr/>
          <p:nvPr/>
        </p:nvSpPr>
        <p:spPr>
          <a:xfrm>
            <a:off x="812800" y="307816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Load profile 30 menit dan perintah buka/tutup masuk; SOE keluar.</a:t>
            </a:r>
            <a:endParaRPr lang="en-US" sz="1200" dirty="0"/>
          </a:p>
        </p:txBody>
      </p:sp>
      <p:sp>
        <p:nvSpPr>
          <p:cNvPr id="8" name="Text 6"/>
          <p:cNvSpPr/>
          <p:nvPr/>
        </p:nvSpPr>
        <p:spPr>
          <a:xfrm>
            <a:off x="812800" y="3682603"/>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Format GIS standar</a:t>
            </a:r>
            <a:endParaRPr lang="en-US" sz="1600" dirty="0"/>
          </a:p>
        </p:txBody>
      </p:sp>
      <p:sp>
        <p:nvSpPr>
          <p:cNvPr id="9" name="Text 7"/>
          <p:cNvSpPr/>
          <p:nvPr/>
        </p:nvSpPr>
        <p:spPr>
          <a:xfrm>
            <a:off x="812800" y="396448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GeoJSON dua arah dengan QGIS, impor GDB PLN, ekspor GDB dan CSV.</a:t>
            </a:r>
            <a:endParaRPr lang="en-US" sz="1200" dirty="0"/>
          </a:p>
        </p:txBody>
      </p:sp>
      <p:sp>
        <p:nvSpPr>
          <p:cNvPr id="10" name="Text 8"/>
          <p:cNvSpPr/>
          <p:nvPr/>
        </p:nvSpPr>
        <p:spPr>
          <a:xfrm>
            <a:off x="812800" y="456892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REST API &amp; WebSocket</a:t>
            </a:r>
            <a:endParaRPr lang="en-US" sz="1600" dirty="0"/>
          </a:p>
        </p:txBody>
      </p:sp>
      <p:sp>
        <p:nvSpPr>
          <p:cNvPr id="11" name="Text 9"/>
          <p:cNvSpPr/>
          <p:nvPr/>
        </p:nvSpPr>
        <p:spPr>
          <a:xfrm>
            <a:off x="812800" y="4850805"/>
            <a:ext cx="3662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Akses terprogram, notifikasi push ke ponsel.</a:t>
            </a:r>
            <a:endParaRPr lang="en-US" sz="1200" dirty="0"/>
          </a:p>
        </p:txBody>
      </p:sp>
      <p:pic>
        <p:nvPicPr>
          <p:cNvPr id="12" name="Image 0" descr="Halaman AI Assistant dengan contoh pertanyaan tentang jaringan"/>
          <p:cNvPicPr>
            <a:picLocks noChangeAspect="1"/>
          </p:cNvPicPr>
          <p:nvPr/>
        </p:nvPicPr>
        <p:blipFill>
          <a:blip r:embed="rId3"/>
          <a:srcRect t="75" b="75"/>
          <a:stretch/>
        </p:blipFill>
        <p:spPr>
          <a:xfrm>
            <a:off x="4781550" y="1916311"/>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3" name="Shape 10"/>
          <p:cNvSpPr/>
          <p:nvPr/>
        </p:nvSpPr>
        <p:spPr>
          <a:xfrm>
            <a:off x="4778375" y="1913136"/>
            <a:ext cx="6597650" cy="3708400"/>
          </a:xfrm>
          <a:prstGeom prst="roundRect">
            <a:avLst>
              <a:gd name="adj" fmla="val 2654"/>
            </a:avLst>
          </a:prstGeom>
          <a:noFill/>
          <a:ln w="6350">
            <a:solidFill>
              <a:srgbClr val="D8DDE3"/>
            </a:solidFill>
            <a:prstDash val="solid"/>
          </a:ln>
        </p:spPr>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7662"/>
            <a:ext cx="302835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CARA KERJA · INTEGRASI SCADA</a:t>
            </a:r>
            <a:endParaRPr lang="en-US" sz="1200" dirty="0"/>
          </a:p>
        </p:txBody>
      </p:sp>
      <p:sp>
        <p:nvSpPr>
          <p:cNvPr id="3" name="Text 1"/>
          <p:cNvSpPr/>
          <p:nvPr/>
        </p:nvSpPr>
        <p:spPr>
          <a:xfrm>
            <a:off x="3841155" y="804962"/>
            <a:ext cx="513556" cy="238720"/>
          </a:xfrm>
          <a:custGeom>
            <a:avLst/>
            <a:gdLst/>
            <a:ahLst/>
            <a:cxnLst/>
            <a:rect l="l" t="t" r="r" b="b"/>
            <a:pathLst>
              <a:path w="513556" h="238720">
                <a:moveTo>
                  <a:pt x="119360" y="0"/>
                </a:moveTo>
                <a:lnTo>
                  <a:pt x="394196" y="0"/>
                </a:lnTo>
                <a:arcTo wR="119360" hR="119360" stAng="16200000" swAng="5400000"/>
                <a:lnTo>
                  <a:pt x="513556" y="119360"/>
                </a:lnTo>
                <a:arcTo wR="119360" hR="119360" stAng="0" swAng="5400000"/>
                <a:lnTo>
                  <a:pt x="119360" y="238720"/>
                </a:lnTo>
                <a:arcTo wR="119360" hR="119360" stAng="5400000" swAng="5400000"/>
                <a:lnTo>
                  <a:pt x="0" y="119360"/>
                </a:lnTo>
                <a:arcTo wR="119360" hR="119360" stAng="10800000" swAng="5400000"/>
                <a:close/>
              </a:path>
            </a:pathLst>
          </a:custGeom>
          <a:solidFill>
            <a:srgbClr val="F2A93B"/>
          </a:solidFill>
          <a:ln/>
        </p:spPr>
        <p:txBody>
          <a:bodyPr wrap="none" lIns="0" tIns="0" rIns="0" bIns="0" rtlCol="0" anchor="ctr">
            <a:normAutofit/>
          </a:bodyPr>
          <a:lstStyle/>
          <a:p>
            <a:pPr marL="0" indent="0" algn="ctr">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Baru</a:t>
            </a:r>
            <a:endParaRPr lang="en-US" sz="1200" dirty="0"/>
          </a:p>
        </p:txBody>
      </p:sp>
      <p:sp>
        <p:nvSpPr>
          <p:cNvPr id="4" name="Text 2"/>
          <p:cNvSpPr>
            <a:spLocks noGrp="1"/>
          </p:cNvSpPr>
          <p:nvPr>
            <p:ph type="title"/>
          </p:nvPr>
        </p:nvSpPr>
        <p:spPr>
          <a:xfrm>
            <a:off x="812800" y="1112044"/>
            <a:ext cx="11379200" cy="965200"/>
          </a:xfrm>
          <a:prstGeom prst="rect">
            <a:avLst/>
          </a:prstGeom>
          <a:noFill/>
          <a:ln/>
        </p:spPr>
        <p:txBody>
          <a:bodyPr wrap="square" lIns="0" tIns="0" rIns="0" bIns="0" rtlCol="0" anchor="t">
            <a:normAutofit/>
          </a:bodyPr>
          <a:lstStyle/>
          <a:p>
            <a:pPr marL="0" indent="0" algn="l">
              <a:lnSpc>
                <a:spcPts val="3873"/>
              </a:lnSpc>
              <a:buNone/>
            </a:pPr>
            <a:r>
              <a:rPr lang="en-US" sz="3521" b="1" i="0" dirty="0">
                <a:solidFill>
                  <a:srgbClr val="0E1A2B"/>
                </a:solidFill>
                <a:latin typeface="Space Grotesk" pitchFamily="34" charset="0"/>
                <a:ea typeface="Space Grotesk" pitchFamily="34" charset="-122"/>
                <a:cs typeface="Space Grotesk" pitchFamily="34" charset="-120"/>
              </a:rPr>
              <a:t>SCADA membuka dan menutup objek lewat Kafka</a:t>
            </a:r>
            <a:endParaRPr lang="en-US" sz="3521" dirty="0"/>
          </a:p>
        </p:txBody>
      </p:sp>
      <p:sp>
        <p:nvSpPr>
          <p:cNvPr id="5" name="Text 3"/>
          <p:cNvSpPr/>
          <p:nvPr/>
        </p:nvSpPr>
        <p:spPr>
          <a:xfrm>
            <a:off x="812800" y="2356644"/>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Pesan JSON sederhana</a:t>
            </a:r>
            <a:endParaRPr lang="en-US" sz="1600" dirty="0"/>
          </a:p>
        </p:txBody>
      </p:sp>
      <p:sp>
        <p:nvSpPr>
          <p:cNvPr id="6" name="Text 4"/>
          <p:cNvSpPr/>
          <p:nvPr/>
        </p:nvSpPr>
        <p:spPr>
          <a:xfrm>
            <a:off x="812800" y="2638524"/>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Kode objek, jenis, open/close, kategori padam, dan waktu kejadian.</a:t>
            </a:r>
            <a:endParaRPr lang="en-US" sz="1200" dirty="0"/>
          </a:p>
        </p:txBody>
      </p:sp>
      <p:sp>
        <p:nvSpPr>
          <p:cNvPr id="7" name="Text 5"/>
          <p:cNvSpPr/>
          <p:nvPr/>
        </p:nvSpPr>
        <p:spPr>
          <a:xfrm>
            <a:off x="812800" y="3242965"/>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Jalur sama dengan operator</a:t>
            </a:r>
            <a:endParaRPr lang="en-US" sz="1600" dirty="0"/>
          </a:p>
        </p:txBody>
      </p:sp>
      <p:sp>
        <p:nvSpPr>
          <p:cNvPr id="8" name="Text 6"/>
          <p:cNvSpPr/>
          <p:nvPr/>
        </p:nvSpPr>
        <p:spPr>
          <a:xfrm>
            <a:off x="812800" y="3524845"/>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Kejadian padam, SAIDI/SAIFI, SOE, dan notifikasi tetap tercatat.</a:t>
            </a:r>
            <a:endParaRPr lang="en-US" sz="1200" dirty="0"/>
          </a:p>
        </p:txBody>
      </p:sp>
      <p:sp>
        <p:nvSpPr>
          <p:cNvPr id="9" name="Text 7"/>
          <p:cNvSpPr/>
          <p:nvPr/>
        </p:nvSpPr>
        <p:spPr>
          <a:xfrm>
            <a:off x="812800" y="4129286"/>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Aman dari duplikat</a:t>
            </a:r>
            <a:endParaRPr lang="en-US" sz="1600" dirty="0"/>
          </a:p>
        </p:txBody>
      </p:sp>
      <p:sp>
        <p:nvSpPr>
          <p:cNvPr id="10" name="Text 8"/>
          <p:cNvSpPr/>
          <p:nvPr/>
        </p:nvSpPr>
        <p:spPr>
          <a:xfrm>
            <a:off x="812800" y="4411166"/>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event_id mencegah perintah diproses dua kali; semua pesan masuk log.</a:t>
            </a:r>
            <a:endParaRPr lang="en-US" sz="1200" dirty="0"/>
          </a:p>
        </p:txBody>
      </p:sp>
      <p:sp>
        <p:nvSpPr>
          <p:cNvPr id="11" name="Text 9"/>
          <p:cNvSpPr/>
          <p:nvPr/>
        </p:nvSpPr>
        <p:spPr>
          <a:xfrm>
            <a:off x="812800" y="5015607"/>
            <a:ext cx="366268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IBM Plex Sans" pitchFamily="34" charset="0"/>
                <a:ea typeface="IBM Plex Sans" pitchFamily="34" charset="-122"/>
                <a:cs typeface="IBM Plex Sans" pitchFamily="34" charset="-120"/>
              </a:rPr>
              <a:t>Penyulang = kubikel</a:t>
            </a:r>
            <a:endParaRPr lang="en-US" sz="1600" dirty="0"/>
          </a:p>
        </p:txBody>
      </p:sp>
      <p:sp>
        <p:nvSpPr>
          <p:cNvPr id="12" name="Text 10"/>
          <p:cNvSpPr/>
          <p:nvPr/>
        </p:nvSpPr>
        <p:spPr>
          <a:xfrm>
            <a:off x="812800" y="5297488"/>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Penyulang dioperasikan lewat type kubikel_20kv, code = nama penyulang.</a:t>
            </a:r>
            <a:endParaRPr lang="en-US" sz="1200" dirty="0"/>
          </a:p>
        </p:txBody>
      </p:sp>
      <p:pic>
        <p:nvPicPr>
          <p:cNvPr id="13" name="Image 0" descr="Halaman Integrasi Kafka: status integrasi, format pesan, dan kirim perintah uji"/>
          <p:cNvPicPr>
            <a:picLocks noChangeAspect="1"/>
          </p:cNvPicPr>
          <p:nvPr/>
        </p:nvPicPr>
        <p:blipFill>
          <a:blip r:embed="rId3"/>
          <a:srcRect t="75" b="75"/>
          <a:stretch/>
        </p:blipFill>
        <p:spPr>
          <a:xfrm>
            <a:off x="4781550" y="2362994"/>
            <a:ext cx="6591300" cy="3702050"/>
          </a:xfrm>
          <a:prstGeom prst="roundRect">
            <a:avLst>
              <a:gd name="adj" fmla="val 2573"/>
            </a:avLst>
          </a:prstGeom>
          <a:effectLst>
            <a:outerShdw blurRad="381000" dist="152400" dir="5400000" algn="bl" rotWithShape="0">
              <a:srgbClr val="0E1A2B">
                <a:alpha val="18000"/>
              </a:srgbClr>
            </a:outerShdw>
          </a:effectLst>
        </p:spPr>
      </p:pic>
      <p:sp>
        <p:nvSpPr>
          <p:cNvPr id="14" name="Shape 11"/>
          <p:cNvSpPr/>
          <p:nvPr/>
        </p:nvSpPr>
        <p:spPr>
          <a:xfrm>
            <a:off x="4778375" y="2359819"/>
            <a:ext cx="6597650" cy="3708400"/>
          </a:xfrm>
          <a:prstGeom prst="roundRect">
            <a:avLst>
              <a:gd name="adj" fmla="val 2654"/>
            </a:avLst>
          </a:prstGeom>
          <a:noFill/>
          <a:ln w="6350">
            <a:solidFill>
              <a:srgbClr val="D8DDE3"/>
            </a:solidFill>
            <a:prstDash val="solid"/>
          </a:ln>
        </p:spPr>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36 · Topik: scada.switch.events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IMPLEMENTASI</a:t>
            </a:r>
            <a:endParaRPr lang="en-US" sz="1200" dirty="0"/>
          </a:p>
        </p:txBody>
      </p:sp>
      <p:sp>
        <p:nvSpPr>
          <p:cNvPr id="3" name="Text 1"/>
          <p:cNvSpPr>
            <a:spLocks noGrp="1"/>
          </p:cNvSpPr>
          <p:nvPr>
            <p:ph type="title"/>
          </p:nvPr>
        </p:nvSpPr>
        <p:spPr>
          <a:xfrm>
            <a:off x="812800" y="11023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Space Grotesk" pitchFamily="34" charset="0"/>
                <a:ea typeface="Space Grotesk" pitchFamily="34" charset="-122"/>
                <a:cs typeface="Space Grotesk" pitchFamily="34" charset="-120"/>
              </a:rPr>
              <a:t>Empat tahap menuju go-live</a:t>
            </a:r>
            <a:endParaRPr lang="en-US" sz="3600" dirty="0"/>
          </a:p>
        </p:txBody>
      </p:sp>
      <p:sp>
        <p:nvSpPr>
          <p:cNvPr id="4" name="Shape 2"/>
          <p:cNvSpPr/>
          <p:nvPr/>
        </p:nvSpPr>
        <p:spPr>
          <a:xfrm>
            <a:off x="815975" y="1963936"/>
            <a:ext cx="2501900" cy="1875631"/>
          </a:xfrm>
          <a:prstGeom prst="roundRect">
            <a:avLst>
              <a:gd name="adj" fmla="val 5925"/>
            </a:avLst>
          </a:prstGeom>
          <a:solidFill>
            <a:srgbClr val="FFFFFF"/>
          </a:solidFill>
          <a:ln w="6350">
            <a:solidFill>
              <a:srgbClr val="DDE2E8"/>
            </a:solidFill>
            <a:prstDash val="solid"/>
          </a:ln>
        </p:spPr>
      </p:sp>
      <p:sp>
        <p:nvSpPr>
          <p:cNvPr id="5" name="Text 3"/>
          <p:cNvSpPr/>
          <p:nvPr/>
        </p:nvSpPr>
        <p:spPr>
          <a:xfrm>
            <a:off x="1022350" y="2195711"/>
            <a:ext cx="1714401" cy="289520"/>
          </a:xfrm>
          <a:custGeom>
            <a:avLst/>
            <a:gdLst/>
            <a:ahLst/>
            <a:cxnLst/>
            <a:rect l="l" t="t" r="r" b="b"/>
            <a:pathLst>
              <a:path w="1714401" h="289520">
                <a:moveTo>
                  <a:pt x="144760" y="0"/>
                </a:moveTo>
                <a:lnTo>
                  <a:pt x="1569641" y="0"/>
                </a:lnTo>
                <a:arcTo wR="144760" hR="144760" stAng="16200000" swAng="5400000"/>
                <a:lnTo>
                  <a:pt x="1714401" y="144760"/>
                </a:lnTo>
                <a:arcTo wR="144760" hR="144760" stAng="0" swAng="5400000"/>
                <a:lnTo>
                  <a:pt x="144760" y="289520"/>
                </a:lnTo>
                <a:arcTo wR="144760" hR="144760" stAng="5400000" swAng="5400000"/>
                <a:lnTo>
                  <a:pt x="0" y="144760"/>
                </a:lnTo>
                <a:arcTo wR="144760" hR="144760" stAng="10800000" swAng="5400000"/>
                <a:close/>
              </a:path>
            </a:pathLst>
          </a:custGeom>
          <a:solidFill>
            <a:srgbClr val="E7EEFD"/>
          </a:solidFill>
          <a:ln/>
        </p:spPr>
        <p:txBody>
          <a:bodyPr wrap="none" lIns="0" tIns="0" rIns="0" bIns="0" rtlCol="0" anchor="ctr">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Tahap 1 · [__ minggu]</a:t>
            </a:r>
            <a:endParaRPr lang="en-US" sz="1200" dirty="0"/>
          </a:p>
        </p:txBody>
      </p:sp>
      <p:sp>
        <p:nvSpPr>
          <p:cNvPr id="6" name="Text 4"/>
          <p:cNvSpPr/>
          <p:nvPr/>
        </p:nvSpPr>
        <p:spPr>
          <a:xfrm>
            <a:off x="1022350" y="2574131"/>
            <a:ext cx="21518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Instalasi</a:t>
            </a:r>
            <a:endParaRPr lang="en-US" sz="2000" dirty="0"/>
          </a:p>
        </p:txBody>
      </p:sp>
      <p:sp>
        <p:nvSpPr>
          <p:cNvPr id="7" name="Text 5"/>
          <p:cNvSpPr/>
          <p:nvPr/>
        </p:nvSpPr>
        <p:spPr>
          <a:xfrm>
            <a:off x="1022350" y="2967831"/>
            <a:ext cx="215182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Server, Docker Compose, HTTPS, identitas aplikasi, SCADA/AMR.</a:t>
            </a:r>
            <a:endParaRPr lang="en-US" sz="1200" dirty="0"/>
          </a:p>
        </p:txBody>
      </p:sp>
      <p:sp>
        <p:nvSpPr>
          <p:cNvPr id="8" name="Shape 6"/>
          <p:cNvSpPr/>
          <p:nvPr/>
        </p:nvSpPr>
        <p:spPr>
          <a:xfrm>
            <a:off x="3502025" y="1963936"/>
            <a:ext cx="2501900" cy="1875631"/>
          </a:xfrm>
          <a:prstGeom prst="roundRect">
            <a:avLst>
              <a:gd name="adj" fmla="val 5925"/>
            </a:avLst>
          </a:prstGeom>
          <a:solidFill>
            <a:srgbClr val="FFFFFF"/>
          </a:solidFill>
          <a:ln w="6350">
            <a:solidFill>
              <a:srgbClr val="DDE2E8"/>
            </a:solidFill>
            <a:prstDash val="solid"/>
          </a:ln>
        </p:spPr>
      </p:sp>
      <p:sp>
        <p:nvSpPr>
          <p:cNvPr id="9" name="Text 7"/>
          <p:cNvSpPr/>
          <p:nvPr/>
        </p:nvSpPr>
        <p:spPr>
          <a:xfrm>
            <a:off x="3708400" y="2195711"/>
            <a:ext cx="1714401" cy="289520"/>
          </a:xfrm>
          <a:custGeom>
            <a:avLst/>
            <a:gdLst/>
            <a:ahLst/>
            <a:cxnLst/>
            <a:rect l="l" t="t" r="r" b="b"/>
            <a:pathLst>
              <a:path w="1714401" h="289520">
                <a:moveTo>
                  <a:pt x="144760" y="0"/>
                </a:moveTo>
                <a:lnTo>
                  <a:pt x="1569641" y="0"/>
                </a:lnTo>
                <a:arcTo wR="144760" hR="144760" stAng="16200000" swAng="5400000"/>
                <a:lnTo>
                  <a:pt x="1714401" y="144760"/>
                </a:lnTo>
                <a:arcTo wR="144760" hR="144760" stAng="0" swAng="5400000"/>
                <a:lnTo>
                  <a:pt x="144760" y="289520"/>
                </a:lnTo>
                <a:arcTo wR="144760" hR="144760" stAng="5400000" swAng="5400000"/>
                <a:lnTo>
                  <a:pt x="0" y="144760"/>
                </a:lnTo>
                <a:arcTo wR="144760" hR="144760" stAng="10800000" swAng="5400000"/>
                <a:close/>
              </a:path>
            </a:pathLst>
          </a:custGeom>
          <a:solidFill>
            <a:srgbClr val="E7EEFD"/>
          </a:solidFill>
          <a:ln/>
        </p:spPr>
        <p:txBody>
          <a:bodyPr wrap="none" lIns="0" tIns="0" rIns="0" bIns="0" rtlCol="0" anchor="ctr">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Tahap 2 · [__ minggu]</a:t>
            </a:r>
            <a:endParaRPr lang="en-US" sz="1200" dirty="0"/>
          </a:p>
        </p:txBody>
      </p:sp>
      <p:sp>
        <p:nvSpPr>
          <p:cNvPr id="10" name="Text 8"/>
          <p:cNvSpPr/>
          <p:nvPr/>
        </p:nvSpPr>
        <p:spPr>
          <a:xfrm>
            <a:off x="3708400" y="2574131"/>
            <a:ext cx="21518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Migrasi data</a:t>
            </a:r>
            <a:endParaRPr lang="en-US" sz="2000" dirty="0"/>
          </a:p>
        </p:txBody>
      </p:sp>
      <p:sp>
        <p:nvSpPr>
          <p:cNvPr id="11" name="Text 9"/>
          <p:cNvSpPr/>
          <p:nvPr/>
        </p:nvSpPr>
        <p:spPr>
          <a:xfrm>
            <a:off x="3708400" y="2967831"/>
            <a:ext cx="215182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Impor GDB PLN bertahap, atribut SSOT, unit &amp; wilayah kerja, posisi normal.</a:t>
            </a:r>
            <a:endParaRPr lang="en-US" sz="1200" dirty="0"/>
          </a:p>
        </p:txBody>
      </p:sp>
      <p:sp>
        <p:nvSpPr>
          <p:cNvPr id="12" name="Shape 10"/>
          <p:cNvSpPr/>
          <p:nvPr/>
        </p:nvSpPr>
        <p:spPr>
          <a:xfrm>
            <a:off x="6188075" y="1963936"/>
            <a:ext cx="2501900" cy="1875631"/>
          </a:xfrm>
          <a:prstGeom prst="roundRect">
            <a:avLst>
              <a:gd name="adj" fmla="val 5925"/>
            </a:avLst>
          </a:prstGeom>
          <a:solidFill>
            <a:srgbClr val="FFFFFF"/>
          </a:solidFill>
          <a:ln w="6350">
            <a:solidFill>
              <a:srgbClr val="DDE2E8"/>
            </a:solidFill>
            <a:prstDash val="solid"/>
          </a:ln>
        </p:spPr>
      </p:sp>
      <p:sp>
        <p:nvSpPr>
          <p:cNvPr id="13" name="Text 11"/>
          <p:cNvSpPr/>
          <p:nvPr/>
        </p:nvSpPr>
        <p:spPr>
          <a:xfrm>
            <a:off x="6394450" y="2195711"/>
            <a:ext cx="1714401" cy="289520"/>
          </a:xfrm>
          <a:custGeom>
            <a:avLst/>
            <a:gdLst/>
            <a:ahLst/>
            <a:cxnLst/>
            <a:rect l="l" t="t" r="r" b="b"/>
            <a:pathLst>
              <a:path w="1714401" h="289520">
                <a:moveTo>
                  <a:pt x="144760" y="0"/>
                </a:moveTo>
                <a:lnTo>
                  <a:pt x="1569641" y="0"/>
                </a:lnTo>
                <a:arcTo wR="144760" hR="144760" stAng="16200000" swAng="5400000"/>
                <a:lnTo>
                  <a:pt x="1714401" y="144760"/>
                </a:lnTo>
                <a:arcTo wR="144760" hR="144760" stAng="0" swAng="5400000"/>
                <a:lnTo>
                  <a:pt x="144760" y="289520"/>
                </a:lnTo>
                <a:arcTo wR="144760" hR="144760" stAng="5400000" swAng="5400000"/>
                <a:lnTo>
                  <a:pt x="0" y="144760"/>
                </a:lnTo>
                <a:arcTo wR="144760" hR="144760" stAng="10800000" swAng="5400000"/>
                <a:close/>
              </a:path>
            </a:pathLst>
          </a:custGeom>
          <a:solidFill>
            <a:srgbClr val="FDF1DD"/>
          </a:solidFill>
          <a:ln/>
        </p:spPr>
        <p:txBody>
          <a:bodyPr wrap="none" lIns="0" tIns="0" rIns="0" bIns="0" rtlCol="0" anchor="ctr">
            <a:normAutofit/>
          </a:bodyPr>
          <a:lstStyle/>
          <a:p>
            <a:pPr marL="0" indent="0" algn="ctr">
              <a:lnSpc>
                <a:spcPts val="1680"/>
              </a:lnSpc>
              <a:buNone/>
            </a:pPr>
            <a:r>
              <a:rPr lang="en-US" sz="1200" b="1" dirty="0">
                <a:solidFill>
                  <a:srgbClr val="B45309"/>
                </a:solidFill>
                <a:latin typeface="IBM Plex Sans" pitchFamily="34" charset="0"/>
                <a:ea typeface="IBM Plex Sans" pitchFamily="34" charset="-122"/>
                <a:cs typeface="IBM Plex Sans" pitchFamily="34" charset="-120"/>
              </a:rPr>
              <a:t>Tahap 3 · [__ minggu]</a:t>
            </a:r>
            <a:endParaRPr lang="en-US" sz="1200" dirty="0"/>
          </a:p>
        </p:txBody>
      </p:sp>
      <p:sp>
        <p:nvSpPr>
          <p:cNvPr id="14" name="Text 12"/>
          <p:cNvSpPr/>
          <p:nvPr/>
        </p:nvSpPr>
        <p:spPr>
          <a:xfrm>
            <a:off x="6394450" y="2574131"/>
            <a:ext cx="21518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Pelatihan</a:t>
            </a:r>
            <a:endParaRPr lang="en-US" sz="2000" dirty="0"/>
          </a:p>
        </p:txBody>
      </p:sp>
      <p:sp>
        <p:nvSpPr>
          <p:cNvPr id="15" name="Text 13"/>
          <p:cNvSpPr/>
          <p:nvPr/>
        </p:nvSpPr>
        <p:spPr>
          <a:xfrm>
            <a:off x="6394450" y="2967831"/>
            <a:ext cx="215182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Editor, supervisor, operator, petugas lapangan, admin.</a:t>
            </a:r>
            <a:endParaRPr lang="en-US" sz="1200" dirty="0"/>
          </a:p>
        </p:txBody>
      </p:sp>
      <p:sp>
        <p:nvSpPr>
          <p:cNvPr id="16" name="Shape 14"/>
          <p:cNvSpPr/>
          <p:nvPr/>
        </p:nvSpPr>
        <p:spPr>
          <a:xfrm>
            <a:off x="8874125" y="1963936"/>
            <a:ext cx="2501900" cy="1875631"/>
          </a:xfrm>
          <a:prstGeom prst="roundRect">
            <a:avLst>
              <a:gd name="adj" fmla="val 5925"/>
            </a:avLst>
          </a:prstGeom>
          <a:solidFill>
            <a:srgbClr val="FFFFFF"/>
          </a:solidFill>
          <a:ln w="6350">
            <a:solidFill>
              <a:srgbClr val="DDE2E8"/>
            </a:solidFill>
            <a:prstDash val="solid"/>
          </a:ln>
        </p:spPr>
      </p:sp>
      <p:sp>
        <p:nvSpPr>
          <p:cNvPr id="17" name="Text 15"/>
          <p:cNvSpPr/>
          <p:nvPr/>
        </p:nvSpPr>
        <p:spPr>
          <a:xfrm>
            <a:off x="9080500" y="2195711"/>
            <a:ext cx="1714401" cy="289520"/>
          </a:xfrm>
          <a:custGeom>
            <a:avLst/>
            <a:gdLst/>
            <a:ahLst/>
            <a:cxnLst/>
            <a:rect l="l" t="t" r="r" b="b"/>
            <a:pathLst>
              <a:path w="1714401" h="289520">
                <a:moveTo>
                  <a:pt x="144760" y="0"/>
                </a:moveTo>
                <a:lnTo>
                  <a:pt x="1569641" y="0"/>
                </a:lnTo>
                <a:arcTo wR="144760" hR="144760" stAng="16200000" swAng="5400000"/>
                <a:lnTo>
                  <a:pt x="1714401" y="144760"/>
                </a:lnTo>
                <a:arcTo wR="144760" hR="144760" stAng="0" swAng="5400000"/>
                <a:lnTo>
                  <a:pt x="144760" y="289520"/>
                </a:lnTo>
                <a:arcTo wR="144760" hR="144760" stAng="5400000" swAng="5400000"/>
                <a:lnTo>
                  <a:pt x="0" y="144760"/>
                </a:lnTo>
                <a:arcTo wR="144760" hR="144760" stAng="10800000" swAng="5400000"/>
                <a:close/>
              </a:path>
            </a:pathLst>
          </a:custGeom>
          <a:solidFill>
            <a:srgbClr val="FDF1DD"/>
          </a:solidFill>
          <a:ln/>
        </p:spPr>
        <p:txBody>
          <a:bodyPr wrap="none" lIns="0" tIns="0" rIns="0" bIns="0" rtlCol="0" anchor="ctr">
            <a:normAutofit/>
          </a:bodyPr>
          <a:lstStyle/>
          <a:p>
            <a:pPr marL="0" indent="0" algn="ctr">
              <a:lnSpc>
                <a:spcPts val="1680"/>
              </a:lnSpc>
              <a:buNone/>
            </a:pPr>
            <a:r>
              <a:rPr lang="en-US" sz="1200" b="1" dirty="0">
                <a:solidFill>
                  <a:srgbClr val="B45309"/>
                </a:solidFill>
                <a:latin typeface="IBM Plex Sans" pitchFamily="34" charset="0"/>
                <a:ea typeface="IBM Plex Sans" pitchFamily="34" charset="-122"/>
                <a:cs typeface="IBM Plex Sans" pitchFamily="34" charset="-120"/>
              </a:rPr>
              <a:t>Tahap 4 · [__ minggu]</a:t>
            </a:r>
            <a:endParaRPr lang="en-US" sz="1200" dirty="0"/>
          </a:p>
        </p:txBody>
      </p:sp>
      <p:sp>
        <p:nvSpPr>
          <p:cNvPr id="18" name="Text 16"/>
          <p:cNvSpPr/>
          <p:nvPr/>
        </p:nvSpPr>
        <p:spPr>
          <a:xfrm>
            <a:off x="9080500" y="2574131"/>
            <a:ext cx="21518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A2B"/>
                </a:solidFill>
                <a:latin typeface="Space Grotesk" pitchFamily="34" charset="0"/>
                <a:ea typeface="Space Grotesk" pitchFamily="34" charset="-122"/>
                <a:cs typeface="Space Grotesk" pitchFamily="34" charset="-120"/>
              </a:rPr>
              <a:t>Go-live</a:t>
            </a:r>
            <a:endParaRPr lang="en-US" sz="2000" dirty="0"/>
          </a:p>
        </p:txBody>
      </p:sp>
      <p:sp>
        <p:nvSpPr>
          <p:cNvPr id="19" name="Text 17"/>
          <p:cNvSpPr/>
          <p:nvPr/>
        </p:nvSpPr>
        <p:spPr>
          <a:xfrm>
            <a:off x="9080500" y="2967831"/>
            <a:ext cx="215182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Operasi paralel, pendampingan, evaluasi keandalan.</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IBM Plex Sans" pitchFamily="34" charset="0"/>
                <a:ea typeface="IBM Plex Sans" pitchFamily="34" charset="-122"/>
                <a:cs typeface="IBM Plex Sans" pitchFamily="34" charset="-120"/>
              </a:rPr>
              <a:t>QuadranGIS · 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812800" y="180984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93B"/>
                </a:solidFill>
                <a:latin typeface="IBM Plex Sans" pitchFamily="34" charset="0"/>
                <a:ea typeface="IBM Plex Sans" pitchFamily="34" charset="-122"/>
                <a:cs typeface="IBM Plex Sans" pitchFamily="34" charset="-120"/>
              </a:rPr>
              <a:t>QUADRANGIS</a:t>
            </a:r>
            <a:endParaRPr lang="en-US" sz="1200" dirty="0"/>
          </a:p>
        </p:txBody>
      </p:sp>
      <p:sp>
        <p:nvSpPr>
          <p:cNvPr id="3" name="Text 1"/>
          <p:cNvSpPr>
            <a:spLocks noGrp="1"/>
          </p:cNvSpPr>
          <p:nvPr>
            <p:ph type="title"/>
          </p:nvPr>
        </p:nvSpPr>
        <p:spPr>
          <a:xfrm>
            <a:off x="812800" y="2277170"/>
            <a:ext cx="9156700" cy="914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5F6F2"/>
                </a:solidFill>
                <a:latin typeface="Space Grotesk" pitchFamily="34" charset="0"/>
                <a:ea typeface="Space Grotesk" pitchFamily="34" charset="-122"/>
                <a:cs typeface="Space Grotesk" pitchFamily="34" charset="-120"/>
              </a:rPr>
              <a:t>Terima kasih</a:t>
            </a:r>
            <a:endParaRPr lang="en-US" sz="7000" dirty="0"/>
          </a:p>
        </p:txBody>
      </p:sp>
      <p:sp>
        <p:nvSpPr>
          <p:cNvPr id="4" name="Text 2"/>
          <p:cNvSpPr/>
          <p:nvPr/>
        </p:nvSpPr>
        <p:spPr>
          <a:xfrm>
            <a:off x="812800" y="3420170"/>
            <a:ext cx="85026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BDA"/>
                </a:solidFill>
                <a:latin typeface="IBM Plex Sans" pitchFamily="34" charset="0"/>
                <a:ea typeface="IBM Plex Sans" pitchFamily="34" charset="-122"/>
                <a:cs typeface="IBM Plex Sans" pitchFamily="34" charset="-120"/>
              </a:rPr>
              <a:t>Mari lanjutkan dengan demo langsung dan diskusi kebutuhan unit Anda.</a:t>
            </a:r>
            <a:endParaRPr lang="en-US" sz="2200" dirty="0"/>
          </a:p>
        </p:txBody>
      </p:sp>
      <p:sp>
        <p:nvSpPr>
          <p:cNvPr id="5" name="Shape 3"/>
          <p:cNvSpPr/>
          <p:nvPr/>
        </p:nvSpPr>
        <p:spPr>
          <a:xfrm>
            <a:off x="825500" y="4400451"/>
            <a:ext cx="0" cy="647601"/>
          </a:xfrm>
          <a:prstGeom prst="line">
            <a:avLst/>
          </a:prstGeom>
          <a:noFill/>
          <a:ln w="25400">
            <a:solidFill>
              <a:srgbClr val="3B82F6"/>
            </a:solidFill>
            <a:prstDash val="solid"/>
          </a:ln>
        </p:spPr>
      </p:sp>
      <p:sp>
        <p:nvSpPr>
          <p:cNvPr id="6" name="Text 4"/>
          <p:cNvSpPr/>
          <p:nvPr/>
        </p:nvSpPr>
        <p:spPr>
          <a:xfrm>
            <a:off x="1016000" y="4425851"/>
            <a:ext cx="106740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PT. </a:t>
            </a:r>
            <a:r>
              <a:rPr lang="en-US" sz="1600" b="1" dirty="0" err="1">
                <a:solidFill>
                  <a:srgbClr val="F5F6F2"/>
                </a:solidFill>
                <a:latin typeface="IBM Plex Sans" pitchFamily="34" charset="0"/>
                <a:ea typeface="IBM Plex Sans" pitchFamily="34" charset="-122"/>
                <a:cs typeface="IBM Plex Sans" pitchFamily="34" charset="-120"/>
              </a:rPr>
              <a:t>Quadran</a:t>
            </a:r>
            <a:r>
              <a:rPr lang="en-US" sz="1600" b="1" dirty="0">
                <a:solidFill>
                  <a:srgbClr val="F5F6F2"/>
                </a:solidFill>
                <a:latin typeface="IBM Plex Sans" pitchFamily="34" charset="0"/>
                <a:ea typeface="IBM Plex Sans" pitchFamily="34" charset="-122"/>
                <a:cs typeface="IBM Plex Sans" pitchFamily="34" charset="-120"/>
              </a:rPr>
              <a:t> </a:t>
            </a:r>
            <a:r>
              <a:rPr lang="en-US" sz="1600" b="1" dirty="0" err="1">
                <a:solidFill>
                  <a:srgbClr val="F5F6F2"/>
                </a:solidFill>
                <a:latin typeface="IBM Plex Sans" pitchFamily="34" charset="0"/>
                <a:ea typeface="IBM Plex Sans" pitchFamily="34" charset="-122"/>
                <a:cs typeface="IBM Plex Sans" pitchFamily="34" charset="-120"/>
              </a:rPr>
              <a:t>Inovasi</a:t>
            </a:r>
            <a:r>
              <a:rPr lang="en-US" sz="1600" b="1" dirty="0">
                <a:solidFill>
                  <a:srgbClr val="F5F6F2"/>
                </a:solidFill>
                <a:latin typeface="IBM Plex Sans" pitchFamily="34" charset="0"/>
                <a:ea typeface="IBM Plex Sans" pitchFamily="34" charset="-122"/>
                <a:cs typeface="IBM Plex Sans" pitchFamily="34" charset="-120"/>
              </a:rPr>
              <a:t> </a:t>
            </a:r>
            <a:r>
              <a:rPr lang="en-US" sz="1600" b="1" dirty="0" err="1">
                <a:solidFill>
                  <a:srgbClr val="F5F6F2"/>
                </a:solidFill>
                <a:latin typeface="IBM Plex Sans" pitchFamily="34" charset="0"/>
                <a:ea typeface="IBM Plex Sans" pitchFamily="34" charset="-122"/>
                <a:cs typeface="IBM Plex Sans" pitchFamily="34" charset="-120"/>
              </a:rPr>
              <a:t>Karya</a:t>
            </a:r>
            <a:r>
              <a:rPr lang="en-US" sz="1600" b="1" dirty="0">
                <a:solidFill>
                  <a:srgbClr val="F5F6F2"/>
                </a:solidFill>
                <a:latin typeface="IBM Plex Sans" pitchFamily="34" charset="0"/>
                <a:ea typeface="IBM Plex Sans" pitchFamily="34" charset="-122"/>
                <a:cs typeface="IBM Plex Sans" pitchFamily="34" charset="-120"/>
              </a:rPr>
              <a:t> Bersama</a:t>
            </a:r>
            <a:endParaRPr lang="en-US" sz="1600" dirty="0"/>
          </a:p>
        </p:txBody>
      </p:sp>
    </p:spTree>
  </p:cSld>
  <p:clrMapOvr>
    <a:masterClrMapping/>
  </p:clrMapOvr>
</p:sld>
</file>

<file path=ppt/theme/theme1.xml><?xml version="1.0" encoding="utf-8"?>
<a:theme xmlns:a="http://schemas.openxmlformats.org/drawingml/2006/main" name="Presentasi QuadranGIS">
  <a:themeElements>
    <a:clrScheme name="Presentasi QuadranGIS">
      <a:dk1>
        <a:srgbClr val="0E1A2B"/>
      </a:dk1>
      <a:lt1>
        <a:srgbClr val="F5F6F2"/>
      </a:lt1>
      <a:dk2>
        <a:srgbClr val="48515D"/>
      </a:dk2>
      <a:lt2>
        <a:srgbClr val="DEE0DE"/>
      </a:lt2>
      <a:accent1>
        <a:srgbClr val="2563EB"/>
      </a:accent1>
      <a:accent2>
        <a:srgbClr val="F2A93B"/>
      </a:accent2>
      <a:accent3>
        <a:srgbClr val="1D4ED8"/>
      </a:accent3>
      <a:accent4>
        <a:srgbClr val="1B3A63"/>
      </a:accent4>
      <a:accent5>
        <a:srgbClr val="B45309"/>
      </a:accent5>
      <a:accent6>
        <a:srgbClr val="F2C074"/>
      </a:accent6>
      <a:hlink>
        <a:srgbClr val="0563C1"/>
      </a:hlink>
      <a:folHlink>
        <a:srgbClr val="954F72"/>
      </a:folHlink>
    </a:clrScheme>
    <a:fontScheme name="Presentasi QuadranGI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4751</Words>
  <Application>Microsoft Office PowerPoint</Application>
  <PresentationFormat>Widescreen</PresentationFormat>
  <Paragraphs>580</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IBM Plex Sans</vt:lpstr>
      <vt:lpstr>Space Grotesk</vt:lpstr>
      <vt:lpstr>Presentasi QuadranGIS</vt:lpstr>
      <vt:lpstr>QuadranGIS</vt:lpstr>
      <vt:lpstr>Tantangan pengelolaan jaringan distribusi</vt:lpstr>
      <vt:lpstr>Satu sumber data. Semua keputusan jaringan.</vt:lpstr>
      <vt:lpstr>Cepat pada skala jaringan nyata</vt:lpstr>
      <vt:lpstr>Sepuluh fitur baru sejak versi September</vt:lpstr>
      <vt:lpstr>Perbaikan yang membuat data lebih tepat</vt:lpstr>
      <vt:lpstr>Gambar jaringan, topologi terbentuk sendiri</vt:lpstr>
      <vt:lpstr>Menambah objek jaringan baru</vt:lpstr>
      <vt:lpstr>Mengubah atribut dan geometri</vt:lpstr>
      <vt:lpstr>Menghapus objek dengan aman</vt:lpstr>
      <vt:lpstr>Setiap perubahan ditinjau sebelum berlaku</vt:lpstr>
      <vt:lpstr>Pelimpahan permanen menjadi konfigurasi normal</vt:lpstr>
      <vt:lpstr>Edit massal lewat QGIS</vt:lpstr>
      <vt:lpstr>GDB baru dibandingkan dulu, baru diterapkan</vt:lpstr>
      <vt:lpstr>Hirarki aset dari GI sampai pelanggan</vt:lpstr>
      <vt:lpstr>Unit pemilik dan pengelola aset</vt:lpstr>
      <vt:lpstr>Titik ukur SCADA/AMR terpetakan ke GIS</vt:lpstr>
      <vt:lpstr>Kondisi jaringan terlihat seketika</vt:lpstr>
      <vt:lpstr>Setiap penyulang terlihat, juga saat dilimpahkan</vt:lpstr>
      <vt:lpstr>Manuver aman, sesuai hak akses</vt:lpstr>
      <vt:lpstr>Dari isolasi gangguan sampai pemulihan</vt:lpstr>
      <vt:lpstr>Setiap kejadian tercatat sampai milidetik</vt:lpstr>
      <vt:lpstr>SAIDI, SAIFI, ENS langsung dari operasi</vt:lpstr>
      <vt:lpstr>Beban padam dihitung dari beban penyulang</vt:lpstr>
      <vt:lpstr>Keandalan dan operasi untuk manajemen</vt:lpstr>
      <vt:lpstr>Load profile SCADA/AMR setiap 30 menit</vt:lpstr>
      <vt:lpstr>Neraca energi dari GI sampai pelanggan</vt:lpstr>
      <vt:lpstr>SLD dari GIS, tanpa menggambar ulang</vt:lpstr>
      <vt:lpstr>Tegangan dan pembebanan per penyulang</vt:lpstr>
      <vt:lpstr>Wilayah kerja dan pelanggan dalam satu tampilan</vt:lpstr>
      <vt:lpstr>Petugas lapangan terhubung dari ponsel</vt:lpstr>
      <vt:lpstr>Empat lapisan, satu graf topologi</vt:lpstr>
      <vt:lpstr>Dari gangguan sampai laporan keandalan</vt:lpstr>
      <vt:lpstr>Aman dari login sampai manuver</vt:lpstr>
      <vt:lpstr>Terbuka untuk sistem lain</vt:lpstr>
      <vt:lpstr>SCADA membuka dan menutup objek lewat Kafka</vt:lpstr>
      <vt:lpstr>Empat tahap menuju go-live</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QuadranGIS</dc:title>
  <dc:subject/>
  <dc:creator>hendra</dc:creator>
  <cp:lastModifiedBy>hendrapoernama hendrapoernama</cp:lastModifiedBy>
  <cp:revision>2</cp:revision>
  <dcterms:created xsi:type="dcterms:W3CDTF">2026-10-02T03:52:46Z</dcterms:created>
  <dcterms:modified xsi:type="dcterms:W3CDTF">2026-10-02T03:55:03Z</dcterms:modified>
</cp:coreProperties>
</file>